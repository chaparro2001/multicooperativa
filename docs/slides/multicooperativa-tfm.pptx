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y el logo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y su logo.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20.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y logo por cooperativa; la 019 deja que una cooperativa use un proveedor externo de modelos con su propia clave, cifrada en el servidor; y la 020, la última, migra la interfaz a react-native-paper (Material Design 3), con el tema generado a partir del color de cada cooperativa.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logo de la cooperativa se valida por su contenido, no por la extensión, y se rechaza el SVG porque puede llevar scripts; el color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160 de los 161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21 de octubre ejecutando pnpm test y pnpm test:integration: 1168 tests unitarios en 113 ficheros (852 de la API, 295 de la app y 21 de contratos) y 477 tests de integración en 25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20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y modelo local o externo</a:t>
            </a:r>
          </a:p>
          <a:p>
            <a:pPr marL="228600" indent="-228600">
              <a:spcAft>
                <a:spcPts val="400"/>
              </a:spcAft>
              <a:buSzPct val="100000"/>
              <a:buChar char="•"/>
            </a:pPr>
            <a:r>
              <a:rPr sz="1400" b="0">
                <a:solidFill>
                  <a:schemeClr val="bg1"/>
                </a:solidFill>
              </a:rPr>
              <a:t>Marca por cooperativa (color y logo)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(MD3)</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asistente y embeddings</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y explicaciones</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20 ADR</a:t>
            </a:r>
          </a:p>
        </p:txBody>
      </p:sp>
      <p:sp>
        <p:nvSpPr>
          <p:cNvPr id="27" name="Etiqueta"/>
          <p:cNvSpPr/>
          <p:nvPr/>
        </p:nvSpPr>
        <p:spPr>
          <a:xfrm>
            <a:off x="45720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83464"/>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83464"/>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94460"/>
            <a:ext cx="548640" cy="283464"/>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94460"/>
            <a:ext cx="3383280" cy="283464"/>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737360"/>
            <a:ext cx="548640" cy="283464"/>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737360"/>
            <a:ext cx="3383280" cy="283464"/>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2080260"/>
            <a:ext cx="548640" cy="283464"/>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2080260"/>
            <a:ext cx="3383280" cy="283464"/>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423160"/>
            <a:ext cx="548640" cy="283464"/>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423160"/>
            <a:ext cx="3383280" cy="283464"/>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766060"/>
            <a:ext cx="548640" cy="283464"/>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766060"/>
            <a:ext cx="3383280" cy="283464"/>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3108960"/>
            <a:ext cx="548640" cy="283464"/>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3108960"/>
            <a:ext cx="548640" cy="283464"/>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3108960"/>
            <a:ext cx="3383280" cy="283464"/>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451860"/>
            <a:ext cx="548640" cy="283464"/>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451860"/>
            <a:ext cx="3383280" cy="283464"/>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794760"/>
            <a:ext cx="548640" cy="283464"/>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794760"/>
            <a:ext cx="3383280" cy="283464"/>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4137660"/>
            <a:ext cx="548640" cy="283464"/>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4137660"/>
            <a:ext cx="3383280" cy="283464"/>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66344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63440" y="1051560"/>
            <a:ext cx="548640" cy="283464"/>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5321807" y="1051560"/>
            <a:ext cx="3383280" cy="283464"/>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66344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63440" y="1394460"/>
            <a:ext cx="548640" cy="283464"/>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5321807" y="1394460"/>
            <a:ext cx="3383280" cy="283464"/>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66344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63440" y="1737360"/>
            <a:ext cx="548640" cy="283464"/>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5321807" y="1737360"/>
            <a:ext cx="3383280" cy="283464"/>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2080260"/>
            <a:ext cx="548640" cy="283464"/>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2080260"/>
            <a:ext cx="3383280" cy="283464"/>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2423160"/>
            <a:ext cx="548640" cy="283464"/>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2423160"/>
            <a:ext cx="3383280" cy="283464"/>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2766060"/>
            <a:ext cx="548640" cy="283464"/>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2766060"/>
            <a:ext cx="3383280" cy="283464"/>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3108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3108960"/>
            <a:ext cx="548640" cy="283464"/>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3108960"/>
            <a:ext cx="3383280" cy="283464"/>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3451860"/>
            <a:ext cx="548640" cy="283464"/>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3451860"/>
            <a:ext cx="3383280" cy="283464"/>
          </a:xfrm>
          <a:prstGeom prst="rect">
            <a:avLst/>
          </a:prstGeom>
          <a:noFill/>
        </p:spPr>
        <p:txBody>
          <a:bodyPr wrap="square" lIns="0" rIns="0" tIns="0" bIns="0" anchor="ctr">
            <a:spAutoFit/>
          </a:bodyPr>
          <a:lstStyle/>
          <a:p>
            <a:r>
              <a:rPr sz="1300" b="0">
                <a:solidFill>
                  <a:schemeClr val="tx1"/>
                </a:solidFill>
              </a:rPr>
              <a:t>Color y logo por cooperativa</a:t>
            </a:r>
          </a:p>
        </p:txBody>
      </p:sp>
      <p:sp>
        <p:nvSpPr>
          <p:cNvPr id="81" name="Etiqueta"/>
          <p:cNvSpPr/>
          <p:nvPr/>
        </p:nvSpPr>
        <p:spPr>
          <a:xfrm>
            <a:off x="466344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3794760"/>
            <a:ext cx="548640" cy="283464"/>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3794760"/>
            <a:ext cx="3383280" cy="283464"/>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4137660"/>
            <a:ext cx="548640" cy="283464"/>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4137660"/>
            <a:ext cx="3383280" cy="283464"/>
          </a:xfrm>
          <a:prstGeom prst="rect">
            <a:avLst/>
          </a:prstGeom>
          <a:noFill/>
        </p:spPr>
        <p:txBody>
          <a:bodyPr wrap="square" lIns="0" rIns="0" tIns="0" bIns="0" anchor="ctr">
            <a:spAutoFit/>
          </a:bodyPr>
          <a:lstStyle/>
          <a:p>
            <a:r>
              <a:rPr sz="1300" b="0">
                <a:solidFill>
                  <a:schemeClr val="tx1"/>
                </a:solidFill>
              </a:rPr>
              <a:t>Interfaz con react-native-paper (MD3)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logo verificado por contenido, SVG rechazado; color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modelo elegible por cooperativa, o proveedor externo con su clave</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pgvector filtrado por cooperativa; herramientas de solo lectura con los permisos del usuario</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solo para visión y explicaciones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160 / 161</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56 historias de usuario</a:t>
            </a:r>
          </a:p>
          <a:p>
            <a:pPr algn="ctr"/>
            <a:r>
              <a:rPr sz="1400" b="0">
                <a:solidFill>
                  <a:schemeClr val="accent4"/>
                </a:solidFill>
              </a:rPr>
              <a:t>20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Migración a Paper: un agente orquestador y subagentes en paralelo</a:t>
            </a:r>
          </a:p>
          <a:p>
            <a:pPr marL="228600" indent="-228600">
              <a:spcAft>
                <a:spcPts val="800"/>
              </a:spcAft>
              <a:buSzPct val="100000"/>
              <a:buChar char="•"/>
            </a:pPr>
            <a:r>
              <a:rPr sz="1500" b="0">
                <a:solidFill>
                  <a:schemeClr val="tx1"/>
                </a:solidFill>
              </a:rPr>
              <a:t>Evaluaciones con el modelo real (23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1168</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113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477</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25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719072"/>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224528"/>
            <a:ext cx="4572000" cy="274320"/>
          </a:xfrm>
          <a:prstGeom prst="rect">
            <a:avLst/>
          </a:prstGeom>
          <a:noFill/>
        </p:spPr>
        <p:txBody>
          <a:bodyPr wrap="square" lIns="0" rIns="0" tIns="0" bIns="0" anchor="t">
            <a:spAutoFit/>
          </a:bodyPr>
          <a:lstStyle/>
          <a:p>
            <a:r>
              <a:rPr sz="1000" b="0">
                <a:solidFill>
                  <a:schemeClr val="accent6"/>
                </a:solidFill>
              </a:rPr>
              <a:t>Mac de 12 CPU, solo CPU · el conjunto tiene hoy 23 preguntas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qwen3 · bge-m3</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y explicaciones</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documentos, asamblea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apariencia, modelo del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Sin tarjeta no hay nube gratuita: servidor propio con Cloudflare Tunnel</a:t>
            </a:r>
          </a:p>
          <a:p>
            <a:pPr marL="228600" indent="-228600">
              <a:spcAft>
                <a:spcPts val="500"/>
              </a:spcAft>
              <a:buSzPct val="100000"/>
              <a:buChar char="•"/>
            </a:pPr>
            <a:r>
              <a:rPr sz="1300" b="0">
                <a:solidFill>
                  <a:schemeClr val="tx1"/>
                </a:solidFill>
              </a:rPr>
              <a:t>La cuota de Gemini (~20 peticiones/día en Flash) llevó al modelo local</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encontró errores reales</a:t>
            </a:r>
          </a:p>
          <a:p>
            <a:pPr marL="228600" indent="-228600">
              <a:spcAft>
                <a:spcPts val="500"/>
              </a:spcAft>
              <a:buSzPct val="100000"/>
              <a:buChar char="•"/>
            </a:pPr>
            <a:r>
              <a:rPr sz="1300" b="0">
                <a:solidFill>
                  <a:schemeClr val="tx1"/>
                </a:solidFill>
              </a:rPr>
              <a:t>Especificar primero, CLAUDE.md y ESLint protegen la arquitectura</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