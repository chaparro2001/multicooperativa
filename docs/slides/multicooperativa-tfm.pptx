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0" r:id="rId21"/>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21.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y la 021, la última, elimina el logo por cooperativa: solo se veía tras iniciar sesión y la subida de ficheros no compensaba antes de la entrega.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color de marca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166 de los 167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22 de octubre ejecutando pnpm test y pnpm test:integration: 1148 tests unitarios en 112 ficheros (832 de la API, 295 de la app y 21 de contratos) y 523 tests de integración en 27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21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facturación agregada y socios; modelo local o externo</a:t>
            </a:r>
          </a:p>
          <a:p>
            <a:pPr marL="228600" indent="-228600">
              <a:spcAft>
                <a:spcPts val="400"/>
              </a:spcAft>
              <a:buSzPct val="100000"/>
              <a:buChar char="•"/>
            </a:pPr>
            <a:r>
              <a:rPr sz="1400" b="0">
                <a:solidFill>
                  <a:schemeClr val="bg1"/>
                </a:solidFill>
              </a:rPr>
              <a:t>Marca por cooperativa (color) y sistema de diseño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 diseño</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embeddings y asistente por defecto</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explicaciones y asistente de la demo</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3"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Interfaz: del brief al sistema de diseño</a:t>
            </a:r>
          </a:p>
        </p:txBody>
      </p:sp>
      <p:sp>
        <p:nvSpPr>
          <p:cNvPr id="4" name="Tarjeta"/>
          <p:cNvSpPr/>
          <p:nvPr/>
        </p:nvSpPr>
        <p:spPr>
          <a:xfrm>
            <a:off x="6126480" y="1143000"/>
            <a:ext cx="2560320" cy="347472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27"/>
          <p:cNvSpPr txBox="1"/>
          <p:nvPr/>
        </p:nvSpPr>
        <p:spPr>
          <a:xfrm>
            <a:off x="6309360" y="1234440"/>
            <a:ext cx="2240280" cy="365760"/>
          </a:xfrm>
          <a:prstGeom prst="rect">
            <a:avLst/>
          </a:prstGeom>
          <a:noFill/>
        </p:spPr>
        <p:txBody>
          <a:bodyPr wrap="square" lIns="0" rIns="0" tIns="0" bIns="0" anchor="t">
            <a:spAutoFit/>
          </a:bodyPr>
          <a:lstStyle/>
          <a:p>
            <a:r>
              <a:rPr sz="1800" b="1">
                <a:solidFill>
                  <a:schemeClr val="bg1"/>
                </a:solidFill>
              </a:rPr>
              <a:t>Del brief a la app</a:t>
            </a:r>
          </a:p>
        </p:txBody>
      </p:sp>
      <p:sp>
        <p:nvSpPr>
          <p:cNvPr id="6" name="TextBox 28"/>
          <p:cNvSpPr txBox="1"/>
          <p:nvPr/>
        </p:nvSpPr>
        <p:spPr>
          <a:xfrm>
            <a:off x="6309360" y="1645920"/>
            <a:ext cx="2240280" cy="2743200"/>
          </a:xfrm>
          <a:prstGeom prst="rect">
            <a:avLst/>
          </a:prstGeom>
          <a:noFill/>
        </p:spPr>
        <p:txBody>
          <a:bodyPr wrap="square" lIns="0" rIns="0" tIns="0" bIns="0">
            <a:spAutoFit/>
          </a:bodyPr>
          <a:lstStyle/>
          <a:p>
            <a:pPr marL="228600" indent="-228600">
              <a:spcAft>
                <a:spcPts val="400"/>
              </a:spcAft>
              <a:buSzPct val="100000"/>
              <a:buChar char="•"/>
            </a:pPr>
            <a:r>
              <a:rPr sz="1100" b="0">
                <a:solidFill>
                  <a:schemeClr val="bg1"/>
                </a:solidFill>
              </a:rPr>
              <a:t>Brief de interfaz (docs/05)</a:t>
            </a:r>
          </a:p>
          <a:p>
            <a:pPr marL="228600" indent="-228600">
              <a:spcAft>
                <a:spcPts val="400"/>
              </a:spcAft>
              <a:buSzPct val="100000"/>
              <a:buChar char="•"/>
            </a:pPr>
            <a:r>
              <a:rPr sz="1100" b="0">
                <a:solidFill>
                  <a:schemeClr val="bg1"/>
                </a:solidFill>
              </a:rPr>
              <a:t>Herramienta de diseño con IA: tokens, 8 colores, unos 40 componentes</a:t>
            </a:r>
          </a:p>
          <a:p>
            <a:pPr marL="228600" indent="-228600">
              <a:spcAft>
                <a:spcPts val="400"/>
              </a:spcAft>
              <a:buSzPct val="100000"/>
              <a:buChar char="•"/>
            </a:pPr>
            <a:r>
              <a:rPr sz="1100" b="0">
                <a:solidFill>
                  <a:schemeClr val="bg1"/>
                </a:solidFill>
              </a:rPr>
              <a:t>Análisis de brechas (docs/06)</a:t>
            </a:r>
          </a:p>
          <a:p>
            <a:pPr marL="228600" indent="-228600">
              <a:spcAft>
                <a:spcPts val="400"/>
              </a:spcAft>
              <a:buSzPct val="100000"/>
              <a:buChar char="•"/>
            </a:pPr>
            <a:r>
              <a:rPr sz="1100" b="0">
                <a:solidFill>
                  <a:schemeClr val="bg1"/>
                </a:solidFill>
              </a:rPr>
              <a:t>Orquestador y 7 subagentes en paralelo, uno por módulo</a:t>
            </a:r>
          </a:p>
          <a:p>
            <a:pPr marL="228600" indent="-228600">
              <a:spcAft>
                <a:spcPts val="400"/>
              </a:spcAft>
              <a:buSzPct val="100000"/>
              <a:buChar char="•"/>
            </a:pPr>
            <a:r>
              <a:rPr sz="1100" b="0">
                <a:solidFill>
                  <a:schemeClr val="bg1"/>
                </a:solidFill>
              </a:rPr>
              <a:t>Kit en src/ui; las pantallas no usan Paper directamente</a:t>
            </a:r>
          </a:p>
        </p:txBody>
      </p:sp>
      <p:pic>
        <p:nvPicPr>
          <p:cNvPr id="7" name="Picture 6" descr="lucia-selector.png"/>
          <p:cNvPicPr>
            <a:picLocks noChangeAspect="1"/>
          </p:cNvPicPr>
          <p:nvPr/>
        </p:nvPicPr>
        <p:blipFill>
          <a:blip r:embed="rId2"/>
          <a:stretch>
            <a:fillRect/>
          </a:stretch>
        </p:blipFill>
        <p:spPr>
          <a:xfrm>
            <a:off x="457200" y="1143000"/>
            <a:ext cx="1280160" cy="2770397"/>
          </a:xfrm>
          <a:prstGeom prst="rect">
            <a:avLst/>
          </a:prstGeom>
          <a:ln w="9525">
            <a:solidFill>
              <a:srgbClr val="C8D2CC"/>
            </a:solidFill>
          </a:ln>
        </p:spPr>
      </p:pic>
      <p:sp>
        <p:nvSpPr>
          <p:cNvPr id="20" name="TextBox 28"/>
          <p:cNvSpPr txBox="1"/>
          <p:nvPr/>
        </p:nvSpPr>
        <p:spPr>
          <a:xfrm>
            <a:off x="457200" y="3959117"/>
            <a:ext cx="1280160" cy="320040"/>
          </a:xfrm>
          <a:prstGeom prst="rect">
            <a:avLst/>
          </a:prstGeom>
          <a:noFill/>
        </p:spPr>
        <p:txBody>
          <a:bodyPr wrap="square" lIns="0" rIns="0" tIns="0" bIns="0" anchor="t">
            <a:spAutoFit/>
          </a:bodyPr>
          <a:lstStyle/>
          <a:p>
            <a:r>
              <a:rPr sz="800" b="0">
                <a:solidFill>
                  <a:schemeClr val="tx1"/>
                </a:solidFill>
              </a:rPr>
              <a:t>Selector: color de cada cooperativa</a:t>
            </a:r>
          </a:p>
        </p:txBody>
      </p:sp>
      <p:pic>
        <p:nvPicPr>
          <p:cNvPr id="21" name="Picture 20" descr="socio-home.png"/>
          <p:cNvPicPr>
            <a:picLocks noChangeAspect="1"/>
          </p:cNvPicPr>
          <p:nvPr/>
        </p:nvPicPr>
        <p:blipFill>
          <a:blip r:embed="rId3"/>
          <a:stretch>
            <a:fillRect/>
          </a:stretch>
        </p:blipFill>
        <p:spPr>
          <a:xfrm>
            <a:off x="1851660" y="1143000"/>
            <a:ext cx="1280160" cy="2770397"/>
          </a:xfrm>
          <a:prstGeom prst="rect">
            <a:avLst/>
          </a:prstGeom>
          <a:ln w="9525">
            <a:solidFill>
              <a:srgbClr val="C8D2CC"/>
            </a:solidFill>
          </a:ln>
        </p:spPr>
      </p:pic>
      <p:sp>
        <p:nvSpPr>
          <p:cNvPr id="21" name="TextBox 28"/>
          <p:cNvSpPr txBox="1"/>
          <p:nvPr/>
        </p:nvSpPr>
        <p:spPr>
          <a:xfrm>
            <a:off x="1851660" y="3959117"/>
            <a:ext cx="1280160" cy="320040"/>
          </a:xfrm>
          <a:prstGeom prst="rect">
            <a:avLst/>
          </a:prstGeom>
          <a:noFill/>
        </p:spPr>
        <p:txBody>
          <a:bodyPr wrap="square" lIns="0" rIns="0" tIns="0" bIns="0" anchor="t">
            <a:spAutoFit/>
          </a:bodyPr>
          <a:lstStyle/>
          <a:p>
            <a:r>
              <a:rPr sz="800" b="0">
                <a:solidFill>
                  <a:schemeClr val="tx1"/>
                </a:solidFill>
              </a:rPr>
              <a:t>Inicio: "Pendiente para ti"</a:t>
            </a:r>
          </a:p>
        </p:txBody>
      </p:sp>
      <p:pic>
        <p:nvPicPr>
          <p:cNvPr id="22" name="Picture 21" descr="asm1.png"/>
          <p:cNvPicPr>
            <a:picLocks noChangeAspect="1"/>
          </p:cNvPicPr>
          <p:nvPr/>
        </p:nvPicPr>
        <p:blipFill>
          <a:blip r:embed="rId4"/>
          <a:stretch>
            <a:fillRect/>
          </a:stretch>
        </p:blipFill>
        <p:spPr>
          <a:xfrm>
            <a:off x="3246120" y="1143000"/>
            <a:ext cx="1280160" cy="2770397"/>
          </a:xfrm>
          <a:prstGeom prst="rect">
            <a:avLst/>
          </a:prstGeom>
          <a:ln w="9525">
            <a:solidFill>
              <a:srgbClr val="C8D2CC"/>
            </a:solidFill>
          </a:ln>
        </p:spPr>
      </p:pic>
      <p:sp>
        <p:nvSpPr>
          <p:cNvPr id="22" name="TextBox 28"/>
          <p:cNvSpPr txBox="1"/>
          <p:nvPr/>
        </p:nvSpPr>
        <p:spPr>
          <a:xfrm>
            <a:off x="3246120" y="3959117"/>
            <a:ext cx="1280160" cy="320040"/>
          </a:xfrm>
          <a:prstGeom prst="rect">
            <a:avLst/>
          </a:prstGeom>
          <a:noFill/>
        </p:spPr>
        <p:txBody>
          <a:bodyPr wrap="square" lIns="0" rIns="0" tIns="0" bIns="0" anchor="t">
            <a:spAutoFit/>
          </a:bodyPr>
          <a:lstStyle/>
          <a:p>
            <a:r>
              <a:rPr sz="800" b="0">
                <a:solidFill>
                  <a:schemeClr val="tx1"/>
                </a:solidFill>
              </a:rPr>
              <a:t>Asamblea: mapa y quórum</a:t>
            </a:r>
          </a:p>
        </p:txBody>
      </p:sp>
      <p:pic>
        <p:nvPicPr>
          <p:cNvPr id="23" name="Picture 22" descr="invoices.png"/>
          <p:cNvPicPr>
            <a:picLocks noChangeAspect="1"/>
          </p:cNvPicPr>
          <p:nvPr/>
        </p:nvPicPr>
        <p:blipFill>
          <a:blip r:embed="rId5"/>
          <a:stretch>
            <a:fillRect/>
          </a:stretch>
        </p:blipFill>
        <p:spPr>
          <a:xfrm>
            <a:off x="4640580" y="1143000"/>
            <a:ext cx="1280160" cy="2770397"/>
          </a:xfrm>
          <a:prstGeom prst="rect">
            <a:avLst/>
          </a:prstGeom>
          <a:ln w="9525">
            <a:solidFill>
              <a:srgbClr val="C8D2CC"/>
            </a:solidFill>
          </a:ln>
        </p:spPr>
      </p:pic>
      <p:sp>
        <p:nvSpPr>
          <p:cNvPr id="23" name="TextBox 28"/>
          <p:cNvSpPr txBox="1"/>
          <p:nvPr/>
        </p:nvSpPr>
        <p:spPr>
          <a:xfrm>
            <a:off x="4640580" y="3959117"/>
            <a:ext cx="1280160" cy="320040"/>
          </a:xfrm>
          <a:prstGeom prst="rect">
            <a:avLst/>
          </a:prstGeom>
          <a:noFill/>
        </p:spPr>
        <p:txBody>
          <a:bodyPr wrap="square" lIns="0" rIns="0" tIns="0" bIns="0" anchor="t">
            <a:spAutoFit/>
          </a:bodyPr>
          <a:lstStyle/>
          <a:p>
            <a:r>
              <a:rPr sz="800" b="0">
                <a:solidFill>
                  <a:schemeClr val="tx1"/>
                </a:solidFill>
              </a:rPr>
              <a:t>Facturas y albaranes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26 ADR</a:t>
            </a:r>
          </a:p>
        </p:txBody>
      </p:sp>
      <p:sp>
        <p:nvSpPr>
          <p:cNvPr id="27" name="Etiqueta"/>
          <p:cNvSpPr/>
          <p:nvPr/>
        </p:nvSpPr>
        <p:spPr>
          <a:xfrm>
            <a:off x="45720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56032"/>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56032"/>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30960"/>
            <a:ext cx="548640" cy="256032"/>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30960"/>
            <a:ext cx="3383280" cy="256032"/>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610360"/>
            <a:ext cx="548640" cy="256032"/>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610360"/>
            <a:ext cx="3383280" cy="256032"/>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889760"/>
            <a:ext cx="548640" cy="256032"/>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1889760"/>
            <a:ext cx="3383280" cy="256032"/>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169160"/>
            <a:ext cx="548640" cy="256032"/>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169160"/>
            <a:ext cx="3383280" cy="256032"/>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448560"/>
            <a:ext cx="548640" cy="256032"/>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448560"/>
            <a:ext cx="3383280" cy="256032"/>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2727960"/>
            <a:ext cx="548640" cy="256032"/>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727960"/>
            <a:ext cx="548640" cy="256032"/>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2727960"/>
            <a:ext cx="3383280" cy="256032"/>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007360"/>
            <a:ext cx="548640" cy="256032"/>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007360"/>
            <a:ext cx="3383280" cy="256032"/>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286760"/>
            <a:ext cx="548640" cy="256032"/>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286760"/>
            <a:ext cx="3383280" cy="256032"/>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566160"/>
            <a:ext cx="548640" cy="256032"/>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3566160"/>
            <a:ext cx="3383280" cy="256032"/>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5720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3845560"/>
            <a:ext cx="548640" cy="256032"/>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1115568" y="3845560"/>
            <a:ext cx="3383280" cy="256032"/>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5720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124960"/>
            <a:ext cx="548640" cy="256032"/>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1115568" y="4124960"/>
            <a:ext cx="3383280" cy="256032"/>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5720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4404360"/>
            <a:ext cx="548640" cy="256032"/>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1115568" y="4404360"/>
            <a:ext cx="3383280" cy="256032"/>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1051560"/>
            <a:ext cx="548640" cy="256032"/>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1051560"/>
            <a:ext cx="3566160" cy="256032"/>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1330960"/>
            <a:ext cx="548640" cy="256032"/>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1330960"/>
            <a:ext cx="3566160" cy="256032"/>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1610360"/>
            <a:ext cx="548640" cy="256032"/>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1610360"/>
            <a:ext cx="3566160" cy="256032"/>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1889760"/>
            <a:ext cx="548640" cy="256032"/>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1889760"/>
            <a:ext cx="3566160" cy="256032"/>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2169160"/>
            <a:ext cx="548640" cy="256032"/>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2169160"/>
            <a:ext cx="3566160" cy="256032"/>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2448560"/>
            <a:ext cx="548640" cy="256032"/>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2448560"/>
            <a:ext cx="3566160" cy="256032"/>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2727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2727960"/>
            <a:ext cx="548640" cy="256032"/>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2727960"/>
            <a:ext cx="3566160" cy="256032"/>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3007360"/>
            <a:ext cx="548640" cy="256032"/>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3007360"/>
            <a:ext cx="3566160" cy="256032"/>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
        <p:nvSpPr>
          <p:cNvPr id="90" name="Etiqueta"/>
          <p:cNvSpPr/>
          <p:nvPr/>
        </p:nvSpPr>
        <p:spPr>
          <a:xfrm>
            <a:off x="466344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81"/>
          <p:cNvSpPr txBox="1"/>
          <p:nvPr/>
        </p:nvSpPr>
        <p:spPr>
          <a:xfrm>
            <a:off x="4663440" y="3286760"/>
            <a:ext cx="548640" cy="256032"/>
          </a:xfrm>
          <a:prstGeom prst="rect">
            <a:avLst/>
          </a:prstGeom>
          <a:noFill/>
        </p:spPr>
        <p:txBody>
          <a:bodyPr wrap="square" lIns="0" rIns="0" tIns="0" bIns="0" anchor="ctr">
            <a:spAutoFit/>
          </a:bodyPr>
          <a:lstStyle/>
          <a:p>
            <a:pPr algn="ctr"/>
            <a:r>
              <a:rPr sz="1200" b="1">
                <a:solidFill>
                  <a:schemeClr val="bg1"/>
                </a:solidFill>
              </a:rPr>
              <a:t>022</a:t>
            </a:r>
          </a:p>
        </p:txBody>
      </p:sp>
      <p:sp>
        <p:nvSpPr>
          <p:cNvPr id="92" name="TextBox 82"/>
          <p:cNvSpPr txBox="1"/>
          <p:nvPr/>
        </p:nvSpPr>
        <p:spPr>
          <a:xfrm>
            <a:off x="5321807" y="3286760"/>
            <a:ext cx="3566160" cy="256032"/>
          </a:xfrm>
          <a:prstGeom prst="rect">
            <a:avLst/>
          </a:prstGeom>
          <a:noFill/>
        </p:spPr>
        <p:txBody>
          <a:bodyPr wrap="square" lIns="0" rIns="0" tIns="0" bIns="0" anchor="ctr">
            <a:spAutoFit/>
          </a:bodyPr>
          <a:lstStyle/>
          <a:p>
            <a:r>
              <a:rPr sz="1300" b="0">
                <a:solidFill>
                  <a:schemeClr val="tx1"/>
                </a:solidFill>
              </a:rPr>
              <a:t>Búsqueda híbrida y umbral de similitud</a:t>
            </a:r>
          </a:p>
        </p:txBody>
      </p:sp>
      <p:sp>
        <p:nvSpPr>
          <p:cNvPr id="93" name="Etiqueta"/>
          <p:cNvSpPr/>
          <p:nvPr/>
        </p:nvSpPr>
        <p:spPr>
          <a:xfrm>
            <a:off x="466344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81"/>
          <p:cNvSpPr txBox="1"/>
          <p:nvPr/>
        </p:nvSpPr>
        <p:spPr>
          <a:xfrm>
            <a:off x="4663440" y="3566160"/>
            <a:ext cx="548640" cy="256032"/>
          </a:xfrm>
          <a:prstGeom prst="rect">
            <a:avLst/>
          </a:prstGeom>
          <a:noFill/>
        </p:spPr>
        <p:txBody>
          <a:bodyPr wrap="square" lIns="0" rIns="0" tIns="0" bIns="0" anchor="ctr">
            <a:spAutoFit/>
          </a:bodyPr>
          <a:lstStyle/>
          <a:p>
            <a:pPr algn="ctr"/>
            <a:r>
              <a:rPr sz="1200" b="1">
                <a:solidFill>
                  <a:schemeClr val="bg1"/>
                </a:solidFill>
              </a:rPr>
              <a:t>023</a:t>
            </a:r>
          </a:p>
        </p:txBody>
      </p:sp>
      <p:sp>
        <p:nvSpPr>
          <p:cNvPr id="95" name="TextBox 82"/>
          <p:cNvSpPr txBox="1"/>
          <p:nvPr/>
        </p:nvSpPr>
        <p:spPr>
          <a:xfrm>
            <a:off x="5321807" y="3566160"/>
            <a:ext cx="3566160" cy="256032"/>
          </a:xfrm>
          <a:prstGeom prst="rect">
            <a:avLst/>
          </a:prstGeom>
          <a:noFill/>
        </p:spPr>
        <p:txBody>
          <a:bodyPr wrap="square" lIns="0" rIns="0" tIns="0" bIns="0" anchor="ctr">
            <a:spAutoFit/>
          </a:bodyPr>
          <a:lstStyle/>
          <a:p>
            <a:r>
              <a:rPr sz="1300" b="0">
                <a:solidFill>
                  <a:schemeClr val="tx1"/>
                </a:solidFill>
              </a:rPr>
              <a:t>Calidad RAG: benchmark y recuperación</a:t>
            </a:r>
          </a:p>
        </p:txBody>
      </p:sp>
      <p:sp>
        <p:nvSpPr>
          <p:cNvPr id="96" name="Etiqueta"/>
          <p:cNvSpPr/>
          <p:nvPr/>
        </p:nvSpPr>
        <p:spPr>
          <a:xfrm>
            <a:off x="466344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81"/>
          <p:cNvSpPr txBox="1"/>
          <p:nvPr/>
        </p:nvSpPr>
        <p:spPr>
          <a:xfrm>
            <a:off x="4663440" y="3845560"/>
            <a:ext cx="548640" cy="256032"/>
          </a:xfrm>
          <a:prstGeom prst="rect">
            <a:avLst/>
          </a:prstGeom>
          <a:noFill/>
        </p:spPr>
        <p:txBody>
          <a:bodyPr wrap="square" lIns="0" rIns="0" tIns="0" bIns="0" anchor="ctr">
            <a:spAutoFit/>
          </a:bodyPr>
          <a:lstStyle/>
          <a:p>
            <a:pPr algn="ctr"/>
            <a:r>
              <a:rPr sz="1200" b="1">
                <a:solidFill>
                  <a:schemeClr val="bg1"/>
                </a:solidFill>
              </a:rPr>
              <a:t>024</a:t>
            </a:r>
          </a:p>
        </p:txBody>
      </p:sp>
      <p:sp>
        <p:nvSpPr>
          <p:cNvPr id="98" name="TextBox 82"/>
          <p:cNvSpPr txBox="1"/>
          <p:nvPr/>
        </p:nvSpPr>
        <p:spPr>
          <a:xfrm>
            <a:off x="5321807" y="3845560"/>
            <a:ext cx="3566160" cy="256032"/>
          </a:xfrm>
          <a:prstGeom prst="rect">
            <a:avLst/>
          </a:prstGeom>
          <a:noFill/>
        </p:spPr>
        <p:txBody>
          <a:bodyPr wrap="square" lIns="0" rIns="0" tIns="0" bIns="0" anchor="ctr">
            <a:spAutoFit/>
          </a:bodyPr>
          <a:lstStyle/>
          <a:p>
            <a:r>
              <a:rPr sz="1300" b="0">
                <a:solidFill>
                  <a:schemeClr val="tx1"/>
                </a:solidFill>
              </a:rPr>
              <a:t>Sistema de diseño de la interfaz</a:t>
            </a:r>
          </a:p>
        </p:txBody>
      </p:sp>
      <p:sp>
        <p:nvSpPr>
          <p:cNvPr id="200" name="Etiqueta"/>
          <p:cNvSpPr/>
          <p:nvPr/>
        </p:nvSpPr>
        <p:spPr>
          <a:xfrm>
            <a:off x="466344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81"/>
          <p:cNvSpPr txBox="1"/>
          <p:nvPr/>
        </p:nvSpPr>
        <p:spPr>
          <a:xfrm>
            <a:off x="4663440" y="4124960"/>
            <a:ext cx="548640" cy="256032"/>
          </a:xfrm>
          <a:prstGeom prst="rect">
            <a:avLst/>
          </a:prstGeom>
          <a:noFill/>
        </p:spPr>
        <p:txBody>
          <a:bodyPr wrap="square" lIns="0" rIns="0" tIns="0" bIns="0" anchor="ctr">
            <a:spAutoFit/>
          </a:bodyPr>
          <a:lstStyle/>
          <a:p>
            <a:pPr algn="ctr"/>
            <a:r>
              <a:rPr sz="1200" b="1">
                <a:solidFill>
                  <a:schemeClr val="bg1"/>
                </a:solidFill>
              </a:rPr>
              <a:t>025</a:t>
            </a:r>
          </a:p>
        </p:txBody>
      </p:sp>
      <p:sp>
        <p:nvSpPr>
          <p:cNvPr id="202" name="TextBox 82"/>
          <p:cNvSpPr txBox="1"/>
          <p:nvPr/>
        </p:nvSpPr>
        <p:spPr>
          <a:xfrm>
            <a:off x="5321807" y="4124960"/>
            <a:ext cx="3566160" cy="256032"/>
          </a:xfrm>
          <a:prstGeom prst="rect">
            <a:avLst/>
          </a:prstGeom>
          <a:noFill/>
        </p:spPr>
        <p:txBody>
          <a:bodyPr wrap="square" lIns="0" rIns="0" tIns="0" bIns="0" anchor="ctr">
            <a:spAutoFit/>
          </a:bodyPr>
          <a:lstStyle/>
          <a:p>
            <a:r>
              <a:rPr sz="1300" b="0">
                <a:solidFill>
                  <a:schemeClr val="tx1"/>
                </a:solidFill>
              </a:rPr>
              <a:t>NIF del socio y cruce socio–tercero</a:t>
            </a:r>
          </a:p>
        </p:txBody>
      </p:sp>
      <p:sp>
        <p:nvSpPr>
          <p:cNvPr id="203" name="Etiqueta"/>
          <p:cNvSpPr/>
          <p:nvPr/>
        </p:nvSpPr>
        <p:spPr>
          <a:xfrm>
            <a:off x="466344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81"/>
          <p:cNvSpPr txBox="1"/>
          <p:nvPr/>
        </p:nvSpPr>
        <p:spPr>
          <a:xfrm>
            <a:off x="4663440" y="4404360"/>
            <a:ext cx="548640" cy="256032"/>
          </a:xfrm>
          <a:prstGeom prst="rect">
            <a:avLst/>
          </a:prstGeom>
          <a:noFill/>
        </p:spPr>
        <p:txBody>
          <a:bodyPr wrap="square" lIns="0" rIns="0" tIns="0" bIns="0" anchor="ctr">
            <a:spAutoFit/>
          </a:bodyPr>
          <a:lstStyle/>
          <a:p>
            <a:pPr algn="ctr"/>
            <a:r>
              <a:rPr sz="1200" b="1">
                <a:solidFill>
                  <a:schemeClr val="bg1"/>
                </a:solidFill>
              </a:rPr>
              <a:t>026</a:t>
            </a:r>
          </a:p>
        </p:txBody>
      </p:sp>
      <p:sp>
        <p:nvSpPr>
          <p:cNvPr id="205" name="TextBox 82"/>
          <p:cNvSpPr txBox="1"/>
          <p:nvPr/>
        </p:nvSpPr>
        <p:spPr>
          <a:xfrm>
            <a:off x="5321807" y="4404360"/>
            <a:ext cx="3566160" cy="256032"/>
          </a:xfrm>
          <a:prstGeom prst="rect">
            <a:avLst/>
          </a:prstGeom>
          <a:noFill/>
        </p:spPr>
        <p:txBody>
          <a:bodyPr wrap="square" lIns="0" rIns="0" tIns="0" bIns="0" anchor="ctr">
            <a:spAutoFit/>
          </a:bodyPr>
          <a:lstStyle/>
          <a:p>
            <a:r>
              <a:rPr sz="1300" b="0">
                <a:solidFill>
                  <a:schemeClr val="tx1"/>
                </a:solidFill>
              </a:rPr>
              <a:t>Gemini para el asistente de la demo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color de marca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por defecto; Gemini Flash-Lite en la demo publicada (ADR-026); modelo elegible por cooperativa o proveedor externo</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18 herramientas de solo lectura con los permisos del usuario: facturación agregada en BD, socios y cruce socio–tercero por NIF; cifras citadas</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para visión, explicaciones y el asistente de la demo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245 / 246</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63 historias de usuario</a:t>
            </a:r>
          </a:p>
          <a:p>
            <a:pPr algn="ctr"/>
            <a:r>
              <a:rPr sz="1400" b="0">
                <a:solidFill>
                  <a:schemeClr val="accent4"/>
                </a:solidFill>
              </a:rPr>
              <a:t>26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Diseño con IA: brief, herramienta de diseño, análisis de brechas y migración con orquestador y 7 subagentes</a:t>
            </a:r>
          </a:p>
          <a:p>
            <a:pPr marL="228600" indent="-228600">
              <a:spcAft>
                <a:spcPts val="800"/>
              </a:spcAft>
              <a:buSzPct val="100000"/>
              <a:buChar char="•"/>
            </a:pPr>
            <a:r>
              <a:rPr sz="1500" b="0">
                <a:solidFill>
                  <a:schemeClr val="tx1"/>
                </a:solidFill>
              </a:rPr>
              <a:t>Evaluaciones con el modelo real (60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1504</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136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611</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32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480000"/>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020000"/>
            <a:ext cx="4572000" cy="274320"/>
          </a:xfrm>
          <a:prstGeom prst="rect">
            <a:avLst/>
          </a:prstGeom>
          <a:noFill/>
        </p:spPr>
        <p:txBody>
          <a:bodyPr wrap="square" lIns="0" rIns="0" tIns="0" bIns="0" anchor="t">
            <a:spAutoFit/>
          </a:bodyPr>
          <a:lstStyle/>
          <a:p>
            <a:r>
              <a:rPr sz="1000" b="0">
                <a:solidFill>
                  <a:schemeClr val="accent6"/>
                </a:solidFill>
              </a:rPr>
              <a:t>Benchmark de 22 preguntas con el que se eligió el modelo local · Mac de 12 CPU</a:t>
            </a:r>
          </a:p>
          <a:p>
            <a:r>
              <a:rPr sz="1000" b="0">
                <a:solidFill>
                  <a:schemeClr val="accent6"/>
                </a:solidFill>
              </a:rPr>
              <a:t>Conjunto actual: 60 preguntas · qwen3:4b-instruct 47/60 · Gemini Flash-Lite 53/60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bge-m3 · qwen3 (por defecto)</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explicaciones y asistente de la demo</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"Pendiente para ti", comunicados, documentos, asamblea (Cómo llegar, quórum)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 asistente: "mayores proveedores del año"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 asistente: capital y censo de socios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ajustes (apariencia, facturación, asistente IA), historial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Desde casi 15 años de iOS nativo: aprendizaje de todo el stack, de Docker al backend, la base de datos y la IA</a:t>
            </a:r>
          </a:p>
          <a:p>
            <a:pPr marL="228600" indent="-228600">
              <a:spcAft>
                <a:spcPts val="500"/>
              </a:spcAft>
              <a:buSzPct val="100000"/>
              <a:buChar char="•"/>
            </a:pPr>
            <a:r>
              <a:rPr sz="1300" b="0">
                <a:solidFill>
                  <a:schemeClr val="tx1"/>
                </a:solidFill>
              </a:rPr>
              <a:t>La cuota de Gemini llevó al modelo local; en el servidor, la CPU lo hizo inviable (&gt;30 s) y la demo volvió a Gemini</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La evaluación offline no basta: medir con el modelo real (32/60 → 47/60 tras ajustar)</a:t>
            </a:r>
          </a:p>
          <a:p>
            <a:pPr marL="228600" indent="-228600">
              <a:spcAft>
                <a:spcPts val="500"/>
              </a:spcAft>
              <a:buSzPct val="100000"/>
              <a:buChar char="•"/>
            </a:pPr>
            <a:r>
              <a:rPr sz="1300" b="0">
                <a:solidFill>
                  <a:schemeClr val="tx1"/>
                </a:solidFill>
              </a:rPr>
              <a:t>Especificar primero, CLAUDE.md y ESLint protegen la arquitectura</a:t>
            </a:r>
          </a:p>
          <a:p>
            <a:pPr marL="228600" indent="-228600">
              <a:spcAft>
                <a:spcPts val="500"/>
              </a:spcAft>
              <a:buSzPct val="100000"/>
              <a:buChar char="•"/>
            </a:pPr>
            <a:r>
              <a:rPr sz="1300" b="0">
                <a:solidFill>
                  <a:schemeClr val="tx1"/>
                </a:solidFill>
              </a:rPr>
              <a:t>Un diseño generado con IA se adopta mejor con un análisis de brechas antes de migrar</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