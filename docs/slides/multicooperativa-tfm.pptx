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Buenas. Soy &lt;Nombre&gt; y presento multiCooperativa, mi Trabajo Fin de Máster del Máster de Desarrollo con IA de BIG school. Es una aplicación móvil para cooperativas con un asistente de IA que respeta los permisos de cada usuario. Voy a contar el problema, la solución, cómo está construida y, sobre todo, cómo he usado la IA tanto dentro del producto como en el proceso de desarrollo.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socio de una cooperativa participa poco y está mal informado. Las convocatorias llegan por carta o por el tablón de anuncios. Estatutos, reglamentos y actas no están a mano. Y en la parte de gestión, los albaranes y facturas con proveedores y clientes viven en papel: los descuadres entre ellos, los impagos y los cobros pendientes se detectan tarde o nunca. Ese es el hueco que cubre la aplicación.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solución es una aplicación estándar, válida para cualquier tipo de cooperativa: agrícola, de vivienda, de trabajo o de consumo, sin funcionalidad sectorial. Un mismo usuario puede pertenecer a varias cooperativas con un perfil distinto en cada una, y los datos de cada cooperativa están aislados. Hay cuatro perfiles: el socio, que se informa, vota y lee documentos; el consejo rector, que publica comunicados, convoca asambleas y vigila pagos y cobros; el gestor, que registra y concilia albaranes y facturas y puede no ser socio; y el administrador, que da acceso y asigna perfiles. Los permisos se definen por módulo, nivel y alcance; el backend decide y la app solo oculta.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foto honesta. Implementado y funcionando: acceso y perfiles; comunicados; documentos con búsqueda semántica; asambleas con votación, quórum y mayorías; facturas y albaranes con captura, extracción por IA y explicación de discrepancias; y el asistente de IA con citas. No he llegado al área del socio, las notificaciones push, Sentry, los tests E2E con Maestro ni las reclamaciones de facturas. Lo dejé fuera aplicando el orden de recorte que definí en el plan: lo que no se recorta son los perfiles, las facturas con escaneo y el asistente.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app Expo, que genera iOS, Android y web, habla con una API REST en Node y TypeScript. El backend es un monolito modular con Clean Architecture: cada módulo tiene capas de dominio, aplicación e infraestructura y solo expone su index.ts. Los módulos no leen las tablas de otros; se comunican por su interfaz pública o por eventos internos, y una regla de ESLint propia lo hace cumplir. Debajo, PostgreSQL con pgvector, almacenamiento S3 con URLs firmadas, y Gemini para lenguaje y visión, con embeddings de Ollama en local o de Gemini en la demo. Todos los servicios de IA van detrás de puertos.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decisión importante está en un ADR inmutable: si una decisión cambia, se escribe otro ADR. Por ejemplo, el 007 elegía Claude para visión y redacción y fue sustituido por el 009, que usa Gemini por su capa gratuita; y el 006 elegía embeddings locales con Ollama, que sigue valiendo en desarrollo, mientras el 010 usa embeddings de Gemini en la demo alojada porque ningún plan gratuito aloja Ollama. El 003 y el 004 son la base de la multi-cooperativa y de los permisos por perfil. El 008 fija código y documentación en inglés con interfaz localizada, y el 011 es la excepción acotada del README bilingüe.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seguridad se decide en el backend. Cada caso de uso comprueba el permiso y deniega por defecto; la app solo oculta lo que el servidor dice que no está permitido. El aislamiento es por cooperativa: un recurso de otra cooperativa responde 404 y un módulo sin permiso responde 403. Las contraseñas usan Argon2id, los JWT tienen refresh rotatorio y hay bloqueo por intentos fallidos. CORS es configurable por entorno y los secretos están fuera del repositorio, solo hay .env.example. Y hay tests parametrizados de la matriz perfiles por módulos y tests de aislamiento entre cooperativas contra una base de datos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Hay cuatro usos de IA, todos con límites. Uno: el asistente usa RAG sobre los documentos de la cooperativa y responde con citas a la fuente. Dos: sus herramientas son de solo lectura y reutilizan los casos de uso, así que el asistente no puede ver nada que el usuario no pueda ver. Tres: la extracción de facturas con visión devuelve datos validados con un esquema Zod y nunca se guarda sin confirmación humana. Cuatro: la explicación de discrepancias describe en lenguaje natural dónde no cuadran albarán y factura, con minimización de los datos enviados. Los embeddings son locales con Ollama en desarrollo y de Gemini en la demo. Y hay una evaluación de 20 preguntas para el asistente.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Además de usar IA en el producto, el proyecto se ha construido con Claude Code y Spec Driven Development. Primero la especificación: visión, stack, plan por hitos y requisitos con historias de usuario, reglas de negocio y requisitos no funcionales, antes del código. CLAUDE.md es el contrato con el agente: reglas no negociables, forma de trabajar y comandos. Dominio con TDD a partir de los criterios de la especificación. Los identificadores de requisitos aparecen en tests y en commits con Conventional Commits. Una regla propia de ESLint hace cumplir las fronteras entre módulos aunque escriba el agente. El 98 por ciento de los commits, 60 de 61, llevan el trailer Co-Authored-By de Claude. Y se usaron agentes en paralelo, cada uno en su git worktree, para no pisarse.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Tenemos 613 tests unitarios en 67 ficheros, todos en verde a fecha 20 de octubre. Los tests de integración corren contra PostgreSQL y S3 reales, incluido el de aislamiento entre cooperativas; el README no fija un recuento porque no se ejecutaron al redactarlo. Husky ejecuta lint, typecheck y tests en el pre-commit, y GitHub Actions hace formato, lint, typecheck, tests, migraciones sobre Postgres con pgvector y tests de integración en cada push. Para el asistente hay un conjunto de evaluación de 20 preguntas que se lanza con ai:eval.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demo cuesta 0 euros y no necesita tarjeta. La app web es el export de Expo en GitHub Pages; la API es un servicio web gratuito de Render con Docker; la base de datos es Neon con pgvector; los ficheros están en Supabase Storage por su protocolo S3; y el modelo es Gemini con clave gratuita. Un cron de GitHub Actions despierta la API y ejecuta el proceso de vencimientos cada hora. Las limitaciones: Render duerme la API tras 15 minutos sin tráfico y la primera petición tarda aproximadamente un minuto; la capa gratuita de Gemini puede usar el contenido para mejorar productos de Google, por eso no se suben documentos reales; y es una demo, los datos pueden perderse. No hay binarios nativos, la demo es el export web.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enseño la demo en directo o en vídeo. La URL y la contraseña se completan antes de la entrega. Recomiendo despertar la API antes, por el arranque en frío. Usuarios de prueba de la Cooperativa Agrícola San Isidro: el socio, el consejo, el gestor y el administrador. Lucía pertenece a dos cooperativas con un perfil distinto en cada una, y sirve para enseñar el selector. Mostraré: login como socio, comunicados, documentos y búsqueda, asamblea y voto; luego como gestor, facturas, escaneo con IA y explicación de discrepancia; y el asistente con citas y la prueba de permisos: el socio no ve facturas.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Lecciones: especificar antes de programar redujo la ambigüedad al trabajar con el agente; el contrato CLAUDE.md y la regla de ESLint evitan que el agente rompa la arquitectura; los puertos hicieron barato cambiar de proveedor de IA, de Claude a Gemini, con el ADR-009 sustituyendo al 007; y hay que recortar con criterio: lo no negociable fueron perfiles, facturas con escaneo y asistente. Trabajo futuro, lo que no está implementado: área del socio, notificaciones push, Sentry, E2E con Maestro y reclamaciones de facturas. Tampoco hay binarios nativos con EAS Build ni invitaciones por correo.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Muchas gracias. El código, la documentación y los ADR están en el repositorio de GitHub; la demo y el vídeo, en los enlaces de la diapositiva. Quedo a disposición del tribunal para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multiCooperativa · TFM Máster de Desarrollo con IA</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188720"/>
            <a:ext cx="7863840" cy="1005840"/>
          </a:xfrm>
          <a:prstGeom prst="rect">
            <a:avLst/>
          </a:prstGeom>
          <a:noFill/>
          <a:ln/>
        </p:spPr>
        <p:txBody>
          <a:bodyPr wrap="square" lIns="0" tIns="0" rIns="0" bIns="0" rtlCol="0" anchor="ctr"/>
          <a:lstStyle/>
          <a:p>
            <a:pPr indent="0" marL="0">
              <a:buNone/>
            </a:pPr>
            <a:r>
              <a:rPr lang="en-US" sz="5400" b="1" dirty="0">
                <a:solidFill>
                  <a:schemeClr val="bg1"/>
                </a:solidFill>
                <a:latin typeface="Cambria" pitchFamily="34" charset="0"/>
                <a:ea typeface="Cambria" pitchFamily="34" charset="-122"/>
                <a:cs typeface="Cambria" pitchFamily="34" charset="-120"/>
              </a:rPr>
              <a:t>multiCooperativa</a:t>
            </a:r>
            <a:endParaRPr lang="en-US" sz="5400" dirty="0"/>
          </a:p>
        </p:txBody>
      </p:sp>
      <p:sp>
        <p:nvSpPr>
          <p:cNvPr id="3" name="Text 1"/>
          <p:cNvSpPr txBox="1"/>
          <p:nvPr/>
        </p:nvSpPr>
        <p:spPr>
          <a:xfrm>
            <a:off x="640080" y="2240280"/>
            <a:ext cx="7863840" cy="548640"/>
          </a:xfrm>
          <a:prstGeom prst="rect">
            <a:avLst/>
          </a:prstGeom>
          <a:noFill/>
          <a:ln/>
        </p:spPr>
        <p:txBody>
          <a:bodyPr wrap="square" lIns="0" tIns="0" rIns="0" bIns="0" rtlCol="0" anchor="ctr"/>
          <a:lstStyle/>
          <a:p>
            <a:pPr indent="0" marL="0">
              <a:buNone/>
            </a:pPr>
            <a:r>
              <a:rPr lang="en-US" sz="2400" dirty="0">
                <a:solidFill>
                  <a:schemeClr val="accent2"/>
                </a:solidFill>
              </a:rPr>
              <a:t>App móvil multi-cooperativa con asistente de IA</a:t>
            </a:r>
            <a:endParaRPr lang="en-US" sz="2400" dirty="0"/>
          </a:p>
        </p:txBody>
      </p:sp>
      <p:sp>
        <p:nvSpPr>
          <p:cNvPr id="4" name="Text 2"/>
          <p:cNvSpPr txBox="1"/>
          <p:nvPr/>
        </p:nvSpPr>
        <p:spPr>
          <a:xfrm>
            <a:off x="640080" y="3200400"/>
            <a:ext cx="7863840" cy="365760"/>
          </a:xfrm>
          <a:prstGeom prst="rect">
            <a:avLst/>
          </a:prstGeom>
          <a:noFill/>
          <a:ln/>
        </p:spPr>
        <p:txBody>
          <a:bodyPr wrap="square" lIns="0" tIns="0" rIns="0" bIns="0" rtlCol="0" anchor="ctr"/>
          <a:lstStyle/>
          <a:p>
            <a:pPr indent="0" marL="0">
              <a:buNone/>
            </a:pPr>
            <a:r>
              <a:rPr lang="en-US" sz="1600" dirty="0">
                <a:solidFill>
                  <a:schemeClr val="bg2"/>
                </a:solidFill>
              </a:rPr>
              <a:t>Trabajo Fin de Máster · Máster de Desarrollo con IA (BIG school)</a:t>
            </a:r>
            <a:endParaRPr lang="en-US" sz="1600" dirty="0"/>
          </a:p>
        </p:txBody>
      </p:sp>
      <p:sp>
        <p:nvSpPr>
          <p:cNvPr id="5" name="Text 3"/>
          <p:cNvSpPr txBox="1"/>
          <p:nvPr/>
        </p:nvSpPr>
        <p:spPr>
          <a:xfrm>
            <a:off x="640080" y="3611880"/>
            <a:ext cx="7863840" cy="365760"/>
          </a:xfrm>
          <a:prstGeom prst="rect">
            <a:avLst/>
          </a:prstGeom>
          <a:noFill/>
          <a:ln/>
        </p:spPr>
        <p:txBody>
          <a:bodyPr wrap="square" lIns="0" tIns="0" rIns="0" bIns="0" rtlCol="0" anchor="ctr"/>
          <a:lstStyle/>
          <a:p>
            <a:pPr indent="0" marL="0">
              <a:buNone/>
            </a:pPr>
            <a:r>
              <a:rPr lang="en-US" sz="1600" dirty="0">
                <a:solidFill>
                  <a:schemeClr val="bg2"/>
                </a:solidFill>
              </a:rPr>
              <a:t>Juan Chaparro García · Octubre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El problema: un socio poco informado</a:t>
            </a:r>
            <a:endParaRPr lang="en-US" sz="2800" dirty="0"/>
          </a:p>
        </p:txBody>
      </p:sp>
      <p:sp>
        <p:nvSpPr>
          <p:cNvPr id="4" name="Tarjeta"/>
          <p:cNvSpPr/>
          <p:nvPr/>
        </p:nvSpPr>
        <p:spPr>
          <a:xfrm>
            <a:off x="457200" y="1188720"/>
            <a:ext cx="2606040" cy="2286000"/>
          </a:xfrm>
          <a:prstGeom prst="roundRect">
            <a:avLst>
              <a:gd name="adj" fmla="val 4000"/>
            </a:avLst>
          </a:prstGeom>
          <a:solidFill>
            <a:schemeClr val="bg2"/>
          </a:solidFill>
          <a:ln w="12700">
            <a:solidFill>
              <a:schemeClr val="bg2"/>
            </a:solidFill>
            <a:prstDash val="solid"/>
          </a:ln>
        </p:spPr>
        <p:txBody>
          <a:bodyPr/>
          <a:p/>
        </p:txBody>
      </p:sp>
      <p:sp>
        <p:nvSpPr>
          <p:cNvPr id="5" name="Text 2"/>
          <p:cNvSpPr txBox="1"/>
          <p:nvPr/>
        </p:nvSpPr>
        <p:spPr>
          <a:xfrm>
            <a:off x="640080" y="1298448"/>
            <a:ext cx="2240280" cy="594360"/>
          </a:xfrm>
          <a:prstGeom prst="rect">
            <a:avLst/>
          </a:prstGeom>
          <a:noFill/>
          <a:ln/>
        </p:spPr>
        <p:txBody>
          <a:bodyPr wrap="square" lIns="0" tIns="0" rIns="0" bIns="0" rtlCol="0" anchor="t"/>
          <a:lstStyle/>
          <a:p>
            <a:pPr indent="0" marL="0">
              <a:buNone/>
            </a:pPr>
            <a:r>
              <a:rPr lang="en-US" sz="1600" b="1" dirty="0">
                <a:solidFill>
                  <a:schemeClr val="tx2"/>
                </a:solidFill>
              </a:rPr>
              <a:t>Convocatorias en papel</a:t>
            </a:r>
            <a:endParaRPr lang="en-US" sz="1600" dirty="0"/>
          </a:p>
        </p:txBody>
      </p:sp>
      <p:sp>
        <p:nvSpPr>
          <p:cNvPr id="6" name="Text 3"/>
          <p:cNvSpPr txBox="1"/>
          <p:nvPr/>
        </p:nvSpPr>
        <p:spPr>
          <a:xfrm>
            <a:off x="640080" y="1965960"/>
            <a:ext cx="2240280" cy="1417320"/>
          </a:xfrm>
          <a:prstGeom prst="rect">
            <a:avLst/>
          </a:prstGeom>
          <a:noFill/>
          <a:ln/>
        </p:spPr>
        <p:txBody>
          <a:bodyPr wrap="square" lIns="0" tIns="0" rIns="0" bIns="0" rtlCol="0" anchor="t"/>
          <a:lstStyle/>
          <a:p>
            <a:pPr indent="0" marL="0">
              <a:buNone/>
            </a:pPr>
            <a:r>
              <a:rPr lang="en-US" sz="1500" dirty="0">
                <a:solidFill>
                  <a:schemeClr val="tx1"/>
                </a:solidFill>
              </a:rPr>
              <a:t>Cartas y tablón de anuncios: el socio se entera tarde o no se entera.</a:t>
            </a:r>
            <a:endParaRPr lang="en-US" sz="1500" dirty="0"/>
          </a:p>
        </p:txBody>
      </p:sp>
      <p:sp>
        <p:nvSpPr>
          <p:cNvPr id="7" name="Tarjeta"/>
          <p:cNvSpPr/>
          <p:nvPr/>
        </p:nvSpPr>
        <p:spPr>
          <a:xfrm>
            <a:off x="3246120" y="1188720"/>
            <a:ext cx="2606040" cy="2286000"/>
          </a:xfrm>
          <a:prstGeom prst="roundRect">
            <a:avLst>
              <a:gd name="adj" fmla="val 4000"/>
            </a:avLst>
          </a:prstGeom>
          <a:solidFill>
            <a:schemeClr val="bg2"/>
          </a:solidFill>
          <a:ln w="12700">
            <a:solidFill>
              <a:schemeClr val="bg2"/>
            </a:solidFill>
            <a:prstDash val="solid"/>
          </a:ln>
        </p:spPr>
        <p:txBody>
          <a:bodyPr/>
          <a:p/>
        </p:txBody>
      </p:sp>
      <p:sp>
        <p:nvSpPr>
          <p:cNvPr id="8" name="Text 5"/>
          <p:cNvSpPr txBox="1"/>
          <p:nvPr/>
        </p:nvSpPr>
        <p:spPr>
          <a:xfrm>
            <a:off x="3429000" y="1298448"/>
            <a:ext cx="2240280" cy="594360"/>
          </a:xfrm>
          <a:prstGeom prst="rect">
            <a:avLst/>
          </a:prstGeom>
          <a:noFill/>
          <a:ln/>
        </p:spPr>
        <p:txBody>
          <a:bodyPr wrap="square" lIns="0" tIns="0" rIns="0" bIns="0" rtlCol="0" anchor="t"/>
          <a:lstStyle/>
          <a:p>
            <a:pPr indent="0" marL="0">
              <a:buNone/>
            </a:pPr>
            <a:r>
              <a:rPr lang="en-US" sz="1600" b="1" dirty="0">
                <a:solidFill>
                  <a:schemeClr val="tx2"/>
                </a:solidFill>
              </a:rPr>
              <a:t>Documentos fuera de alcance</a:t>
            </a:r>
            <a:endParaRPr lang="en-US" sz="1600" dirty="0"/>
          </a:p>
        </p:txBody>
      </p:sp>
      <p:sp>
        <p:nvSpPr>
          <p:cNvPr id="9" name="Text 6"/>
          <p:cNvSpPr txBox="1"/>
          <p:nvPr/>
        </p:nvSpPr>
        <p:spPr>
          <a:xfrm>
            <a:off x="3429000" y="1965960"/>
            <a:ext cx="2240280" cy="1417320"/>
          </a:xfrm>
          <a:prstGeom prst="rect">
            <a:avLst/>
          </a:prstGeom>
          <a:noFill/>
          <a:ln/>
        </p:spPr>
        <p:txBody>
          <a:bodyPr wrap="square" lIns="0" tIns="0" rIns="0" bIns="0" rtlCol="0" anchor="t"/>
          <a:lstStyle/>
          <a:p>
            <a:pPr indent="0" marL="0">
              <a:buNone/>
            </a:pPr>
            <a:r>
              <a:rPr lang="en-US" sz="1500" dirty="0">
                <a:solidFill>
                  <a:schemeClr val="tx1"/>
                </a:solidFill>
              </a:rPr>
              <a:t>Estatutos, reglamentos y actas no están a mano.</a:t>
            </a:r>
            <a:endParaRPr lang="en-US" sz="1500" dirty="0"/>
          </a:p>
        </p:txBody>
      </p:sp>
      <p:sp>
        <p:nvSpPr>
          <p:cNvPr id="10" name="Tarjeta"/>
          <p:cNvSpPr/>
          <p:nvPr/>
        </p:nvSpPr>
        <p:spPr>
          <a:xfrm>
            <a:off x="6035040" y="1188720"/>
            <a:ext cx="2606040" cy="2286000"/>
          </a:xfrm>
          <a:prstGeom prst="roundRect">
            <a:avLst>
              <a:gd name="adj" fmla="val 4000"/>
            </a:avLst>
          </a:prstGeom>
          <a:solidFill>
            <a:schemeClr val="bg2"/>
          </a:solidFill>
          <a:ln w="12700">
            <a:solidFill>
              <a:schemeClr val="bg2"/>
            </a:solidFill>
            <a:prstDash val="solid"/>
          </a:ln>
        </p:spPr>
        <p:txBody>
          <a:bodyPr/>
          <a:p/>
        </p:txBody>
      </p:sp>
      <p:sp>
        <p:nvSpPr>
          <p:cNvPr id="11" name="Text 8"/>
          <p:cNvSpPr txBox="1"/>
          <p:nvPr/>
        </p:nvSpPr>
        <p:spPr>
          <a:xfrm>
            <a:off x="6217920" y="1298448"/>
            <a:ext cx="2240280" cy="594360"/>
          </a:xfrm>
          <a:prstGeom prst="rect">
            <a:avLst/>
          </a:prstGeom>
          <a:noFill/>
          <a:ln/>
        </p:spPr>
        <p:txBody>
          <a:bodyPr wrap="square" lIns="0" tIns="0" rIns="0" bIns="0" rtlCol="0" anchor="t"/>
          <a:lstStyle/>
          <a:p>
            <a:pPr indent="0" marL="0">
              <a:buNone/>
            </a:pPr>
            <a:r>
              <a:rPr lang="en-US" sz="1600" b="1" dirty="0">
                <a:solidFill>
                  <a:schemeClr val="tx2"/>
                </a:solidFill>
              </a:rPr>
              <a:t>Descuadres detectados tarde</a:t>
            </a:r>
            <a:endParaRPr lang="en-US" sz="1600" dirty="0"/>
          </a:p>
        </p:txBody>
      </p:sp>
      <p:sp>
        <p:nvSpPr>
          <p:cNvPr id="12" name="Text 9"/>
          <p:cNvSpPr txBox="1"/>
          <p:nvPr/>
        </p:nvSpPr>
        <p:spPr>
          <a:xfrm>
            <a:off x="6217920" y="1965960"/>
            <a:ext cx="2240280" cy="1417320"/>
          </a:xfrm>
          <a:prstGeom prst="rect">
            <a:avLst/>
          </a:prstGeom>
          <a:noFill/>
          <a:ln/>
        </p:spPr>
        <p:txBody>
          <a:bodyPr wrap="square" lIns="0" tIns="0" rIns="0" bIns="0" rtlCol="0" anchor="t"/>
          <a:lstStyle/>
          <a:p>
            <a:pPr indent="0" marL="0">
              <a:buNone/>
            </a:pPr>
            <a:r>
              <a:rPr lang="en-US" sz="1500" dirty="0">
                <a:solidFill>
                  <a:schemeClr val="tx1"/>
                </a:solidFill>
              </a:rPr>
              <a:t>Albaranes y facturas en papel: impagos y cobros pendientes se ven tarde o nunca.</a:t>
            </a:r>
            <a:endParaRPr lang="en-US" sz="1500" dirty="0"/>
          </a:p>
        </p:txBody>
      </p:sp>
      <p:sp>
        <p:nvSpPr>
          <p:cNvPr id="13" name="Shape 10"/>
          <p:cNvSpPr/>
          <p:nvPr/>
        </p:nvSpPr>
        <p:spPr>
          <a:xfrm>
            <a:off x="457200" y="3657600"/>
            <a:ext cx="8229600" cy="868680"/>
          </a:xfrm>
          <a:prstGeom prst="roundRect">
            <a:avLst>
              <a:gd name="adj" fmla="val 10526"/>
            </a:avLst>
          </a:prstGeom>
          <a:solidFill>
            <a:schemeClr val="accent1"/>
          </a:solidFill>
          <a:ln w="12700">
            <a:solidFill>
              <a:schemeClr val="accent1"/>
            </a:solidFill>
            <a:prstDash val="solid"/>
          </a:ln>
        </p:spPr>
        <p:txBody>
          <a:bodyPr/>
          <a:p/>
        </p:txBody>
      </p:sp>
      <p:sp>
        <p:nvSpPr>
          <p:cNvPr id="14" name="Text 11"/>
          <p:cNvSpPr txBox="1"/>
          <p:nvPr/>
        </p:nvSpPr>
        <p:spPr>
          <a:xfrm>
            <a:off x="685800" y="3657600"/>
            <a:ext cx="7772400" cy="868680"/>
          </a:xfrm>
          <a:prstGeom prst="rect">
            <a:avLst/>
          </a:prstGeom>
          <a:noFill/>
          <a:ln/>
        </p:spPr>
        <p:txBody>
          <a:bodyPr wrap="square" lIns="0" tIns="0" rIns="0" bIns="0" rtlCol="0" anchor="ctr"/>
          <a:lstStyle/>
          <a:p>
            <a:pPr indent="0" marL="0">
              <a:buNone/>
            </a:pPr>
            <a:r>
              <a:rPr lang="en-US" sz="1600" b="1" dirty="0">
                <a:solidFill>
                  <a:schemeClr val="bg1"/>
                </a:solidFill>
              </a:rPr>
              <a:t>Objetivo: conectar a cada cooperativa con sus socios y controlar albaranes y facturas con un asistente de IA que respeta los permisos</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La solución y sus cuatro perfiles</a:t>
            </a:r>
            <a:endParaRPr lang="en-US" sz="2800" dirty="0"/>
          </a:p>
        </p:txBody>
      </p:sp>
      <p:sp>
        <p:nvSpPr>
          <p:cNvPr id="4" name="Text 1"/>
          <p:cNvSpPr txBox="1"/>
          <p:nvPr/>
        </p:nvSpPr>
        <p:spPr>
          <a:xfrm>
            <a:off x="457200" y="1188720"/>
            <a:ext cx="3200400" cy="2011680"/>
          </a:xfrm>
          <a:prstGeom prst="rect">
            <a:avLst/>
          </a:prstGeom>
          <a:noFill/>
          <a:ln/>
        </p:spPr>
        <p:txBody>
          <a:bodyPr wrap="square" lIns="0" tIns="0" rIns="0" bIns="0" rtlCol="0" anchor="t"/>
          <a:lstStyle/>
          <a:p>
            <a:pPr indent="0" marL="0">
              <a:buNone/>
            </a:pPr>
            <a:r>
              <a:rPr lang="en-US" sz="1800" dirty="0">
                <a:solidFill>
                  <a:schemeClr val="tx1"/>
                </a:solidFill>
              </a:rPr>
              <a:t>Una app estándar para cualquier cooperativa; un usuario, varias cooperativas, datos aislados.</a:t>
            </a:r>
            <a:endParaRPr lang="en-US" sz="1800" dirty="0"/>
          </a:p>
        </p:txBody>
      </p:sp>
      <p:sp>
        <p:nvSpPr>
          <p:cNvPr id="5" name="Text 2"/>
          <p:cNvSpPr txBox="1"/>
          <p:nvPr/>
        </p:nvSpPr>
        <p:spPr>
          <a:xfrm>
            <a:off x="457200" y="3383280"/>
            <a:ext cx="3200400" cy="731520"/>
          </a:xfrm>
          <a:prstGeom prst="rect">
            <a:avLst/>
          </a:prstGeom>
          <a:noFill/>
          <a:ln/>
        </p:spPr>
        <p:txBody>
          <a:bodyPr wrap="square" lIns="0" tIns="0" rIns="0" bIns="0" rtlCol="0" anchor="t"/>
          <a:lstStyle/>
          <a:p>
            <a:pPr indent="0" marL="0">
              <a:buNone/>
            </a:pPr>
            <a:r>
              <a:rPr lang="en-US" sz="1600" b="1" i="1" dirty="0">
                <a:solidFill>
                  <a:schemeClr val="accent3"/>
                </a:solidFill>
              </a:rPr>
              <a:t>El backend decide; la app solo oculta.</a:t>
            </a:r>
            <a:endParaRPr lang="en-US" sz="1600" dirty="0"/>
          </a:p>
        </p:txBody>
      </p:sp>
      <p:sp>
        <p:nvSpPr>
          <p:cNvPr id="6" name="Tarjeta"/>
          <p:cNvSpPr/>
          <p:nvPr/>
        </p:nvSpPr>
        <p:spPr>
          <a:xfrm>
            <a:off x="3931920" y="1188720"/>
            <a:ext cx="2331720" cy="1417320"/>
          </a:xfrm>
          <a:prstGeom prst="roundRect">
            <a:avLst>
              <a:gd name="adj" fmla="val 6452"/>
            </a:avLst>
          </a:prstGeom>
          <a:solidFill>
            <a:schemeClr val="bg2"/>
          </a:solidFill>
          <a:ln w="12700">
            <a:solidFill>
              <a:schemeClr val="bg2"/>
            </a:solidFill>
            <a:prstDash val="solid"/>
          </a:ln>
        </p:spPr>
        <p:txBody>
          <a:bodyPr/>
          <a:p/>
        </p:txBody>
      </p:sp>
      <p:sp>
        <p:nvSpPr>
          <p:cNvPr id="7" name="Text 4"/>
          <p:cNvSpPr txBox="1"/>
          <p:nvPr/>
        </p:nvSpPr>
        <p:spPr>
          <a:xfrm>
            <a:off x="4114800" y="1298448"/>
            <a:ext cx="1965960" cy="365760"/>
          </a:xfrm>
          <a:prstGeom prst="rect">
            <a:avLst/>
          </a:prstGeom>
          <a:noFill/>
          <a:ln/>
        </p:spPr>
        <p:txBody>
          <a:bodyPr wrap="square" lIns="0" tIns="0" rIns="0" bIns="0" rtlCol="0" anchor="t"/>
          <a:lstStyle/>
          <a:p>
            <a:pPr indent="0" marL="0">
              <a:buNone/>
            </a:pPr>
            <a:r>
              <a:rPr lang="en-US" sz="1700" b="1" dirty="0">
                <a:solidFill>
                  <a:schemeClr val="tx2"/>
                </a:solidFill>
              </a:rPr>
              <a:t>Socio</a:t>
            </a:r>
            <a:endParaRPr lang="en-US" sz="1700" dirty="0"/>
          </a:p>
        </p:txBody>
      </p:sp>
      <p:sp>
        <p:nvSpPr>
          <p:cNvPr id="8" name="Text 5"/>
          <p:cNvSpPr txBox="1"/>
          <p:nvPr/>
        </p:nvSpPr>
        <p:spPr>
          <a:xfrm>
            <a:off x="4114800" y="1737360"/>
            <a:ext cx="1965960" cy="777240"/>
          </a:xfrm>
          <a:prstGeom prst="rect">
            <a:avLst/>
          </a:prstGeom>
          <a:noFill/>
          <a:ln/>
        </p:spPr>
        <p:txBody>
          <a:bodyPr wrap="square" lIns="0" tIns="0" rIns="0" bIns="0" rtlCol="0" anchor="t"/>
          <a:lstStyle/>
          <a:p>
            <a:pPr indent="0" marL="0">
              <a:buNone/>
            </a:pPr>
            <a:r>
              <a:rPr lang="en-US" sz="1400" dirty="0">
                <a:solidFill>
                  <a:schemeClr val="tx1"/>
                </a:solidFill>
              </a:rPr>
              <a:t>Informarse, votar y leer documentos</a:t>
            </a:r>
            <a:endParaRPr lang="en-US" sz="1400" dirty="0"/>
          </a:p>
        </p:txBody>
      </p:sp>
      <p:sp>
        <p:nvSpPr>
          <p:cNvPr id="9" name="Tarjeta"/>
          <p:cNvSpPr/>
          <p:nvPr/>
        </p:nvSpPr>
        <p:spPr>
          <a:xfrm>
            <a:off x="6400800" y="1188720"/>
            <a:ext cx="2331720" cy="1417320"/>
          </a:xfrm>
          <a:prstGeom prst="roundRect">
            <a:avLst>
              <a:gd name="adj" fmla="val 6452"/>
            </a:avLst>
          </a:prstGeom>
          <a:solidFill>
            <a:schemeClr val="bg2"/>
          </a:solidFill>
          <a:ln w="12700">
            <a:solidFill>
              <a:schemeClr val="bg2"/>
            </a:solidFill>
            <a:prstDash val="solid"/>
          </a:ln>
        </p:spPr>
        <p:txBody>
          <a:bodyPr/>
          <a:p/>
        </p:txBody>
      </p:sp>
      <p:sp>
        <p:nvSpPr>
          <p:cNvPr id="10" name="Text 7"/>
          <p:cNvSpPr txBox="1"/>
          <p:nvPr/>
        </p:nvSpPr>
        <p:spPr>
          <a:xfrm>
            <a:off x="6583680" y="1298448"/>
            <a:ext cx="1965960" cy="365760"/>
          </a:xfrm>
          <a:prstGeom prst="rect">
            <a:avLst/>
          </a:prstGeom>
          <a:noFill/>
          <a:ln/>
        </p:spPr>
        <p:txBody>
          <a:bodyPr wrap="square" lIns="0" tIns="0" rIns="0" bIns="0" rtlCol="0" anchor="t"/>
          <a:lstStyle/>
          <a:p>
            <a:pPr indent="0" marL="0">
              <a:buNone/>
            </a:pPr>
            <a:r>
              <a:rPr lang="en-US" sz="1700" b="1" dirty="0">
                <a:solidFill>
                  <a:schemeClr val="tx2"/>
                </a:solidFill>
              </a:rPr>
              <a:t>Consejo rector</a:t>
            </a:r>
            <a:endParaRPr lang="en-US" sz="1700" dirty="0"/>
          </a:p>
        </p:txBody>
      </p:sp>
      <p:sp>
        <p:nvSpPr>
          <p:cNvPr id="11" name="Text 8"/>
          <p:cNvSpPr txBox="1"/>
          <p:nvPr/>
        </p:nvSpPr>
        <p:spPr>
          <a:xfrm>
            <a:off x="6583680" y="1737360"/>
            <a:ext cx="1965960" cy="777240"/>
          </a:xfrm>
          <a:prstGeom prst="rect">
            <a:avLst/>
          </a:prstGeom>
          <a:noFill/>
          <a:ln/>
        </p:spPr>
        <p:txBody>
          <a:bodyPr wrap="square" lIns="0" tIns="0" rIns="0" bIns="0" rtlCol="0" anchor="t"/>
          <a:lstStyle/>
          <a:p>
            <a:pPr indent="0" marL="0">
              <a:buNone/>
            </a:pPr>
            <a:r>
              <a:rPr lang="en-US" sz="1400" dirty="0">
                <a:solidFill>
                  <a:schemeClr val="tx1"/>
                </a:solidFill>
              </a:rPr>
              <a:t>Comunicados, asambleas, vigilar pagos y cobros</a:t>
            </a:r>
            <a:endParaRPr lang="en-US" sz="1400" dirty="0"/>
          </a:p>
        </p:txBody>
      </p:sp>
      <p:sp>
        <p:nvSpPr>
          <p:cNvPr id="12" name="Tarjeta"/>
          <p:cNvSpPr/>
          <p:nvPr/>
        </p:nvSpPr>
        <p:spPr>
          <a:xfrm>
            <a:off x="3931920" y="2743200"/>
            <a:ext cx="2331720" cy="1417320"/>
          </a:xfrm>
          <a:prstGeom prst="roundRect">
            <a:avLst>
              <a:gd name="adj" fmla="val 6452"/>
            </a:avLst>
          </a:prstGeom>
          <a:solidFill>
            <a:schemeClr val="bg2"/>
          </a:solidFill>
          <a:ln w="12700">
            <a:solidFill>
              <a:schemeClr val="bg2"/>
            </a:solidFill>
            <a:prstDash val="solid"/>
          </a:ln>
        </p:spPr>
        <p:txBody>
          <a:bodyPr/>
          <a:p/>
        </p:txBody>
      </p:sp>
      <p:sp>
        <p:nvSpPr>
          <p:cNvPr id="13" name="Text 10"/>
          <p:cNvSpPr txBox="1"/>
          <p:nvPr/>
        </p:nvSpPr>
        <p:spPr>
          <a:xfrm>
            <a:off x="4114800" y="2852928"/>
            <a:ext cx="1965960" cy="365760"/>
          </a:xfrm>
          <a:prstGeom prst="rect">
            <a:avLst/>
          </a:prstGeom>
          <a:noFill/>
          <a:ln/>
        </p:spPr>
        <p:txBody>
          <a:bodyPr wrap="square" lIns="0" tIns="0" rIns="0" bIns="0" rtlCol="0" anchor="t"/>
          <a:lstStyle/>
          <a:p>
            <a:pPr indent="0" marL="0">
              <a:buNone/>
            </a:pPr>
            <a:r>
              <a:rPr lang="en-US" sz="1700" b="1" dirty="0">
                <a:solidFill>
                  <a:schemeClr val="tx2"/>
                </a:solidFill>
              </a:rPr>
              <a:t>Gestor</a:t>
            </a:r>
            <a:endParaRPr lang="en-US" sz="1700" dirty="0"/>
          </a:p>
        </p:txBody>
      </p:sp>
      <p:sp>
        <p:nvSpPr>
          <p:cNvPr id="14" name="Text 11"/>
          <p:cNvSpPr txBox="1"/>
          <p:nvPr/>
        </p:nvSpPr>
        <p:spPr>
          <a:xfrm>
            <a:off x="4114800" y="3291840"/>
            <a:ext cx="1965960" cy="777240"/>
          </a:xfrm>
          <a:prstGeom prst="rect">
            <a:avLst/>
          </a:prstGeom>
          <a:noFill/>
          <a:ln/>
        </p:spPr>
        <p:txBody>
          <a:bodyPr wrap="square" lIns="0" tIns="0" rIns="0" bIns="0" rtlCol="0" anchor="t"/>
          <a:lstStyle/>
          <a:p>
            <a:pPr indent="0" marL="0">
              <a:buNone/>
            </a:pPr>
            <a:r>
              <a:rPr lang="en-US" sz="1400" dirty="0">
                <a:solidFill>
                  <a:schemeClr val="tx1"/>
                </a:solidFill>
              </a:rPr>
              <a:t>Registrar y conciliar albaranes y facturas</a:t>
            </a:r>
            <a:endParaRPr lang="en-US" sz="1400" dirty="0"/>
          </a:p>
        </p:txBody>
      </p:sp>
      <p:sp>
        <p:nvSpPr>
          <p:cNvPr id="15" name="Tarjeta"/>
          <p:cNvSpPr/>
          <p:nvPr/>
        </p:nvSpPr>
        <p:spPr>
          <a:xfrm>
            <a:off x="6400800" y="2743200"/>
            <a:ext cx="2331720" cy="1417320"/>
          </a:xfrm>
          <a:prstGeom prst="roundRect">
            <a:avLst>
              <a:gd name="adj" fmla="val 6452"/>
            </a:avLst>
          </a:prstGeom>
          <a:solidFill>
            <a:schemeClr val="bg2"/>
          </a:solidFill>
          <a:ln w="12700">
            <a:solidFill>
              <a:schemeClr val="bg2"/>
            </a:solidFill>
            <a:prstDash val="solid"/>
          </a:ln>
        </p:spPr>
        <p:txBody>
          <a:bodyPr/>
          <a:p/>
        </p:txBody>
      </p:sp>
      <p:sp>
        <p:nvSpPr>
          <p:cNvPr id="16" name="Text 13"/>
          <p:cNvSpPr txBox="1"/>
          <p:nvPr/>
        </p:nvSpPr>
        <p:spPr>
          <a:xfrm>
            <a:off x="6583680" y="2852928"/>
            <a:ext cx="1965960" cy="365760"/>
          </a:xfrm>
          <a:prstGeom prst="rect">
            <a:avLst/>
          </a:prstGeom>
          <a:noFill/>
          <a:ln/>
        </p:spPr>
        <p:txBody>
          <a:bodyPr wrap="square" lIns="0" tIns="0" rIns="0" bIns="0" rtlCol="0" anchor="t"/>
          <a:lstStyle/>
          <a:p>
            <a:pPr indent="0" marL="0">
              <a:buNone/>
            </a:pPr>
            <a:r>
              <a:rPr lang="en-US" sz="1700" b="1" dirty="0">
                <a:solidFill>
                  <a:schemeClr val="tx2"/>
                </a:solidFill>
              </a:rPr>
              <a:t>Administrador</a:t>
            </a:r>
            <a:endParaRPr lang="en-US" sz="1700" dirty="0"/>
          </a:p>
        </p:txBody>
      </p:sp>
      <p:sp>
        <p:nvSpPr>
          <p:cNvPr id="17" name="Text 14"/>
          <p:cNvSpPr txBox="1"/>
          <p:nvPr/>
        </p:nvSpPr>
        <p:spPr>
          <a:xfrm>
            <a:off x="6583680" y="3291840"/>
            <a:ext cx="1965960" cy="777240"/>
          </a:xfrm>
          <a:prstGeom prst="rect">
            <a:avLst/>
          </a:prstGeom>
          <a:noFill/>
          <a:ln/>
        </p:spPr>
        <p:txBody>
          <a:bodyPr wrap="square" lIns="0" tIns="0" rIns="0" bIns="0" rtlCol="0" anchor="t"/>
          <a:lstStyle/>
          <a:p>
            <a:pPr indent="0" marL="0">
              <a:buNone/>
            </a:pPr>
            <a:r>
              <a:rPr lang="en-US" sz="1400" dirty="0">
                <a:solidFill>
                  <a:schemeClr val="tx1"/>
                </a:solidFill>
              </a:rPr>
              <a:t>Dar acceso y asignar perfiles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Módulos del MVP: hecho y pendiente</a:t>
            </a:r>
            <a:endParaRPr lang="en-US" sz="2800" dirty="0"/>
          </a:p>
        </p:txBody>
      </p:sp>
      <p:sp>
        <p:nvSpPr>
          <p:cNvPr id="4" name="Tarjeta"/>
          <p:cNvSpPr/>
          <p:nvPr/>
        </p:nvSpPr>
        <p:spPr>
          <a:xfrm>
            <a:off x="457200" y="1188720"/>
            <a:ext cx="4754880" cy="3383280"/>
          </a:xfrm>
          <a:prstGeom prst="roundRect">
            <a:avLst>
              <a:gd name="adj" fmla="val 2703"/>
            </a:avLst>
          </a:prstGeom>
          <a:solidFill>
            <a:schemeClr val="accent1"/>
          </a:solidFill>
          <a:ln w="12700">
            <a:solidFill>
              <a:schemeClr val="accent1"/>
            </a:solidFill>
            <a:prstDash val="solid"/>
          </a:ln>
        </p:spPr>
        <p:txBody>
          <a:bodyPr/>
          <a:p/>
        </p:txBody>
      </p:sp>
      <p:sp>
        <p:nvSpPr>
          <p:cNvPr id="5" name="Text 2"/>
          <p:cNvSpPr txBox="1"/>
          <p:nvPr/>
        </p:nvSpPr>
        <p:spPr>
          <a:xfrm>
            <a:off x="640080" y="1298448"/>
            <a:ext cx="4389120" cy="365760"/>
          </a:xfrm>
          <a:prstGeom prst="rect">
            <a:avLst/>
          </a:prstGeom>
          <a:noFill/>
          <a:ln/>
        </p:spPr>
        <p:txBody>
          <a:bodyPr wrap="square" lIns="0" tIns="0" rIns="0" bIns="0" rtlCol="0" anchor="t"/>
          <a:lstStyle/>
          <a:p>
            <a:pPr indent="0" marL="0">
              <a:buNone/>
            </a:pPr>
            <a:r>
              <a:rPr lang="en-US" sz="1800" b="1" dirty="0">
                <a:solidFill>
                  <a:schemeClr val="bg1"/>
                </a:solidFill>
              </a:rPr>
              <a:t>Implementado</a:t>
            </a:r>
            <a:endParaRPr lang="en-US" sz="1800" dirty="0"/>
          </a:p>
        </p:txBody>
      </p:sp>
      <p:sp>
        <p:nvSpPr>
          <p:cNvPr id="6" name="Text 3"/>
          <p:cNvSpPr txBox="1"/>
          <p:nvPr/>
        </p:nvSpPr>
        <p:spPr>
          <a:xfrm>
            <a:off x="685800" y="1783080"/>
            <a:ext cx="4297680" cy="265176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chemeClr val="bg1"/>
                </a:solidFill>
              </a:rPr>
              <a:t>Acceso y perfiles</a:t>
            </a:r>
            <a:endParaRPr lang="en-US" sz="1600" dirty="0"/>
          </a:p>
          <a:p>
            <a:pPr marL="342900" indent="-342900">
              <a:spcAft>
                <a:spcPts val="700"/>
              </a:spcAft>
              <a:buSzPct val="100000"/>
              <a:buChar char="•"/>
            </a:pPr>
            <a:r>
              <a:rPr lang="en-US" sz="1600" dirty="0">
                <a:solidFill>
                  <a:schemeClr val="bg1"/>
                </a:solidFill>
              </a:rPr>
              <a:t>Comunicados</a:t>
            </a:r>
            <a:endParaRPr lang="en-US" sz="1600" dirty="0"/>
          </a:p>
          <a:p>
            <a:pPr marL="342900" indent="-342900">
              <a:spcAft>
                <a:spcPts val="700"/>
              </a:spcAft>
              <a:buSzPct val="100000"/>
              <a:buChar char="•"/>
            </a:pPr>
            <a:r>
              <a:rPr lang="en-US" sz="1600" dirty="0">
                <a:solidFill>
                  <a:schemeClr val="bg1"/>
                </a:solidFill>
              </a:rPr>
              <a:t>Documentos y búsqueda semántica</a:t>
            </a:r>
            <a:endParaRPr lang="en-US" sz="1600" dirty="0"/>
          </a:p>
          <a:p>
            <a:pPr marL="342900" indent="-342900">
              <a:spcAft>
                <a:spcPts val="700"/>
              </a:spcAft>
              <a:buSzPct val="100000"/>
              <a:buChar char="•"/>
            </a:pPr>
            <a:r>
              <a:rPr lang="en-US" sz="1600" dirty="0">
                <a:solidFill>
                  <a:schemeClr val="bg1"/>
                </a:solidFill>
              </a:rPr>
              <a:t>Asambleas y votación</a:t>
            </a:r>
            <a:endParaRPr lang="en-US" sz="1600" dirty="0"/>
          </a:p>
          <a:p>
            <a:pPr marL="342900" indent="-342900">
              <a:spcAft>
                <a:spcPts val="700"/>
              </a:spcAft>
              <a:buSzPct val="100000"/>
              <a:buChar char="•"/>
            </a:pPr>
            <a:r>
              <a:rPr lang="en-US" sz="1600" dirty="0">
                <a:solidFill>
                  <a:schemeClr val="bg1"/>
                </a:solidFill>
              </a:rPr>
              <a:t>Facturas y albaranes con IA</a:t>
            </a:r>
            <a:endParaRPr lang="en-US" sz="1600" dirty="0"/>
          </a:p>
          <a:p>
            <a:pPr marL="342900" indent="-342900">
              <a:spcAft>
                <a:spcPts val="700"/>
              </a:spcAft>
              <a:buSzPct val="100000"/>
              <a:buChar char="•"/>
            </a:pPr>
            <a:r>
              <a:rPr lang="en-US" sz="1600" dirty="0">
                <a:solidFill>
                  <a:schemeClr val="bg1"/>
                </a:solidFill>
              </a:rPr>
              <a:t>Asistente de IA con citas</a:t>
            </a:r>
            <a:endParaRPr lang="en-US" sz="1600" dirty="0"/>
          </a:p>
        </p:txBody>
      </p:sp>
      <p:sp>
        <p:nvSpPr>
          <p:cNvPr id="7" name="Tarjeta"/>
          <p:cNvSpPr/>
          <p:nvPr/>
        </p:nvSpPr>
        <p:spPr>
          <a:xfrm>
            <a:off x="5394960" y="1188720"/>
            <a:ext cx="3291840" cy="3383280"/>
          </a:xfrm>
          <a:prstGeom prst="roundRect">
            <a:avLst>
              <a:gd name="adj" fmla="val 2778"/>
            </a:avLst>
          </a:prstGeom>
          <a:solidFill>
            <a:schemeClr val="accent4"/>
          </a:solidFill>
          <a:ln w="12700">
            <a:solidFill>
              <a:schemeClr val="accent4"/>
            </a:solidFill>
            <a:prstDash val="solid"/>
          </a:ln>
        </p:spPr>
        <p:txBody>
          <a:bodyPr/>
          <a:p/>
        </p:txBody>
      </p:sp>
      <p:sp>
        <p:nvSpPr>
          <p:cNvPr id="8" name="Text 5"/>
          <p:cNvSpPr txBox="1"/>
          <p:nvPr/>
        </p:nvSpPr>
        <p:spPr>
          <a:xfrm>
            <a:off x="5577840" y="1298448"/>
            <a:ext cx="2926080" cy="365760"/>
          </a:xfrm>
          <a:prstGeom prst="rect">
            <a:avLst/>
          </a:prstGeom>
          <a:noFill/>
          <a:ln/>
        </p:spPr>
        <p:txBody>
          <a:bodyPr wrap="square" lIns="0" tIns="0" rIns="0" bIns="0" rtlCol="0" anchor="t"/>
          <a:lstStyle/>
          <a:p>
            <a:pPr indent="0" marL="0">
              <a:buNone/>
            </a:pPr>
            <a:r>
              <a:rPr lang="en-US" sz="1800" b="1" dirty="0">
                <a:solidFill>
                  <a:schemeClr val="tx2"/>
                </a:solidFill>
              </a:rPr>
              <a:t>Trabajo futuro</a:t>
            </a:r>
            <a:endParaRPr lang="en-US" sz="1800" dirty="0"/>
          </a:p>
        </p:txBody>
      </p:sp>
      <p:sp>
        <p:nvSpPr>
          <p:cNvPr id="9" name="Text 6"/>
          <p:cNvSpPr txBox="1"/>
          <p:nvPr/>
        </p:nvSpPr>
        <p:spPr>
          <a:xfrm>
            <a:off x="5623560" y="1783080"/>
            <a:ext cx="2926080" cy="265176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chemeClr val="tx1"/>
                </a:solidFill>
              </a:rPr>
              <a:t>Área del socio</a:t>
            </a:r>
            <a:endParaRPr lang="en-US" sz="1600" dirty="0"/>
          </a:p>
          <a:p>
            <a:pPr marL="342900" indent="-342900">
              <a:spcAft>
                <a:spcPts val="700"/>
              </a:spcAft>
              <a:buSzPct val="100000"/>
              <a:buChar char="•"/>
            </a:pPr>
            <a:r>
              <a:rPr lang="en-US" sz="1600" dirty="0">
                <a:solidFill>
                  <a:schemeClr val="tx1"/>
                </a:solidFill>
              </a:rPr>
              <a:t>Notificaciones push</a:t>
            </a:r>
            <a:endParaRPr lang="en-US" sz="1600" dirty="0"/>
          </a:p>
          <a:p>
            <a:pPr marL="342900" indent="-342900">
              <a:spcAft>
                <a:spcPts val="700"/>
              </a:spcAft>
              <a:buSzPct val="100000"/>
              <a:buChar char="•"/>
            </a:pPr>
            <a:r>
              <a:rPr lang="en-US" sz="1600" dirty="0">
                <a:solidFill>
                  <a:schemeClr val="tx1"/>
                </a:solidFill>
              </a:rPr>
              <a:t>Sentry</a:t>
            </a:r>
            <a:endParaRPr lang="en-US" sz="1600" dirty="0"/>
          </a:p>
          <a:p>
            <a:pPr marL="342900" indent="-342900">
              <a:spcAft>
                <a:spcPts val="700"/>
              </a:spcAft>
              <a:buSzPct val="100000"/>
              <a:buChar char="•"/>
            </a:pPr>
            <a:r>
              <a:rPr lang="en-US" sz="1600" dirty="0">
                <a:solidFill>
                  <a:schemeClr val="tx1"/>
                </a:solidFill>
              </a:rPr>
              <a:t>E2E con Maestro</a:t>
            </a:r>
            <a:endParaRPr lang="en-US" sz="1600" dirty="0"/>
          </a:p>
          <a:p>
            <a:pPr marL="342900" indent="-342900">
              <a:spcAft>
                <a:spcPts val="700"/>
              </a:spcAft>
              <a:buSzPct val="100000"/>
              <a:buChar char="•"/>
            </a:pPr>
            <a:r>
              <a:rPr lang="en-US" sz="1600" dirty="0">
                <a:solidFill>
                  <a:schemeClr val="tx1"/>
                </a:solidFill>
              </a:rPr>
              <a:t>Reclamaciones de facturas</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Arquitectura: monolito modular</a:t>
            </a:r>
            <a:endParaRPr lang="en-US" sz="2800" dirty="0"/>
          </a:p>
        </p:txBody>
      </p:sp>
      <p:sp>
        <p:nvSpPr>
          <p:cNvPr id="4" name="Nodo"/>
          <p:cNvSpPr/>
          <p:nvPr/>
        </p:nvSpPr>
        <p:spPr>
          <a:xfrm>
            <a:off x="457200" y="2011680"/>
            <a:ext cx="1737360" cy="1005840"/>
          </a:xfrm>
          <a:prstGeom prst="roundRect">
            <a:avLst>
              <a:gd name="adj" fmla="val 7273"/>
            </a:avLst>
          </a:prstGeom>
          <a:solidFill>
            <a:schemeClr val="accent3"/>
          </a:solidFill>
          <a:ln w="12700">
            <a:solidFill>
              <a:schemeClr val="accent3"/>
            </a:solidFill>
            <a:prstDash val="solid"/>
          </a:ln>
        </p:spPr>
        <p:txBody>
          <a:bodyPr/>
          <a:p/>
        </p:txBody>
      </p:sp>
      <p:sp>
        <p:nvSpPr>
          <p:cNvPr id="5" name="Text 2"/>
          <p:cNvSpPr txBox="1"/>
          <p:nvPr/>
        </p:nvSpPr>
        <p:spPr>
          <a:xfrm>
            <a:off x="457200" y="2011680"/>
            <a:ext cx="1737360" cy="1005840"/>
          </a:xfrm>
          <a:prstGeom prst="rect">
            <a:avLst/>
          </a:prstGeom>
          <a:noFill/>
          <a:ln/>
        </p:spPr>
        <p:txBody>
          <a:bodyPr wrap="square" lIns="508" tIns="508" rIns="508" bIns="508" rtlCol="0" anchor="ctr"/>
          <a:lstStyle/>
          <a:p>
            <a:pPr algn="ctr" indent="0" marL="0">
              <a:buNone/>
            </a:pPr>
            <a:r>
              <a:rPr lang="en-US" sz="1300" b="1" dirty="0">
                <a:solidFill>
                  <a:schemeClr val="bg1"/>
                </a:solidFill>
              </a:rPr>
              <a:t>App Expo</a:t>
            </a:r>
            <a:endParaRPr lang="en-US" sz="1300" dirty="0"/>
          </a:p>
          <a:p>
            <a:pPr algn="ctr" indent="0" marL="0">
              <a:buNone/>
            </a:pPr>
            <a:r>
              <a:rPr lang="en-US" sz="1300" b="1" dirty="0">
                <a:solidFill>
                  <a:schemeClr val="bg1"/>
                </a:solidFill>
              </a:rPr>
              <a:t>iOS · Android · web</a:t>
            </a:r>
            <a:endParaRPr lang="en-US" sz="1300" dirty="0"/>
          </a:p>
        </p:txBody>
      </p:sp>
      <p:sp>
        <p:nvSpPr>
          <p:cNvPr id="6" name="Shape 3"/>
          <p:cNvSpPr/>
          <p:nvPr/>
        </p:nvSpPr>
        <p:spPr>
          <a:xfrm>
            <a:off x="2194560" y="2514600"/>
            <a:ext cx="548640" cy="0"/>
          </a:xfrm>
          <a:prstGeom prst="line">
            <a:avLst/>
          </a:prstGeom>
          <a:noFill/>
          <a:ln w="22225">
            <a:solidFill>
              <a:schemeClr val="accent6"/>
            </a:solidFill>
            <a:prstDash val="solid"/>
            <a:tailEnd type="triangle"/>
          </a:ln>
        </p:spPr>
        <p:txBody>
          <a:bodyPr/>
          <a:p/>
        </p:txBody>
      </p:sp>
      <p:sp>
        <p:nvSpPr>
          <p:cNvPr id="7" name="Backend"/>
          <p:cNvSpPr/>
          <p:nvPr/>
        </p:nvSpPr>
        <p:spPr>
          <a:xfrm>
            <a:off x="2743200" y="1143000"/>
            <a:ext cx="3291840" cy="2834640"/>
          </a:xfrm>
          <a:prstGeom prst="roundRect">
            <a:avLst>
              <a:gd name="adj" fmla="val 3226"/>
            </a:avLst>
          </a:prstGeom>
          <a:solidFill>
            <a:schemeClr val="bg2"/>
          </a:solidFill>
          <a:ln w="19050">
            <a:solidFill>
              <a:schemeClr val="accent1"/>
            </a:solidFill>
            <a:prstDash val="solid"/>
          </a:ln>
        </p:spPr>
        <p:txBody>
          <a:bodyPr/>
          <a:p/>
        </p:txBody>
      </p:sp>
      <p:sp>
        <p:nvSpPr>
          <p:cNvPr id="8" name="Text 5"/>
          <p:cNvSpPr txBox="1"/>
          <p:nvPr/>
        </p:nvSpPr>
        <p:spPr>
          <a:xfrm>
            <a:off x="2743200" y="1188720"/>
            <a:ext cx="3291840" cy="320040"/>
          </a:xfrm>
          <a:prstGeom prst="rect">
            <a:avLst/>
          </a:prstGeom>
          <a:noFill/>
          <a:ln/>
        </p:spPr>
        <p:txBody>
          <a:bodyPr wrap="square" lIns="0" tIns="0" rIns="0" bIns="0" rtlCol="0" anchor="ctr"/>
          <a:lstStyle/>
          <a:p>
            <a:pPr algn="ctr" indent="0" marL="0">
              <a:buNone/>
            </a:pPr>
            <a:r>
              <a:rPr lang="en-US" sz="1300" b="1" dirty="0">
                <a:solidFill>
                  <a:schemeClr val="tx2"/>
                </a:solidFill>
              </a:rPr>
              <a:t>API · monolito modular</a:t>
            </a:r>
            <a:endParaRPr lang="en-US" sz="1300" dirty="0"/>
          </a:p>
        </p:txBody>
      </p:sp>
      <p:sp>
        <p:nvSpPr>
          <p:cNvPr id="9" name="Nodo"/>
          <p:cNvSpPr/>
          <p:nvPr/>
        </p:nvSpPr>
        <p:spPr>
          <a:xfrm>
            <a:off x="2926080" y="1600200"/>
            <a:ext cx="1371600" cy="548640"/>
          </a:xfrm>
          <a:prstGeom prst="roundRect">
            <a:avLst>
              <a:gd name="adj" fmla="val 13333"/>
            </a:avLst>
          </a:prstGeom>
          <a:solidFill>
            <a:schemeClr val="accent1"/>
          </a:solidFill>
          <a:ln w="12700">
            <a:solidFill>
              <a:schemeClr val="accent1"/>
            </a:solidFill>
            <a:prstDash val="solid"/>
          </a:ln>
        </p:spPr>
        <p:txBody>
          <a:bodyPr/>
          <a:p/>
        </p:txBody>
      </p:sp>
      <p:sp>
        <p:nvSpPr>
          <p:cNvPr id="10" name="Text 7"/>
          <p:cNvSpPr txBox="1"/>
          <p:nvPr/>
        </p:nvSpPr>
        <p:spPr>
          <a:xfrm>
            <a:off x="2926080" y="1600200"/>
            <a:ext cx="1371600" cy="548640"/>
          </a:xfrm>
          <a:prstGeom prst="rect">
            <a:avLst/>
          </a:prstGeom>
          <a:noFill/>
          <a:ln/>
        </p:spPr>
        <p:txBody>
          <a:bodyPr wrap="square" lIns="508" tIns="508" rIns="508" bIns="508" rtlCol="0" anchor="ctr"/>
          <a:lstStyle/>
          <a:p>
            <a:pPr algn="ctr" indent="0" marL="0">
              <a:buNone/>
            </a:pPr>
            <a:r>
              <a:rPr lang="en-US" sz="1200" b="1" dirty="0">
                <a:solidFill>
                  <a:schemeClr val="bg1"/>
                </a:solidFill>
              </a:rPr>
              <a:t>Acceso</a:t>
            </a:r>
            <a:endParaRPr lang="en-US" sz="1200" dirty="0"/>
          </a:p>
        </p:txBody>
      </p:sp>
      <p:sp>
        <p:nvSpPr>
          <p:cNvPr id="11" name="Nodo"/>
          <p:cNvSpPr/>
          <p:nvPr/>
        </p:nvSpPr>
        <p:spPr>
          <a:xfrm>
            <a:off x="4480560" y="1600200"/>
            <a:ext cx="1371600" cy="548640"/>
          </a:xfrm>
          <a:prstGeom prst="roundRect">
            <a:avLst>
              <a:gd name="adj" fmla="val 13333"/>
            </a:avLst>
          </a:prstGeom>
          <a:solidFill>
            <a:schemeClr val="accent1"/>
          </a:solidFill>
          <a:ln w="12700">
            <a:solidFill>
              <a:schemeClr val="accent1"/>
            </a:solidFill>
            <a:prstDash val="solid"/>
          </a:ln>
        </p:spPr>
        <p:txBody>
          <a:bodyPr/>
          <a:p/>
        </p:txBody>
      </p:sp>
      <p:sp>
        <p:nvSpPr>
          <p:cNvPr id="12" name="Text 9"/>
          <p:cNvSpPr txBox="1"/>
          <p:nvPr/>
        </p:nvSpPr>
        <p:spPr>
          <a:xfrm>
            <a:off x="4480560" y="1600200"/>
            <a:ext cx="1371600" cy="548640"/>
          </a:xfrm>
          <a:prstGeom prst="rect">
            <a:avLst/>
          </a:prstGeom>
          <a:noFill/>
          <a:ln/>
        </p:spPr>
        <p:txBody>
          <a:bodyPr wrap="square" lIns="508" tIns="508" rIns="508" bIns="508" rtlCol="0" anchor="ctr"/>
          <a:lstStyle/>
          <a:p>
            <a:pPr algn="ctr" indent="0" marL="0">
              <a:buNone/>
            </a:pPr>
            <a:r>
              <a:rPr lang="en-US" sz="1200" b="1" dirty="0">
                <a:solidFill>
                  <a:schemeClr val="bg1"/>
                </a:solidFill>
              </a:rPr>
              <a:t>Comunicados</a:t>
            </a:r>
            <a:endParaRPr lang="en-US" sz="1200" dirty="0"/>
          </a:p>
        </p:txBody>
      </p:sp>
      <p:sp>
        <p:nvSpPr>
          <p:cNvPr id="13" name="Nodo"/>
          <p:cNvSpPr/>
          <p:nvPr/>
        </p:nvSpPr>
        <p:spPr>
          <a:xfrm>
            <a:off x="2926080" y="2286000"/>
            <a:ext cx="1371600" cy="548640"/>
          </a:xfrm>
          <a:prstGeom prst="roundRect">
            <a:avLst>
              <a:gd name="adj" fmla="val 13333"/>
            </a:avLst>
          </a:prstGeom>
          <a:solidFill>
            <a:schemeClr val="accent1"/>
          </a:solidFill>
          <a:ln w="12700">
            <a:solidFill>
              <a:schemeClr val="accent1"/>
            </a:solidFill>
            <a:prstDash val="solid"/>
          </a:ln>
        </p:spPr>
        <p:txBody>
          <a:bodyPr/>
          <a:p/>
        </p:txBody>
      </p:sp>
      <p:sp>
        <p:nvSpPr>
          <p:cNvPr id="14" name="Text 11"/>
          <p:cNvSpPr txBox="1"/>
          <p:nvPr/>
        </p:nvSpPr>
        <p:spPr>
          <a:xfrm>
            <a:off x="2926080" y="2286000"/>
            <a:ext cx="1371600" cy="548640"/>
          </a:xfrm>
          <a:prstGeom prst="rect">
            <a:avLst/>
          </a:prstGeom>
          <a:noFill/>
          <a:ln/>
        </p:spPr>
        <p:txBody>
          <a:bodyPr wrap="square" lIns="508" tIns="508" rIns="508" bIns="508" rtlCol="0" anchor="ctr"/>
          <a:lstStyle/>
          <a:p>
            <a:pPr algn="ctr" indent="0" marL="0">
              <a:buNone/>
            </a:pPr>
            <a:r>
              <a:rPr lang="en-US" sz="1200" b="1" dirty="0">
                <a:solidFill>
                  <a:schemeClr val="bg1"/>
                </a:solidFill>
              </a:rPr>
              <a:t>Documentos</a:t>
            </a:r>
            <a:endParaRPr lang="en-US" sz="1200" dirty="0"/>
          </a:p>
        </p:txBody>
      </p:sp>
      <p:sp>
        <p:nvSpPr>
          <p:cNvPr id="15" name="Nodo"/>
          <p:cNvSpPr/>
          <p:nvPr/>
        </p:nvSpPr>
        <p:spPr>
          <a:xfrm>
            <a:off x="4480560" y="2286000"/>
            <a:ext cx="1371600" cy="548640"/>
          </a:xfrm>
          <a:prstGeom prst="roundRect">
            <a:avLst>
              <a:gd name="adj" fmla="val 13333"/>
            </a:avLst>
          </a:prstGeom>
          <a:solidFill>
            <a:schemeClr val="accent1"/>
          </a:solidFill>
          <a:ln w="12700">
            <a:solidFill>
              <a:schemeClr val="accent1"/>
            </a:solidFill>
            <a:prstDash val="solid"/>
          </a:ln>
        </p:spPr>
        <p:txBody>
          <a:bodyPr/>
          <a:p/>
        </p:txBody>
      </p:sp>
      <p:sp>
        <p:nvSpPr>
          <p:cNvPr id="16" name="Text 13"/>
          <p:cNvSpPr txBox="1"/>
          <p:nvPr/>
        </p:nvSpPr>
        <p:spPr>
          <a:xfrm>
            <a:off x="4480560" y="2286000"/>
            <a:ext cx="1371600" cy="548640"/>
          </a:xfrm>
          <a:prstGeom prst="rect">
            <a:avLst/>
          </a:prstGeom>
          <a:noFill/>
          <a:ln/>
        </p:spPr>
        <p:txBody>
          <a:bodyPr wrap="square" lIns="508" tIns="508" rIns="508" bIns="508" rtlCol="0" anchor="ctr"/>
          <a:lstStyle/>
          <a:p>
            <a:pPr algn="ctr" indent="0" marL="0">
              <a:buNone/>
            </a:pPr>
            <a:r>
              <a:rPr lang="en-US" sz="1200" b="1" dirty="0">
                <a:solidFill>
                  <a:schemeClr val="bg1"/>
                </a:solidFill>
              </a:rPr>
              <a:t>Asambleas</a:t>
            </a:r>
            <a:endParaRPr lang="en-US" sz="1200" dirty="0"/>
          </a:p>
        </p:txBody>
      </p:sp>
      <p:sp>
        <p:nvSpPr>
          <p:cNvPr id="17" name="Nodo"/>
          <p:cNvSpPr/>
          <p:nvPr/>
        </p:nvSpPr>
        <p:spPr>
          <a:xfrm>
            <a:off x="2926080" y="2971800"/>
            <a:ext cx="1371600" cy="548640"/>
          </a:xfrm>
          <a:prstGeom prst="roundRect">
            <a:avLst>
              <a:gd name="adj" fmla="val 13333"/>
            </a:avLst>
          </a:prstGeom>
          <a:solidFill>
            <a:schemeClr val="accent1"/>
          </a:solidFill>
          <a:ln w="12700">
            <a:solidFill>
              <a:schemeClr val="accent1"/>
            </a:solidFill>
            <a:prstDash val="solid"/>
          </a:ln>
        </p:spPr>
        <p:txBody>
          <a:bodyPr/>
          <a:p/>
        </p:txBody>
      </p:sp>
      <p:sp>
        <p:nvSpPr>
          <p:cNvPr id="18" name="Text 15"/>
          <p:cNvSpPr txBox="1"/>
          <p:nvPr/>
        </p:nvSpPr>
        <p:spPr>
          <a:xfrm>
            <a:off x="2926080" y="2971800"/>
            <a:ext cx="1371600" cy="548640"/>
          </a:xfrm>
          <a:prstGeom prst="rect">
            <a:avLst/>
          </a:prstGeom>
          <a:noFill/>
          <a:ln/>
        </p:spPr>
        <p:txBody>
          <a:bodyPr wrap="square" lIns="508" tIns="508" rIns="508" bIns="508" rtlCol="0" anchor="ctr"/>
          <a:lstStyle/>
          <a:p>
            <a:pPr algn="ctr" indent="0" marL="0">
              <a:buNone/>
            </a:pPr>
            <a:r>
              <a:rPr lang="en-US" sz="1200" b="1" dirty="0">
                <a:solidFill>
                  <a:schemeClr val="bg1"/>
                </a:solidFill>
              </a:rPr>
              <a:t>Facturas</a:t>
            </a:r>
            <a:endParaRPr lang="en-US" sz="1200" dirty="0"/>
          </a:p>
        </p:txBody>
      </p:sp>
      <p:sp>
        <p:nvSpPr>
          <p:cNvPr id="19" name="Nodo"/>
          <p:cNvSpPr/>
          <p:nvPr/>
        </p:nvSpPr>
        <p:spPr>
          <a:xfrm>
            <a:off x="4480560" y="2971800"/>
            <a:ext cx="1371600" cy="548640"/>
          </a:xfrm>
          <a:prstGeom prst="roundRect">
            <a:avLst>
              <a:gd name="adj" fmla="val 13333"/>
            </a:avLst>
          </a:prstGeom>
          <a:solidFill>
            <a:schemeClr val="accent1"/>
          </a:solidFill>
          <a:ln w="12700">
            <a:solidFill>
              <a:schemeClr val="accent1"/>
            </a:solidFill>
            <a:prstDash val="solid"/>
          </a:ln>
        </p:spPr>
        <p:txBody>
          <a:bodyPr/>
          <a:p/>
        </p:txBody>
      </p:sp>
      <p:sp>
        <p:nvSpPr>
          <p:cNvPr id="20" name="Text 17"/>
          <p:cNvSpPr txBox="1"/>
          <p:nvPr/>
        </p:nvSpPr>
        <p:spPr>
          <a:xfrm>
            <a:off x="4480560" y="2971800"/>
            <a:ext cx="1371600" cy="548640"/>
          </a:xfrm>
          <a:prstGeom prst="rect">
            <a:avLst/>
          </a:prstGeom>
          <a:noFill/>
          <a:ln/>
        </p:spPr>
        <p:txBody>
          <a:bodyPr wrap="square" lIns="508" tIns="508" rIns="508" bIns="508" rtlCol="0" anchor="ctr"/>
          <a:lstStyle/>
          <a:p>
            <a:pPr algn="ctr" indent="0" marL="0">
              <a:buNone/>
            </a:pPr>
            <a:r>
              <a:rPr lang="en-US" sz="1200" b="1" dirty="0">
                <a:solidFill>
                  <a:schemeClr val="bg1"/>
                </a:solidFill>
              </a:rPr>
              <a:t>Asistente</a:t>
            </a:r>
            <a:endParaRPr lang="en-US" sz="1200" dirty="0"/>
          </a:p>
        </p:txBody>
      </p:sp>
      <p:sp>
        <p:nvSpPr>
          <p:cNvPr id="21" name="Text 18"/>
          <p:cNvSpPr txBox="1"/>
          <p:nvPr/>
        </p:nvSpPr>
        <p:spPr>
          <a:xfrm>
            <a:off x="2743200" y="3657600"/>
            <a:ext cx="3291840" cy="274320"/>
          </a:xfrm>
          <a:prstGeom prst="rect">
            <a:avLst/>
          </a:prstGeom>
          <a:noFill/>
          <a:ln/>
        </p:spPr>
        <p:txBody>
          <a:bodyPr wrap="square" lIns="0" tIns="0" rIns="0" bIns="0" rtlCol="0" anchor="ctr"/>
          <a:lstStyle/>
          <a:p>
            <a:pPr algn="ctr" indent="0" marL="0">
              <a:buNone/>
            </a:pPr>
            <a:r>
              <a:rPr lang="en-US" sz="1100" i="1" dirty="0">
                <a:solidFill>
                  <a:schemeClr val="accent6"/>
                </a:solidFill>
              </a:rPr>
              <a:t>Fronteras vigiladas por ESLint · eventos internos</a:t>
            </a:r>
            <a:endParaRPr lang="en-US" sz="1100" dirty="0"/>
          </a:p>
        </p:txBody>
      </p:sp>
      <p:sp>
        <p:nvSpPr>
          <p:cNvPr id="22" name="Nodo"/>
          <p:cNvSpPr/>
          <p:nvPr/>
        </p:nvSpPr>
        <p:spPr>
          <a:xfrm>
            <a:off x="6766560" y="1143000"/>
            <a:ext cx="1920240" cy="731520"/>
          </a:xfrm>
          <a:prstGeom prst="roundRect">
            <a:avLst>
              <a:gd name="adj" fmla="val 10000"/>
            </a:avLst>
          </a:prstGeom>
          <a:solidFill>
            <a:schemeClr val="bg1"/>
          </a:solidFill>
          <a:ln w="12700">
            <a:solidFill>
              <a:schemeClr val="accent1"/>
            </a:solidFill>
            <a:prstDash val="solid"/>
          </a:ln>
        </p:spPr>
        <p:txBody>
          <a:bodyPr/>
          <a:p/>
        </p:txBody>
      </p:sp>
      <p:sp>
        <p:nvSpPr>
          <p:cNvPr id="23" name="Text 20"/>
          <p:cNvSpPr txBox="1"/>
          <p:nvPr/>
        </p:nvSpPr>
        <p:spPr>
          <a:xfrm>
            <a:off x="6766560" y="1143000"/>
            <a:ext cx="1920240" cy="731520"/>
          </a:xfrm>
          <a:prstGeom prst="rect">
            <a:avLst/>
          </a:prstGeom>
          <a:noFill/>
          <a:ln/>
        </p:spPr>
        <p:txBody>
          <a:bodyPr wrap="square" lIns="508" tIns="508" rIns="508" bIns="508" rtlCol="0" anchor="ctr"/>
          <a:lstStyle/>
          <a:p>
            <a:pPr algn="ctr" indent="0" marL="0">
              <a:buNone/>
            </a:pPr>
            <a:r>
              <a:rPr lang="en-US" sz="1300" b="1" dirty="0">
                <a:solidFill>
                  <a:schemeClr val="tx2"/>
                </a:solidFill>
              </a:rPr>
              <a:t>PostgreSQL + pgvector</a:t>
            </a:r>
            <a:endParaRPr lang="en-US" sz="1300" dirty="0"/>
          </a:p>
        </p:txBody>
      </p:sp>
      <p:sp>
        <p:nvSpPr>
          <p:cNvPr id="24" name="Shape 21"/>
          <p:cNvSpPr/>
          <p:nvPr/>
        </p:nvSpPr>
        <p:spPr>
          <a:xfrm>
            <a:off x="6035040" y="1508760"/>
            <a:ext cx="731520" cy="0"/>
          </a:xfrm>
          <a:prstGeom prst="line">
            <a:avLst/>
          </a:prstGeom>
          <a:noFill/>
          <a:ln w="22225">
            <a:solidFill>
              <a:schemeClr val="accent6"/>
            </a:solidFill>
            <a:prstDash val="solid"/>
            <a:tailEnd type="triangle"/>
          </a:ln>
        </p:spPr>
        <p:txBody>
          <a:bodyPr/>
          <a:p/>
        </p:txBody>
      </p:sp>
      <p:sp>
        <p:nvSpPr>
          <p:cNvPr id="25" name="Nodo"/>
          <p:cNvSpPr/>
          <p:nvPr/>
        </p:nvSpPr>
        <p:spPr>
          <a:xfrm>
            <a:off x="6766560" y="2148840"/>
            <a:ext cx="1920240" cy="731520"/>
          </a:xfrm>
          <a:prstGeom prst="roundRect">
            <a:avLst>
              <a:gd name="adj" fmla="val 10000"/>
            </a:avLst>
          </a:prstGeom>
          <a:solidFill>
            <a:schemeClr val="bg1"/>
          </a:solidFill>
          <a:ln w="12700">
            <a:solidFill>
              <a:schemeClr val="accent1"/>
            </a:solidFill>
            <a:prstDash val="solid"/>
          </a:ln>
        </p:spPr>
        <p:txBody>
          <a:bodyPr/>
          <a:p/>
        </p:txBody>
      </p:sp>
      <p:sp>
        <p:nvSpPr>
          <p:cNvPr id="26" name="Text 23"/>
          <p:cNvSpPr txBox="1"/>
          <p:nvPr/>
        </p:nvSpPr>
        <p:spPr>
          <a:xfrm>
            <a:off x="6766560" y="2148840"/>
            <a:ext cx="1920240" cy="731520"/>
          </a:xfrm>
          <a:prstGeom prst="rect">
            <a:avLst/>
          </a:prstGeom>
          <a:noFill/>
          <a:ln/>
        </p:spPr>
        <p:txBody>
          <a:bodyPr wrap="square" lIns="508" tIns="508" rIns="508" bIns="508" rtlCol="0" anchor="ctr"/>
          <a:lstStyle/>
          <a:p>
            <a:pPr algn="ctr" indent="0" marL="0">
              <a:buNone/>
            </a:pPr>
            <a:r>
              <a:rPr lang="en-US" sz="1300" b="1" dirty="0">
                <a:solidFill>
                  <a:schemeClr val="tx2"/>
                </a:solidFill>
              </a:rPr>
              <a:t>Almacenamiento S3</a:t>
            </a:r>
            <a:endParaRPr lang="en-US" sz="1300" dirty="0"/>
          </a:p>
        </p:txBody>
      </p:sp>
      <p:sp>
        <p:nvSpPr>
          <p:cNvPr id="27" name="Shape 24"/>
          <p:cNvSpPr/>
          <p:nvPr/>
        </p:nvSpPr>
        <p:spPr>
          <a:xfrm>
            <a:off x="6035040" y="2514600"/>
            <a:ext cx="731520" cy="0"/>
          </a:xfrm>
          <a:prstGeom prst="line">
            <a:avLst/>
          </a:prstGeom>
          <a:noFill/>
          <a:ln w="22225">
            <a:solidFill>
              <a:schemeClr val="accent6"/>
            </a:solidFill>
            <a:prstDash val="solid"/>
            <a:tailEnd type="triangle"/>
          </a:ln>
        </p:spPr>
        <p:txBody>
          <a:bodyPr/>
          <a:p/>
        </p:txBody>
      </p:sp>
      <p:sp>
        <p:nvSpPr>
          <p:cNvPr id="28" name="Nodo"/>
          <p:cNvSpPr/>
          <p:nvPr/>
        </p:nvSpPr>
        <p:spPr>
          <a:xfrm>
            <a:off x="6766560" y="3154680"/>
            <a:ext cx="1920240" cy="731520"/>
          </a:xfrm>
          <a:prstGeom prst="roundRect">
            <a:avLst>
              <a:gd name="adj" fmla="val 10000"/>
            </a:avLst>
          </a:prstGeom>
          <a:solidFill>
            <a:schemeClr val="bg1"/>
          </a:solidFill>
          <a:ln w="12700">
            <a:solidFill>
              <a:schemeClr val="accent1"/>
            </a:solidFill>
            <a:prstDash val="solid"/>
          </a:ln>
        </p:spPr>
        <p:txBody>
          <a:bodyPr/>
          <a:p/>
        </p:txBody>
      </p:sp>
      <p:sp>
        <p:nvSpPr>
          <p:cNvPr id="29" name="Text 26"/>
          <p:cNvSpPr txBox="1"/>
          <p:nvPr/>
        </p:nvSpPr>
        <p:spPr>
          <a:xfrm>
            <a:off x="6766560" y="3154680"/>
            <a:ext cx="1920240" cy="731520"/>
          </a:xfrm>
          <a:prstGeom prst="rect">
            <a:avLst/>
          </a:prstGeom>
          <a:noFill/>
          <a:ln/>
        </p:spPr>
        <p:txBody>
          <a:bodyPr wrap="square" lIns="508" tIns="508" rIns="508" bIns="508" rtlCol="0" anchor="ctr"/>
          <a:lstStyle/>
          <a:p>
            <a:pPr algn="ctr" indent="0" marL="0">
              <a:buNone/>
            </a:pPr>
            <a:r>
              <a:rPr lang="en-US" sz="1300" b="1" dirty="0">
                <a:solidFill>
                  <a:schemeClr val="tx2"/>
                </a:solidFill>
              </a:rPr>
              <a:t>Gemini (lenguaje y visión)</a:t>
            </a:r>
            <a:endParaRPr lang="en-US" sz="1300" dirty="0"/>
          </a:p>
        </p:txBody>
      </p:sp>
      <p:sp>
        <p:nvSpPr>
          <p:cNvPr id="30" name="Shape 27"/>
          <p:cNvSpPr/>
          <p:nvPr/>
        </p:nvSpPr>
        <p:spPr>
          <a:xfrm>
            <a:off x="6035040" y="3520440"/>
            <a:ext cx="731520" cy="0"/>
          </a:xfrm>
          <a:prstGeom prst="line">
            <a:avLst/>
          </a:prstGeom>
          <a:noFill/>
          <a:ln w="22225">
            <a:solidFill>
              <a:schemeClr val="accent6"/>
            </a:solidFill>
            <a:prstDash val="solid"/>
            <a:tailEnd type="triangle"/>
          </a:ln>
        </p:spPr>
        <p:txBody>
          <a:bodyPr/>
          <a:p/>
        </p:txBody>
      </p:sp>
      <p:sp>
        <p:nvSpPr>
          <p:cNvPr id="31" name="Text 28"/>
          <p:cNvSpPr txBox="1"/>
          <p:nvPr/>
        </p:nvSpPr>
        <p:spPr>
          <a:xfrm>
            <a:off x="6766560" y="3977640"/>
            <a:ext cx="1920240" cy="548640"/>
          </a:xfrm>
          <a:prstGeom prst="rect">
            <a:avLst/>
          </a:prstGeom>
          <a:noFill/>
          <a:ln/>
        </p:spPr>
        <p:txBody>
          <a:bodyPr wrap="square" lIns="0" tIns="0" rIns="0" bIns="0" rtlCol="0" anchor="ctr"/>
          <a:lstStyle/>
          <a:p>
            <a:pPr indent="0" marL="0">
              <a:buNone/>
            </a:pPr>
            <a:r>
              <a:rPr lang="en-US" sz="1100" i="1" dirty="0">
                <a:solidFill>
                  <a:schemeClr val="accent6"/>
                </a:solidFill>
              </a:rPr>
              <a:t>Embeddings: Ollama (local) o Gemini (demo)</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Decisiones clave: 11 ADR</a:t>
            </a:r>
            <a:endParaRPr lang="en-US" sz="2800" dirty="0"/>
          </a:p>
        </p:txBody>
      </p:sp>
      <p:sp>
        <p:nvSpPr>
          <p:cNvPr id="4" name="Shape 1"/>
          <p:cNvSpPr/>
          <p:nvPr/>
        </p:nvSpPr>
        <p:spPr>
          <a:xfrm>
            <a:off x="457200" y="1143000"/>
            <a:ext cx="640080" cy="420624"/>
          </a:xfrm>
          <a:prstGeom prst="roundRect">
            <a:avLst>
              <a:gd name="adj" fmla="val 17391"/>
            </a:avLst>
          </a:prstGeom>
          <a:solidFill>
            <a:schemeClr val="accent1"/>
          </a:solidFill>
          <a:ln w="12700">
            <a:solidFill>
              <a:schemeClr val="accent1"/>
            </a:solidFill>
            <a:prstDash val="solid"/>
          </a:ln>
        </p:spPr>
        <p:txBody>
          <a:bodyPr/>
          <a:p/>
        </p:txBody>
      </p:sp>
      <p:sp>
        <p:nvSpPr>
          <p:cNvPr id="5" name="Text 2"/>
          <p:cNvSpPr txBox="1"/>
          <p:nvPr/>
        </p:nvSpPr>
        <p:spPr>
          <a:xfrm>
            <a:off x="457200" y="1143000"/>
            <a:ext cx="640080" cy="420624"/>
          </a:xfrm>
          <a:prstGeom prst="rect">
            <a:avLst/>
          </a:prstGeom>
          <a:noFill/>
          <a:ln/>
        </p:spPr>
        <p:txBody>
          <a:bodyPr wrap="square" lIns="0" tIns="0" rIns="0" bIns="0" rtlCol="0" anchor="ctr"/>
          <a:lstStyle/>
          <a:p>
            <a:pPr algn="ctr" indent="0" marL="0">
              <a:buNone/>
            </a:pPr>
            <a:r>
              <a:rPr lang="en-US" sz="1300" b="1" dirty="0">
                <a:solidFill>
                  <a:schemeClr val="bg1"/>
                </a:solidFill>
              </a:rPr>
              <a:t>001</a:t>
            </a:r>
            <a:endParaRPr lang="en-US" sz="1300" dirty="0"/>
          </a:p>
        </p:txBody>
      </p:sp>
      <p:sp>
        <p:nvSpPr>
          <p:cNvPr id="6" name="Text 3"/>
          <p:cNvSpPr txBox="1"/>
          <p:nvPr/>
        </p:nvSpPr>
        <p:spPr>
          <a:xfrm>
            <a:off x="1234440" y="1143000"/>
            <a:ext cx="3337560" cy="420624"/>
          </a:xfrm>
          <a:prstGeom prst="rect">
            <a:avLst/>
          </a:prstGeom>
          <a:noFill/>
          <a:ln/>
        </p:spPr>
        <p:txBody>
          <a:bodyPr wrap="square" lIns="0" tIns="0" rIns="0" bIns="0" rtlCol="0" anchor="ctr"/>
          <a:lstStyle/>
          <a:p>
            <a:pPr indent="0" marL="0">
              <a:buNone/>
            </a:pPr>
            <a:r>
              <a:rPr lang="en-US" sz="1400" dirty="0">
                <a:solidFill>
                  <a:schemeClr val="tx1"/>
                </a:solidFill>
              </a:rPr>
              <a:t>App híbrida con Expo</a:t>
            </a:r>
            <a:endParaRPr lang="en-US" sz="1400" dirty="0"/>
          </a:p>
        </p:txBody>
      </p:sp>
      <p:sp>
        <p:nvSpPr>
          <p:cNvPr id="7" name="Shape 4"/>
          <p:cNvSpPr/>
          <p:nvPr/>
        </p:nvSpPr>
        <p:spPr>
          <a:xfrm>
            <a:off x="457200" y="1709928"/>
            <a:ext cx="640080" cy="420624"/>
          </a:xfrm>
          <a:prstGeom prst="roundRect">
            <a:avLst>
              <a:gd name="adj" fmla="val 17391"/>
            </a:avLst>
          </a:prstGeom>
          <a:solidFill>
            <a:schemeClr val="accent1"/>
          </a:solidFill>
          <a:ln w="12700">
            <a:solidFill>
              <a:schemeClr val="accent1"/>
            </a:solidFill>
            <a:prstDash val="solid"/>
          </a:ln>
        </p:spPr>
        <p:txBody>
          <a:bodyPr/>
          <a:p/>
        </p:txBody>
      </p:sp>
      <p:sp>
        <p:nvSpPr>
          <p:cNvPr id="8" name="Text 5"/>
          <p:cNvSpPr txBox="1"/>
          <p:nvPr/>
        </p:nvSpPr>
        <p:spPr>
          <a:xfrm>
            <a:off x="457200" y="1709928"/>
            <a:ext cx="640080" cy="420624"/>
          </a:xfrm>
          <a:prstGeom prst="rect">
            <a:avLst/>
          </a:prstGeom>
          <a:noFill/>
          <a:ln/>
        </p:spPr>
        <p:txBody>
          <a:bodyPr wrap="square" lIns="0" tIns="0" rIns="0" bIns="0" rtlCol="0" anchor="ctr"/>
          <a:lstStyle/>
          <a:p>
            <a:pPr algn="ctr" indent="0" marL="0">
              <a:buNone/>
            </a:pPr>
            <a:r>
              <a:rPr lang="en-US" sz="1300" b="1" dirty="0">
                <a:solidFill>
                  <a:schemeClr val="bg1"/>
                </a:solidFill>
              </a:rPr>
              <a:t>002</a:t>
            </a:r>
            <a:endParaRPr lang="en-US" sz="1300" dirty="0"/>
          </a:p>
        </p:txBody>
      </p:sp>
      <p:sp>
        <p:nvSpPr>
          <p:cNvPr id="9" name="Text 6"/>
          <p:cNvSpPr txBox="1"/>
          <p:nvPr/>
        </p:nvSpPr>
        <p:spPr>
          <a:xfrm>
            <a:off x="1234440" y="1709928"/>
            <a:ext cx="3337560" cy="420624"/>
          </a:xfrm>
          <a:prstGeom prst="rect">
            <a:avLst/>
          </a:prstGeom>
          <a:noFill/>
          <a:ln/>
        </p:spPr>
        <p:txBody>
          <a:bodyPr wrap="square" lIns="0" tIns="0" rIns="0" bIns="0" rtlCol="0" anchor="ctr"/>
          <a:lstStyle/>
          <a:p>
            <a:pPr indent="0" marL="0">
              <a:buNone/>
            </a:pPr>
            <a:r>
              <a:rPr lang="en-US" sz="1400" dirty="0">
                <a:solidFill>
                  <a:schemeClr val="tx1"/>
                </a:solidFill>
              </a:rPr>
              <a:t>Monolito modular + Clean Architecture</a:t>
            </a:r>
            <a:endParaRPr lang="en-US" sz="1400" dirty="0"/>
          </a:p>
        </p:txBody>
      </p:sp>
      <p:sp>
        <p:nvSpPr>
          <p:cNvPr id="10" name="Shape 7"/>
          <p:cNvSpPr/>
          <p:nvPr/>
        </p:nvSpPr>
        <p:spPr>
          <a:xfrm>
            <a:off x="457200" y="2276856"/>
            <a:ext cx="640080" cy="420624"/>
          </a:xfrm>
          <a:prstGeom prst="roundRect">
            <a:avLst>
              <a:gd name="adj" fmla="val 17391"/>
            </a:avLst>
          </a:prstGeom>
          <a:solidFill>
            <a:schemeClr val="accent1"/>
          </a:solidFill>
          <a:ln w="12700">
            <a:solidFill>
              <a:schemeClr val="accent1"/>
            </a:solidFill>
            <a:prstDash val="solid"/>
          </a:ln>
        </p:spPr>
        <p:txBody>
          <a:bodyPr/>
          <a:p/>
        </p:txBody>
      </p:sp>
      <p:sp>
        <p:nvSpPr>
          <p:cNvPr id="11" name="Text 8"/>
          <p:cNvSpPr txBox="1"/>
          <p:nvPr/>
        </p:nvSpPr>
        <p:spPr>
          <a:xfrm>
            <a:off x="457200" y="2276856"/>
            <a:ext cx="640080" cy="420624"/>
          </a:xfrm>
          <a:prstGeom prst="rect">
            <a:avLst/>
          </a:prstGeom>
          <a:noFill/>
          <a:ln/>
        </p:spPr>
        <p:txBody>
          <a:bodyPr wrap="square" lIns="0" tIns="0" rIns="0" bIns="0" rtlCol="0" anchor="ctr"/>
          <a:lstStyle/>
          <a:p>
            <a:pPr algn="ctr" indent="0" marL="0">
              <a:buNone/>
            </a:pPr>
            <a:r>
              <a:rPr lang="en-US" sz="1300" b="1" dirty="0">
                <a:solidFill>
                  <a:schemeClr val="bg1"/>
                </a:solidFill>
              </a:rPr>
              <a:t>003</a:t>
            </a:r>
            <a:endParaRPr lang="en-US" sz="1300" dirty="0"/>
          </a:p>
        </p:txBody>
      </p:sp>
      <p:sp>
        <p:nvSpPr>
          <p:cNvPr id="12" name="Text 9"/>
          <p:cNvSpPr txBox="1"/>
          <p:nvPr/>
        </p:nvSpPr>
        <p:spPr>
          <a:xfrm>
            <a:off x="1234440" y="2276856"/>
            <a:ext cx="3337560" cy="420624"/>
          </a:xfrm>
          <a:prstGeom prst="rect">
            <a:avLst/>
          </a:prstGeom>
          <a:noFill/>
          <a:ln/>
        </p:spPr>
        <p:txBody>
          <a:bodyPr wrap="square" lIns="0" tIns="0" rIns="0" bIns="0" rtlCol="0" anchor="ctr"/>
          <a:lstStyle/>
          <a:p>
            <a:pPr indent="0" marL="0">
              <a:buNone/>
            </a:pPr>
            <a:r>
              <a:rPr lang="en-US" sz="1400" dirty="0">
                <a:solidFill>
                  <a:schemeClr val="tx1"/>
                </a:solidFill>
              </a:rPr>
              <a:t>Multi-cooperativa, BD compartida</a:t>
            </a:r>
            <a:endParaRPr lang="en-US" sz="1400" dirty="0"/>
          </a:p>
        </p:txBody>
      </p:sp>
      <p:sp>
        <p:nvSpPr>
          <p:cNvPr id="13" name="Shape 10"/>
          <p:cNvSpPr/>
          <p:nvPr/>
        </p:nvSpPr>
        <p:spPr>
          <a:xfrm>
            <a:off x="457200" y="2843784"/>
            <a:ext cx="640080" cy="420624"/>
          </a:xfrm>
          <a:prstGeom prst="roundRect">
            <a:avLst>
              <a:gd name="adj" fmla="val 17391"/>
            </a:avLst>
          </a:prstGeom>
          <a:solidFill>
            <a:schemeClr val="accent1"/>
          </a:solidFill>
          <a:ln w="12700">
            <a:solidFill>
              <a:schemeClr val="accent1"/>
            </a:solidFill>
            <a:prstDash val="solid"/>
          </a:ln>
        </p:spPr>
        <p:txBody>
          <a:bodyPr/>
          <a:p/>
        </p:txBody>
      </p:sp>
      <p:sp>
        <p:nvSpPr>
          <p:cNvPr id="14" name="Text 11"/>
          <p:cNvSpPr txBox="1"/>
          <p:nvPr/>
        </p:nvSpPr>
        <p:spPr>
          <a:xfrm>
            <a:off x="457200" y="2843784"/>
            <a:ext cx="640080" cy="420624"/>
          </a:xfrm>
          <a:prstGeom prst="rect">
            <a:avLst/>
          </a:prstGeom>
          <a:noFill/>
          <a:ln/>
        </p:spPr>
        <p:txBody>
          <a:bodyPr wrap="square" lIns="0" tIns="0" rIns="0" bIns="0" rtlCol="0" anchor="ctr"/>
          <a:lstStyle/>
          <a:p>
            <a:pPr algn="ctr" indent="0" marL="0">
              <a:buNone/>
            </a:pPr>
            <a:r>
              <a:rPr lang="en-US" sz="1300" b="1" dirty="0">
                <a:solidFill>
                  <a:schemeClr val="bg1"/>
                </a:solidFill>
              </a:rPr>
              <a:t>004</a:t>
            </a:r>
            <a:endParaRPr lang="en-US" sz="1300" dirty="0"/>
          </a:p>
        </p:txBody>
      </p:sp>
      <p:sp>
        <p:nvSpPr>
          <p:cNvPr id="15" name="Text 12"/>
          <p:cNvSpPr txBox="1"/>
          <p:nvPr/>
        </p:nvSpPr>
        <p:spPr>
          <a:xfrm>
            <a:off x="1234440" y="2843784"/>
            <a:ext cx="3337560" cy="420624"/>
          </a:xfrm>
          <a:prstGeom prst="rect">
            <a:avLst/>
          </a:prstGeom>
          <a:noFill/>
          <a:ln/>
        </p:spPr>
        <p:txBody>
          <a:bodyPr wrap="square" lIns="0" tIns="0" rIns="0" bIns="0" rtlCol="0" anchor="ctr"/>
          <a:lstStyle/>
          <a:p>
            <a:pPr indent="0" marL="0">
              <a:buNone/>
            </a:pPr>
            <a:r>
              <a:rPr lang="en-US" sz="1400" dirty="0">
                <a:solidFill>
                  <a:schemeClr val="tx1"/>
                </a:solidFill>
              </a:rPr>
              <a:t>Permisos por perfil, módulo y alcance</a:t>
            </a:r>
            <a:endParaRPr lang="en-US" sz="1400" dirty="0"/>
          </a:p>
        </p:txBody>
      </p:sp>
      <p:sp>
        <p:nvSpPr>
          <p:cNvPr id="16" name="Shape 13"/>
          <p:cNvSpPr/>
          <p:nvPr/>
        </p:nvSpPr>
        <p:spPr>
          <a:xfrm>
            <a:off x="457200" y="3410712"/>
            <a:ext cx="640080" cy="420624"/>
          </a:xfrm>
          <a:prstGeom prst="roundRect">
            <a:avLst>
              <a:gd name="adj" fmla="val 17391"/>
            </a:avLst>
          </a:prstGeom>
          <a:solidFill>
            <a:schemeClr val="accent1"/>
          </a:solidFill>
          <a:ln w="12700">
            <a:solidFill>
              <a:schemeClr val="accent1"/>
            </a:solidFill>
            <a:prstDash val="solid"/>
          </a:ln>
        </p:spPr>
        <p:txBody>
          <a:bodyPr/>
          <a:p/>
        </p:txBody>
      </p:sp>
      <p:sp>
        <p:nvSpPr>
          <p:cNvPr id="17" name="Text 14"/>
          <p:cNvSpPr txBox="1"/>
          <p:nvPr/>
        </p:nvSpPr>
        <p:spPr>
          <a:xfrm>
            <a:off x="457200" y="3410712"/>
            <a:ext cx="640080" cy="420624"/>
          </a:xfrm>
          <a:prstGeom prst="rect">
            <a:avLst/>
          </a:prstGeom>
          <a:noFill/>
          <a:ln/>
        </p:spPr>
        <p:txBody>
          <a:bodyPr wrap="square" lIns="0" tIns="0" rIns="0" bIns="0" rtlCol="0" anchor="ctr"/>
          <a:lstStyle/>
          <a:p>
            <a:pPr algn="ctr" indent="0" marL="0">
              <a:buNone/>
            </a:pPr>
            <a:r>
              <a:rPr lang="en-US" sz="1300" b="1" dirty="0">
                <a:solidFill>
                  <a:schemeClr val="bg1"/>
                </a:solidFill>
              </a:rPr>
              <a:t>005</a:t>
            </a:r>
            <a:endParaRPr lang="en-US" sz="1300" dirty="0"/>
          </a:p>
        </p:txBody>
      </p:sp>
      <p:sp>
        <p:nvSpPr>
          <p:cNvPr id="18" name="Text 15"/>
          <p:cNvSpPr txBox="1"/>
          <p:nvPr/>
        </p:nvSpPr>
        <p:spPr>
          <a:xfrm>
            <a:off x="1234440" y="3410712"/>
            <a:ext cx="3337560" cy="420624"/>
          </a:xfrm>
          <a:prstGeom prst="rect">
            <a:avLst/>
          </a:prstGeom>
          <a:noFill/>
          <a:ln/>
        </p:spPr>
        <p:txBody>
          <a:bodyPr wrap="square" lIns="0" tIns="0" rIns="0" bIns="0" rtlCol="0" anchor="ctr"/>
          <a:lstStyle/>
          <a:p>
            <a:pPr indent="0" marL="0">
              <a:buNone/>
            </a:pPr>
            <a:r>
              <a:rPr lang="en-US" sz="1400" dirty="0">
                <a:solidFill>
                  <a:schemeClr val="tx1"/>
                </a:solidFill>
              </a:rPr>
              <a:t>Ficheros S3 tras un puerto</a:t>
            </a:r>
            <a:endParaRPr lang="en-US" sz="1400" dirty="0"/>
          </a:p>
        </p:txBody>
      </p:sp>
      <p:sp>
        <p:nvSpPr>
          <p:cNvPr id="19" name="Shape 16"/>
          <p:cNvSpPr/>
          <p:nvPr/>
        </p:nvSpPr>
        <p:spPr>
          <a:xfrm>
            <a:off x="457200" y="3977640"/>
            <a:ext cx="640080" cy="420624"/>
          </a:xfrm>
          <a:prstGeom prst="roundRect">
            <a:avLst>
              <a:gd name="adj" fmla="val 17391"/>
            </a:avLst>
          </a:prstGeom>
          <a:solidFill>
            <a:schemeClr val="accent1"/>
          </a:solidFill>
          <a:ln w="12700">
            <a:solidFill>
              <a:schemeClr val="accent1"/>
            </a:solidFill>
            <a:prstDash val="solid"/>
          </a:ln>
        </p:spPr>
        <p:txBody>
          <a:bodyPr/>
          <a:p/>
        </p:txBody>
      </p:sp>
      <p:sp>
        <p:nvSpPr>
          <p:cNvPr id="20" name="Text 17"/>
          <p:cNvSpPr txBox="1"/>
          <p:nvPr/>
        </p:nvSpPr>
        <p:spPr>
          <a:xfrm>
            <a:off x="457200" y="3977640"/>
            <a:ext cx="640080" cy="420624"/>
          </a:xfrm>
          <a:prstGeom prst="rect">
            <a:avLst/>
          </a:prstGeom>
          <a:noFill/>
          <a:ln/>
        </p:spPr>
        <p:txBody>
          <a:bodyPr wrap="square" lIns="0" tIns="0" rIns="0" bIns="0" rtlCol="0" anchor="ctr"/>
          <a:lstStyle/>
          <a:p>
            <a:pPr algn="ctr" indent="0" marL="0">
              <a:buNone/>
            </a:pPr>
            <a:r>
              <a:rPr lang="en-US" sz="1300" b="1" dirty="0">
                <a:solidFill>
                  <a:schemeClr val="bg1"/>
                </a:solidFill>
              </a:rPr>
              <a:t>006</a:t>
            </a:r>
            <a:endParaRPr lang="en-US" sz="1300" dirty="0"/>
          </a:p>
        </p:txBody>
      </p:sp>
      <p:sp>
        <p:nvSpPr>
          <p:cNvPr id="21" name="Text 18"/>
          <p:cNvSpPr txBox="1"/>
          <p:nvPr/>
        </p:nvSpPr>
        <p:spPr>
          <a:xfrm>
            <a:off x="1234440" y="3977640"/>
            <a:ext cx="3337560" cy="420624"/>
          </a:xfrm>
          <a:prstGeom prst="rect">
            <a:avLst/>
          </a:prstGeom>
          <a:noFill/>
          <a:ln/>
        </p:spPr>
        <p:txBody>
          <a:bodyPr wrap="square" lIns="0" tIns="0" rIns="0" bIns="0" rtlCol="0" anchor="ctr"/>
          <a:lstStyle/>
          <a:p>
            <a:pPr indent="0" marL="0">
              <a:buNone/>
            </a:pPr>
            <a:r>
              <a:rPr lang="en-US" sz="1400" dirty="0">
                <a:solidFill>
                  <a:schemeClr val="tx1"/>
                </a:solidFill>
              </a:rPr>
              <a:t>Embeddings locales con Ollama</a:t>
            </a:r>
            <a:endParaRPr lang="en-US" sz="1400" dirty="0"/>
          </a:p>
        </p:txBody>
      </p:sp>
      <p:sp>
        <p:nvSpPr>
          <p:cNvPr id="22" name="Shape 19"/>
          <p:cNvSpPr/>
          <p:nvPr/>
        </p:nvSpPr>
        <p:spPr>
          <a:xfrm>
            <a:off x="4663440" y="1143000"/>
            <a:ext cx="640080" cy="420624"/>
          </a:xfrm>
          <a:prstGeom prst="roundRect">
            <a:avLst>
              <a:gd name="adj" fmla="val 17391"/>
            </a:avLst>
          </a:prstGeom>
          <a:solidFill>
            <a:schemeClr val="accent1"/>
          </a:solidFill>
          <a:ln w="12700">
            <a:solidFill>
              <a:schemeClr val="accent1"/>
            </a:solidFill>
            <a:prstDash val="solid"/>
          </a:ln>
        </p:spPr>
        <p:txBody>
          <a:bodyPr/>
          <a:p/>
        </p:txBody>
      </p:sp>
      <p:sp>
        <p:nvSpPr>
          <p:cNvPr id="23" name="Text 20"/>
          <p:cNvSpPr txBox="1"/>
          <p:nvPr/>
        </p:nvSpPr>
        <p:spPr>
          <a:xfrm>
            <a:off x="4663440" y="1143000"/>
            <a:ext cx="640080" cy="420624"/>
          </a:xfrm>
          <a:prstGeom prst="rect">
            <a:avLst/>
          </a:prstGeom>
          <a:noFill/>
          <a:ln/>
        </p:spPr>
        <p:txBody>
          <a:bodyPr wrap="square" lIns="0" tIns="0" rIns="0" bIns="0" rtlCol="0" anchor="ctr"/>
          <a:lstStyle/>
          <a:p>
            <a:pPr algn="ctr" indent="0" marL="0">
              <a:buNone/>
            </a:pPr>
            <a:r>
              <a:rPr lang="en-US" sz="1300" b="1" dirty="0">
                <a:solidFill>
                  <a:schemeClr val="bg1"/>
                </a:solidFill>
              </a:rPr>
              <a:t>007</a:t>
            </a:r>
            <a:endParaRPr lang="en-US" sz="1300" dirty="0"/>
          </a:p>
        </p:txBody>
      </p:sp>
      <p:sp>
        <p:nvSpPr>
          <p:cNvPr id="24" name="Text 21"/>
          <p:cNvSpPr txBox="1"/>
          <p:nvPr/>
        </p:nvSpPr>
        <p:spPr>
          <a:xfrm>
            <a:off x="5440680" y="1143000"/>
            <a:ext cx="3337560" cy="420624"/>
          </a:xfrm>
          <a:prstGeom prst="rect">
            <a:avLst/>
          </a:prstGeom>
          <a:noFill/>
          <a:ln/>
        </p:spPr>
        <p:txBody>
          <a:bodyPr wrap="square" lIns="0" tIns="0" rIns="0" bIns="0" rtlCol="0" anchor="ctr"/>
          <a:lstStyle/>
          <a:p>
            <a:pPr indent="0" marL="0">
              <a:buNone/>
            </a:pPr>
            <a:r>
              <a:rPr lang="en-US" sz="1400" dirty="0">
                <a:solidFill>
                  <a:schemeClr val="tx1"/>
                </a:solidFill>
              </a:rPr>
              <a:t>Claude para visión (sustituido por 009)</a:t>
            </a:r>
            <a:endParaRPr lang="en-US" sz="1400" dirty="0"/>
          </a:p>
        </p:txBody>
      </p:sp>
      <p:sp>
        <p:nvSpPr>
          <p:cNvPr id="25" name="Shape 22"/>
          <p:cNvSpPr/>
          <p:nvPr/>
        </p:nvSpPr>
        <p:spPr>
          <a:xfrm>
            <a:off x="4663440" y="1709928"/>
            <a:ext cx="640080" cy="420624"/>
          </a:xfrm>
          <a:prstGeom prst="roundRect">
            <a:avLst>
              <a:gd name="adj" fmla="val 17391"/>
            </a:avLst>
          </a:prstGeom>
          <a:solidFill>
            <a:schemeClr val="accent1"/>
          </a:solidFill>
          <a:ln w="12700">
            <a:solidFill>
              <a:schemeClr val="accent1"/>
            </a:solidFill>
            <a:prstDash val="solid"/>
          </a:ln>
        </p:spPr>
        <p:txBody>
          <a:bodyPr/>
          <a:p/>
        </p:txBody>
      </p:sp>
      <p:sp>
        <p:nvSpPr>
          <p:cNvPr id="26" name="Text 23"/>
          <p:cNvSpPr txBox="1"/>
          <p:nvPr/>
        </p:nvSpPr>
        <p:spPr>
          <a:xfrm>
            <a:off x="4663440" y="1709928"/>
            <a:ext cx="640080" cy="420624"/>
          </a:xfrm>
          <a:prstGeom prst="rect">
            <a:avLst/>
          </a:prstGeom>
          <a:noFill/>
          <a:ln/>
        </p:spPr>
        <p:txBody>
          <a:bodyPr wrap="square" lIns="0" tIns="0" rIns="0" bIns="0" rtlCol="0" anchor="ctr"/>
          <a:lstStyle/>
          <a:p>
            <a:pPr algn="ctr" indent="0" marL="0">
              <a:buNone/>
            </a:pPr>
            <a:r>
              <a:rPr lang="en-US" sz="1300" b="1" dirty="0">
                <a:solidFill>
                  <a:schemeClr val="bg1"/>
                </a:solidFill>
              </a:rPr>
              <a:t>008</a:t>
            </a:r>
            <a:endParaRPr lang="en-US" sz="1300" dirty="0"/>
          </a:p>
        </p:txBody>
      </p:sp>
      <p:sp>
        <p:nvSpPr>
          <p:cNvPr id="27" name="Text 24"/>
          <p:cNvSpPr txBox="1"/>
          <p:nvPr/>
        </p:nvSpPr>
        <p:spPr>
          <a:xfrm>
            <a:off x="5440680" y="1709928"/>
            <a:ext cx="3337560" cy="420624"/>
          </a:xfrm>
          <a:prstGeom prst="rect">
            <a:avLst/>
          </a:prstGeom>
          <a:noFill/>
          <a:ln/>
        </p:spPr>
        <p:txBody>
          <a:bodyPr wrap="square" lIns="0" tIns="0" rIns="0" bIns="0" rtlCol="0" anchor="ctr"/>
          <a:lstStyle/>
          <a:p>
            <a:pPr indent="0" marL="0">
              <a:buNone/>
            </a:pPr>
            <a:r>
              <a:rPr lang="en-US" sz="1400" dirty="0">
                <a:solidFill>
                  <a:schemeClr val="tx1"/>
                </a:solidFill>
              </a:rPr>
              <a:t>Código en inglés, UI localizada</a:t>
            </a:r>
            <a:endParaRPr lang="en-US" sz="1400" dirty="0"/>
          </a:p>
        </p:txBody>
      </p:sp>
      <p:sp>
        <p:nvSpPr>
          <p:cNvPr id="28" name="Shape 25"/>
          <p:cNvSpPr/>
          <p:nvPr/>
        </p:nvSpPr>
        <p:spPr>
          <a:xfrm>
            <a:off x="4663440" y="2276856"/>
            <a:ext cx="640080" cy="420624"/>
          </a:xfrm>
          <a:prstGeom prst="roundRect">
            <a:avLst>
              <a:gd name="adj" fmla="val 17391"/>
            </a:avLst>
          </a:prstGeom>
          <a:solidFill>
            <a:schemeClr val="accent1"/>
          </a:solidFill>
          <a:ln w="12700">
            <a:solidFill>
              <a:schemeClr val="accent1"/>
            </a:solidFill>
            <a:prstDash val="solid"/>
          </a:ln>
        </p:spPr>
        <p:txBody>
          <a:bodyPr/>
          <a:p/>
        </p:txBody>
      </p:sp>
      <p:sp>
        <p:nvSpPr>
          <p:cNvPr id="29" name="Text 26"/>
          <p:cNvSpPr txBox="1"/>
          <p:nvPr/>
        </p:nvSpPr>
        <p:spPr>
          <a:xfrm>
            <a:off x="4663440" y="2276856"/>
            <a:ext cx="640080" cy="420624"/>
          </a:xfrm>
          <a:prstGeom prst="rect">
            <a:avLst/>
          </a:prstGeom>
          <a:noFill/>
          <a:ln/>
        </p:spPr>
        <p:txBody>
          <a:bodyPr wrap="square" lIns="0" tIns="0" rIns="0" bIns="0" rtlCol="0" anchor="ctr"/>
          <a:lstStyle/>
          <a:p>
            <a:pPr algn="ctr" indent="0" marL="0">
              <a:buNone/>
            </a:pPr>
            <a:r>
              <a:rPr lang="en-US" sz="1300" b="1" dirty="0">
                <a:solidFill>
                  <a:schemeClr val="bg1"/>
                </a:solidFill>
              </a:rPr>
              <a:t>009</a:t>
            </a:r>
            <a:endParaRPr lang="en-US" sz="1300" dirty="0"/>
          </a:p>
        </p:txBody>
      </p:sp>
      <p:sp>
        <p:nvSpPr>
          <p:cNvPr id="30" name="Text 27"/>
          <p:cNvSpPr txBox="1"/>
          <p:nvPr/>
        </p:nvSpPr>
        <p:spPr>
          <a:xfrm>
            <a:off x="5440680" y="2276856"/>
            <a:ext cx="3337560" cy="420624"/>
          </a:xfrm>
          <a:prstGeom prst="rect">
            <a:avLst/>
          </a:prstGeom>
          <a:noFill/>
          <a:ln/>
        </p:spPr>
        <p:txBody>
          <a:bodyPr wrap="square" lIns="0" tIns="0" rIns="0" bIns="0" rtlCol="0" anchor="ctr"/>
          <a:lstStyle/>
          <a:p>
            <a:pPr indent="0" marL="0">
              <a:buNone/>
            </a:pPr>
            <a:r>
              <a:rPr lang="en-US" sz="1400" dirty="0">
                <a:solidFill>
                  <a:schemeClr val="tx1"/>
                </a:solidFill>
              </a:rPr>
              <a:t>Gemini como modelo de lenguaje y visión</a:t>
            </a:r>
            <a:endParaRPr lang="en-US" sz="1400" dirty="0"/>
          </a:p>
        </p:txBody>
      </p:sp>
      <p:sp>
        <p:nvSpPr>
          <p:cNvPr id="31" name="Shape 28"/>
          <p:cNvSpPr/>
          <p:nvPr/>
        </p:nvSpPr>
        <p:spPr>
          <a:xfrm>
            <a:off x="4663440" y="2843784"/>
            <a:ext cx="640080" cy="420624"/>
          </a:xfrm>
          <a:prstGeom prst="roundRect">
            <a:avLst>
              <a:gd name="adj" fmla="val 17391"/>
            </a:avLst>
          </a:prstGeom>
          <a:solidFill>
            <a:schemeClr val="accent1"/>
          </a:solidFill>
          <a:ln w="12700">
            <a:solidFill>
              <a:schemeClr val="accent1"/>
            </a:solidFill>
            <a:prstDash val="solid"/>
          </a:ln>
        </p:spPr>
        <p:txBody>
          <a:bodyPr/>
          <a:p/>
        </p:txBody>
      </p:sp>
      <p:sp>
        <p:nvSpPr>
          <p:cNvPr id="32" name="Text 29"/>
          <p:cNvSpPr txBox="1"/>
          <p:nvPr/>
        </p:nvSpPr>
        <p:spPr>
          <a:xfrm>
            <a:off x="4663440" y="2843784"/>
            <a:ext cx="640080" cy="420624"/>
          </a:xfrm>
          <a:prstGeom prst="rect">
            <a:avLst/>
          </a:prstGeom>
          <a:noFill/>
          <a:ln/>
        </p:spPr>
        <p:txBody>
          <a:bodyPr wrap="square" lIns="0" tIns="0" rIns="0" bIns="0" rtlCol="0" anchor="ctr"/>
          <a:lstStyle/>
          <a:p>
            <a:pPr algn="ctr" indent="0" marL="0">
              <a:buNone/>
            </a:pPr>
            <a:r>
              <a:rPr lang="en-US" sz="1300" b="1" dirty="0">
                <a:solidFill>
                  <a:schemeClr val="bg1"/>
                </a:solidFill>
              </a:rPr>
              <a:t>010</a:t>
            </a:r>
            <a:endParaRPr lang="en-US" sz="1300" dirty="0"/>
          </a:p>
        </p:txBody>
      </p:sp>
      <p:sp>
        <p:nvSpPr>
          <p:cNvPr id="33" name="Text 30"/>
          <p:cNvSpPr txBox="1"/>
          <p:nvPr/>
        </p:nvSpPr>
        <p:spPr>
          <a:xfrm>
            <a:off x="5440680" y="2843784"/>
            <a:ext cx="3337560" cy="420624"/>
          </a:xfrm>
          <a:prstGeom prst="rect">
            <a:avLst/>
          </a:prstGeom>
          <a:noFill/>
          <a:ln/>
        </p:spPr>
        <p:txBody>
          <a:bodyPr wrap="square" lIns="0" tIns="0" rIns="0" bIns="0" rtlCol="0" anchor="ctr"/>
          <a:lstStyle/>
          <a:p>
            <a:pPr indent="0" marL="0">
              <a:buNone/>
            </a:pPr>
            <a:r>
              <a:rPr lang="en-US" sz="1400" dirty="0">
                <a:solidFill>
                  <a:schemeClr val="tx1"/>
                </a:solidFill>
              </a:rPr>
              <a:t>Embeddings Gemini en la demo</a:t>
            </a:r>
            <a:endParaRPr lang="en-US" sz="1400" dirty="0"/>
          </a:p>
        </p:txBody>
      </p:sp>
      <p:sp>
        <p:nvSpPr>
          <p:cNvPr id="34" name="Shape 31"/>
          <p:cNvSpPr/>
          <p:nvPr/>
        </p:nvSpPr>
        <p:spPr>
          <a:xfrm>
            <a:off x="4663440" y="3410712"/>
            <a:ext cx="640080" cy="420624"/>
          </a:xfrm>
          <a:prstGeom prst="roundRect">
            <a:avLst>
              <a:gd name="adj" fmla="val 17391"/>
            </a:avLst>
          </a:prstGeom>
          <a:solidFill>
            <a:schemeClr val="accent1"/>
          </a:solidFill>
          <a:ln w="12700">
            <a:solidFill>
              <a:schemeClr val="accent1"/>
            </a:solidFill>
            <a:prstDash val="solid"/>
          </a:ln>
        </p:spPr>
        <p:txBody>
          <a:bodyPr/>
          <a:p/>
        </p:txBody>
      </p:sp>
      <p:sp>
        <p:nvSpPr>
          <p:cNvPr id="35" name="Text 32"/>
          <p:cNvSpPr txBox="1"/>
          <p:nvPr/>
        </p:nvSpPr>
        <p:spPr>
          <a:xfrm>
            <a:off x="4663440" y="3410712"/>
            <a:ext cx="640080" cy="420624"/>
          </a:xfrm>
          <a:prstGeom prst="rect">
            <a:avLst/>
          </a:prstGeom>
          <a:noFill/>
          <a:ln/>
        </p:spPr>
        <p:txBody>
          <a:bodyPr wrap="square" lIns="0" tIns="0" rIns="0" bIns="0" rtlCol="0" anchor="ctr"/>
          <a:lstStyle/>
          <a:p>
            <a:pPr algn="ctr" indent="0" marL="0">
              <a:buNone/>
            </a:pPr>
            <a:r>
              <a:rPr lang="en-US" sz="1300" b="1" dirty="0">
                <a:solidFill>
                  <a:schemeClr val="bg1"/>
                </a:solidFill>
              </a:rPr>
              <a:t>011</a:t>
            </a:r>
            <a:endParaRPr lang="en-US" sz="1300" dirty="0"/>
          </a:p>
        </p:txBody>
      </p:sp>
      <p:sp>
        <p:nvSpPr>
          <p:cNvPr id="36" name="Text 33"/>
          <p:cNvSpPr txBox="1"/>
          <p:nvPr/>
        </p:nvSpPr>
        <p:spPr>
          <a:xfrm>
            <a:off x="5440680" y="3410712"/>
            <a:ext cx="3337560" cy="420624"/>
          </a:xfrm>
          <a:prstGeom prst="rect">
            <a:avLst/>
          </a:prstGeom>
          <a:noFill/>
          <a:ln/>
        </p:spPr>
        <p:txBody>
          <a:bodyPr wrap="square" lIns="0" tIns="0" rIns="0" bIns="0" rtlCol="0" anchor="ctr"/>
          <a:lstStyle/>
          <a:p>
            <a:pPr indent="0" marL="0">
              <a:buNone/>
            </a:pPr>
            <a:r>
              <a:rPr lang="en-US" sz="1400" dirty="0">
                <a:solidFill>
                  <a:schemeClr val="tx1"/>
                </a:solidFill>
              </a:rPr>
              <a:t>README raíz bilingüe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Seguridad y multi-cooperativa</a:t>
            </a:r>
            <a:endParaRPr lang="en-US" sz="2800" dirty="0"/>
          </a:p>
        </p:txBody>
      </p:sp>
      <p:sp>
        <p:nvSpPr>
          <p:cNvPr id="4" name="Tarjeta"/>
          <p:cNvSpPr/>
          <p:nvPr/>
        </p:nvSpPr>
        <p:spPr>
          <a:xfrm>
            <a:off x="457200" y="1188720"/>
            <a:ext cx="2606040" cy="1554480"/>
          </a:xfrm>
          <a:prstGeom prst="roundRect">
            <a:avLst>
              <a:gd name="adj" fmla="val 5882"/>
            </a:avLst>
          </a:prstGeom>
          <a:solidFill>
            <a:schemeClr val="bg2"/>
          </a:solidFill>
          <a:ln w="12700">
            <a:solidFill>
              <a:schemeClr val="bg2"/>
            </a:solidFill>
            <a:prstDash val="solid"/>
          </a:ln>
        </p:spPr>
        <p:txBody>
          <a:bodyPr/>
          <a:p/>
        </p:txBody>
      </p:sp>
      <p:sp>
        <p:nvSpPr>
          <p:cNvPr id="5" name="Text 2"/>
          <p:cNvSpPr txBox="1"/>
          <p:nvPr/>
        </p:nvSpPr>
        <p:spPr>
          <a:xfrm>
            <a:off x="640080" y="1298448"/>
            <a:ext cx="2240280" cy="365760"/>
          </a:xfrm>
          <a:prstGeom prst="rect">
            <a:avLst/>
          </a:prstGeom>
          <a:noFill/>
          <a:ln/>
        </p:spPr>
        <p:txBody>
          <a:bodyPr wrap="square" lIns="0" tIns="0" rIns="0" bIns="0" rtlCol="0" anchor="t"/>
          <a:lstStyle/>
          <a:p>
            <a:pPr indent="0" marL="0">
              <a:buNone/>
            </a:pPr>
            <a:r>
              <a:rPr lang="en-US" sz="1700" b="1" dirty="0">
                <a:solidFill>
                  <a:schemeClr val="tx2"/>
                </a:solidFill>
              </a:rPr>
              <a:t>Denegar por defecto</a:t>
            </a:r>
            <a:endParaRPr lang="en-US" sz="1700" dirty="0"/>
          </a:p>
        </p:txBody>
      </p:sp>
      <p:sp>
        <p:nvSpPr>
          <p:cNvPr id="6" name="Text 3"/>
          <p:cNvSpPr txBox="1"/>
          <p:nvPr/>
        </p:nvSpPr>
        <p:spPr>
          <a:xfrm>
            <a:off x="640080" y="1737360"/>
            <a:ext cx="2240280" cy="914400"/>
          </a:xfrm>
          <a:prstGeom prst="rect">
            <a:avLst/>
          </a:prstGeom>
          <a:noFill/>
          <a:ln/>
        </p:spPr>
        <p:txBody>
          <a:bodyPr wrap="square" lIns="0" tIns="0" rIns="0" bIns="0" rtlCol="0" anchor="t"/>
          <a:lstStyle/>
          <a:p>
            <a:pPr indent="0" marL="0">
              <a:buNone/>
            </a:pPr>
            <a:r>
              <a:rPr lang="en-US" sz="1400" dirty="0">
                <a:solidFill>
                  <a:schemeClr val="tx1"/>
                </a:solidFill>
              </a:rPr>
              <a:t>Cada caso de uso comprueba el permiso</a:t>
            </a:r>
            <a:endParaRPr lang="en-US" sz="1400" dirty="0"/>
          </a:p>
        </p:txBody>
      </p:sp>
      <p:sp>
        <p:nvSpPr>
          <p:cNvPr id="7" name="Tarjeta"/>
          <p:cNvSpPr/>
          <p:nvPr/>
        </p:nvSpPr>
        <p:spPr>
          <a:xfrm>
            <a:off x="3246120" y="1188720"/>
            <a:ext cx="2606040" cy="1554480"/>
          </a:xfrm>
          <a:prstGeom prst="roundRect">
            <a:avLst>
              <a:gd name="adj" fmla="val 5882"/>
            </a:avLst>
          </a:prstGeom>
          <a:solidFill>
            <a:schemeClr val="bg2"/>
          </a:solidFill>
          <a:ln w="12700">
            <a:solidFill>
              <a:schemeClr val="bg2"/>
            </a:solidFill>
            <a:prstDash val="solid"/>
          </a:ln>
        </p:spPr>
        <p:txBody>
          <a:bodyPr/>
          <a:p/>
        </p:txBody>
      </p:sp>
      <p:sp>
        <p:nvSpPr>
          <p:cNvPr id="8" name="Text 5"/>
          <p:cNvSpPr txBox="1"/>
          <p:nvPr/>
        </p:nvSpPr>
        <p:spPr>
          <a:xfrm>
            <a:off x="3429000" y="1298448"/>
            <a:ext cx="2240280" cy="365760"/>
          </a:xfrm>
          <a:prstGeom prst="rect">
            <a:avLst/>
          </a:prstGeom>
          <a:noFill/>
          <a:ln/>
        </p:spPr>
        <p:txBody>
          <a:bodyPr wrap="square" lIns="0" tIns="0" rIns="0" bIns="0" rtlCol="0" anchor="t"/>
          <a:lstStyle/>
          <a:p>
            <a:pPr indent="0" marL="0">
              <a:buNone/>
            </a:pPr>
            <a:r>
              <a:rPr lang="en-US" sz="1700" b="1" dirty="0">
                <a:solidFill>
                  <a:schemeClr val="tx2"/>
                </a:solidFill>
              </a:rPr>
              <a:t>Aislamiento</a:t>
            </a:r>
            <a:endParaRPr lang="en-US" sz="1700" dirty="0"/>
          </a:p>
        </p:txBody>
      </p:sp>
      <p:sp>
        <p:nvSpPr>
          <p:cNvPr id="9" name="Text 6"/>
          <p:cNvSpPr txBox="1"/>
          <p:nvPr/>
        </p:nvSpPr>
        <p:spPr>
          <a:xfrm>
            <a:off x="3429000" y="1737360"/>
            <a:ext cx="2240280" cy="914400"/>
          </a:xfrm>
          <a:prstGeom prst="rect">
            <a:avLst/>
          </a:prstGeom>
          <a:noFill/>
          <a:ln/>
        </p:spPr>
        <p:txBody>
          <a:bodyPr wrap="square" lIns="0" tIns="0" rIns="0" bIns="0" rtlCol="0" anchor="t"/>
          <a:lstStyle/>
          <a:p>
            <a:pPr indent="0" marL="0">
              <a:buNone/>
            </a:pPr>
            <a:r>
              <a:rPr lang="en-US" sz="1400" dirty="0">
                <a:solidFill>
                  <a:schemeClr val="tx1"/>
                </a:solidFill>
              </a:rPr>
              <a:t>404 recurso de otra cooperativa, 403 sin permiso</a:t>
            </a:r>
            <a:endParaRPr lang="en-US" sz="1400" dirty="0"/>
          </a:p>
        </p:txBody>
      </p:sp>
      <p:sp>
        <p:nvSpPr>
          <p:cNvPr id="10" name="Tarjeta"/>
          <p:cNvSpPr/>
          <p:nvPr/>
        </p:nvSpPr>
        <p:spPr>
          <a:xfrm>
            <a:off x="6035040" y="1188720"/>
            <a:ext cx="2606040" cy="1554480"/>
          </a:xfrm>
          <a:prstGeom prst="roundRect">
            <a:avLst>
              <a:gd name="adj" fmla="val 5882"/>
            </a:avLst>
          </a:prstGeom>
          <a:solidFill>
            <a:schemeClr val="bg2"/>
          </a:solidFill>
          <a:ln w="12700">
            <a:solidFill>
              <a:schemeClr val="bg2"/>
            </a:solidFill>
            <a:prstDash val="solid"/>
          </a:ln>
        </p:spPr>
        <p:txBody>
          <a:bodyPr/>
          <a:p/>
        </p:txBody>
      </p:sp>
      <p:sp>
        <p:nvSpPr>
          <p:cNvPr id="11" name="Text 8"/>
          <p:cNvSpPr txBox="1"/>
          <p:nvPr/>
        </p:nvSpPr>
        <p:spPr>
          <a:xfrm>
            <a:off x="6217920" y="1298448"/>
            <a:ext cx="2240280" cy="365760"/>
          </a:xfrm>
          <a:prstGeom prst="rect">
            <a:avLst/>
          </a:prstGeom>
          <a:noFill/>
          <a:ln/>
        </p:spPr>
        <p:txBody>
          <a:bodyPr wrap="square" lIns="0" tIns="0" rIns="0" bIns="0" rtlCol="0" anchor="t"/>
          <a:lstStyle/>
          <a:p>
            <a:pPr indent="0" marL="0">
              <a:buNone/>
            </a:pPr>
            <a:r>
              <a:rPr lang="en-US" sz="1700" b="1" dirty="0">
                <a:solidFill>
                  <a:schemeClr val="tx2"/>
                </a:solidFill>
              </a:rPr>
              <a:t>Contraseñas</a:t>
            </a:r>
            <a:endParaRPr lang="en-US" sz="1700" dirty="0"/>
          </a:p>
        </p:txBody>
      </p:sp>
      <p:sp>
        <p:nvSpPr>
          <p:cNvPr id="12" name="Text 9"/>
          <p:cNvSpPr txBox="1"/>
          <p:nvPr/>
        </p:nvSpPr>
        <p:spPr>
          <a:xfrm>
            <a:off x="6217920" y="1737360"/>
            <a:ext cx="2240280" cy="914400"/>
          </a:xfrm>
          <a:prstGeom prst="rect">
            <a:avLst/>
          </a:prstGeom>
          <a:noFill/>
          <a:ln/>
        </p:spPr>
        <p:txBody>
          <a:bodyPr wrap="square" lIns="0" tIns="0" rIns="0" bIns="0" rtlCol="0" anchor="t"/>
          <a:lstStyle/>
          <a:p>
            <a:pPr indent="0" marL="0">
              <a:buNone/>
            </a:pPr>
            <a:r>
              <a:rPr lang="en-US" sz="1400" dirty="0">
                <a:solidFill>
                  <a:schemeClr val="tx1"/>
                </a:solidFill>
              </a:rPr>
              <a:t>Argon2id y bloqueo por intentos fallidos</a:t>
            </a:r>
            <a:endParaRPr lang="en-US" sz="1400" dirty="0"/>
          </a:p>
        </p:txBody>
      </p:sp>
      <p:sp>
        <p:nvSpPr>
          <p:cNvPr id="13" name="Tarjeta"/>
          <p:cNvSpPr/>
          <p:nvPr/>
        </p:nvSpPr>
        <p:spPr>
          <a:xfrm>
            <a:off x="457200" y="2926080"/>
            <a:ext cx="2606040" cy="1554480"/>
          </a:xfrm>
          <a:prstGeom prst="roundRect">
            <a:avLst>
              <a:gd name="adj" fmla="val 5882"/>
            </a:avLst>
          </a:prstGeom>
          <a:solidFill>
            <a:schemeClr val="bg2"/>
          </a:solidFill>
          <a:ln w="12700">
            <a:solidFill>
              <a:schemeClr val="bg2"/>
            </a:solidFill>
            <a:prstDash val="solid"/>
          </a:ln>
        </p:spPr>
        <p:txBody>
          <a:bodyPr/>
          <a:p/>
        </p:txBody>
      </p:sp>
      <p:sp>
        <p:nvSpPr>
          <p:cNvPr id="14" name="Text 11"/>
          <p:cNvSpPr txBox="1"/>
          <p:nvPr/>
        </p:nvSpPr>
        <p:spPr>
          <a:xfrm>
            <a:off x="640080" y="3035808"/>
            <a:ext cx="2240280" cy="365760"/>
          </a:xfrm>
          <a:prstGeom prst="rect">
            <a:avLst/>
          </a:prstGeom>
          <a:noFill/>
          <a:ln/>
        </p:spPr>
        <p:txBody>
          <a:bodyPr wrap="square" lIns="0" tIns="0" rIns="0" bIns="0" rtlCol="0" anchor="t"/>
          <a:lstStyle/>
          <a:p>
            <a:pPr indent="0" marL="0">
              <a:buNone/>
            </a:pPr>
            <a:r>
              <a:rPr lang="en-US" sz="1700" b="1" dirty="0">
                <a:solidFill>
                  <a:schemeClr val="tx2"/>
                </a:solidFill>
              </a:rPr>
              <a:t>Sesiones</a:t>
            </a:r>
            <a:endParaRPr lang="en-US" sz="1700" dirty="0"/>
          </a:p>
        </p:txBody>
      </p:sp>
      <p:sp>
        <p:nvSpPr>
          <p:cNvPr id="15" name="Text 12"/>
          <p:cNvSpPr txBox="1"/>
          <p:nvPr/>
        </p:nvSpPr>
        <p:spPr>
          <a:xfrm>
            <a:off x="640080" y="3474720"/>
            <a:ext cx="2240280" cy="914400"/>
          </a:xfrm>
          <a:prstGeom prst="rect">
            <a:avLst/>
          </a:prstGeom>
          <a:noFill/>
          <a:ln/>
        </p:spPr>
        <p:txBody>
          <a:bodyPr wrap="square" lIns="0" tIns="0" rIns="0" bIns="0" rtlCol="0" anchor="t"/>
          <a:lstStyle/>
          <a:p>
            <a:pPr indent="0" marL="0">
              <a:buNone/>
            </a:pPr>
            <a:r>
              <a:rPr lang="en-US" sz="1400" dirty="0">
                <a:solidFill>
                  <a:schemeClr val="tx1"/>
                </a:solidFill>
              </a:rPr>
              <a:t>JWT con refresh rotatorio</a:t>
            </a:r>
            <a:endParaRPr lang="en-US" sz="1400" dirty="0"/>
          </a:p>
        </p:txBody>
      </p:sp>
      <p:sp>
        <p:nvSpPr>
          <p:cNvPr id="16" name="Tarjeta"/>
          <p:cNvSpPr/>
          <p:nvPr/>
        </p:nvSpPr>
        <p:spPr>
          <a:xfrm>
            <a:off x="3246120" y="2926080"/>
            <a:ext cx="2606040" cy="1554480"/>
          </a:xfrm>
          <a:prstGeom prst="roundRect">
            <a:avLst>
              <a:gd name="adj" fmla="val 5882"/>
            </a:avLst>
          </a:prstGeom>
          <a:solidFill>
            <a:schemeClr val="bg2"/>
          </a:solidFill>
          <a:ln w="12700">
            <a:solidFill>
              <a:schemeClr val="bg2"/>
            </a:solidFill>
            <a:prstDash val="solid"/>
          </a:ln>
        </p:spPr>
        <p:txBody>
          <a:bodyPr/>
          <a:p/>
        </p:txBody>
      </p:sp>
      <p:sp>
        <p:nvSpPr>
          <p:cNvPr id="17" name="Text 14"/>
          <p:cNvSpPr txBox="1"/>
          <p:nvPr/>
        </p:nvSpPr>
        <p:spPr>
          <a:xfrm>
            <a:off x="3429000" y="3035808"/>
            <a:ext cx="2240280" cy="365760"/>
          </a:xfrm>
          <a:prstGeom prst="rect">
            <a:avLst/>
          </a:prstGeom>
          <a:noFill/>
          <a:ln/>
        </p:spPr>
        <p:txBody>
          <a:bodyPr wrap="square" lIns="0" tIns="0" rIns="0" bIns="0" rtlCol="0" anchor="t"/>
          <a:lstStyle/>
          <a:p>
            <a:pPr indent="0" marL="0">
              <a:buNone/>
            </a:pPr>
            <a:r>
              <a:rPr lang="en-US" sz="1700" b="1" dirty="0">
                <a:solidFill>
                  <a:schemeClr val="tx2"/>
                </a:solidFill>
              </a:rPr>
              <a:t>CORS y secretos</a:t>
            </a:r>
            <a:endParaRPr lang="en-US" sz="1700" dirty="0"/>
          </a:p>
        </p:txBody>
      </p:sp>
      <p:sp>
        <p:nvSpPr>
          <p:cNvPr id="18" name="Text 15"/>
          <p:cNvSpPr txBox="1"/>
          <p:nvPr/>
        </p:nvSpPr>
        <p:spPr>
          <a:xfrm>
            <a:off x="3429000" y="3474720"/>
            <a:ext cx="2240280" cy="914400"/>
          </a:xfrm>
          <a:prstGeom prst="rect">
            <a:avLst/>
          </a:prstGeom>
          <a:noFill/>
          <a:ln/>
        </p:spPr>
        <p:txBody>
          <a:bodyPr wrap="square" lIns="0" tIns="0" rIns="0" bIns="0" rtlCol="0" anchor="t"/>
          <a:lstStyle/>
          <a:p>
            <a:pPr indent="0" marL="0">
              <a:buNone/>
            </a:pPr>
            <a:r>
              <a:rPr lang="en-US" sz="1400" dirty="0">
                <a:solidFill>
                  <a:schemeClr val="tx1"/>
                </a:solidFill>
              </a:rPr>
              <a:t>CORS por entorno; secretos fuera del repo</a:t>
            </a:r>
            <a:endParaRPr lang="en-US" sz="1400" dirty="0"/>
          </a:p>
        </p:txBody>
      </p:sp>
      <p:sp>
        <p:nvSpPr>
          <p:cNvPr id="19" name="Tarjeta"/>
          <p:cNvSpPr/>
          <p:nvPr/>
        </p:nvSpPr>
        <p:spPr>
          <a:xfrm>
            <a:off x="6035040" y="2926080"/>
            <a:ext cx="2606040" cy="1554480"/>
          </a:xfrm>
          <a:prstGeom prst="roundRect">
            <a:avLst>
              <a:gd name="adj" fmla="val 5882"/>
            </a:avLst>
          </a:prstGeom>
          <a:solidFill>
            <a:schemeClr val="bg2"/>
          </a:solidFill>
          <a:ln w="12700">
            <a:solidFill>
              <a:schemeClr val="bg2"/>
            </a:solidFill>
            <a:prstDash val="solid"/>
          </a:ln>
        </p:spPr>
        <p:txBody>
          <a:bodyPr/>
          <a:p/>
        </p:txBody>
      </p:sp>
      <p:sp>
        <p:nvSpPr>
          <p:cNvPr id="20" name="Text 17"/>
          <p:cNvSpPr txBox="1"/>
          <p:nvPr/>
        </p:nvSpPr>
        <p:spPr>
          <a:xfrm>
            <a:off x="6217920" y="3035808"/>
            <a:ext cx="2240280" cy="365760"/>
          </a:xfrm>
          <a:prstGeom prst="rect">
            <a:avLst/>
          </a:prstGeom>
          <a:noFill/>
          <a:ln/>
        </p:spPr>
        <p:txBody>
          <a:bodyPr wrap="square" lIns="0" tIns="0" rIns="0" bIns="0" rtlCol="0" anchor="t"/>
          <a:lstStyle/>
          <a:p>
            <a:pPr indent="0" marL="0">
              <a:buNone/>
            </a:pPr>
            <a:r>
              <a:rPr lang="en-US" sz="1700" b="1" dirty="0">
                <a:solidFill>
                  <a:schemeClr val="tx2"/>
                </a:solidFill>
              </a:rPr>
              <a:t>Tests de seguridad</a:t>
            </a:r>
            <a:endParaRPr lang="en-US" sz="1700" dirty="0"/>
          </a:p>
        </p:txBody>
      </p:sp>
      <p:sp>
        <p:nvSpPr>
          <p:cNvPr id="21" name="Text 18"/>
          <p:cNvSpPr txBox="1"/>
          <p:nvPr/>
        </p:nvSpPr>
        <p:spPr>
          <a:xfrm>
            <a:off x="6217920" y="3474720"/>
            <a:ext cx="2240280" cy="914400"/>
          </a:xfrm>
          <a:prstGeom prst="rect">
            <a:avLst/>
          </a:prstGeom>
          <a:noFill/>
          <a:ln/>
        </p:spPr>
        <p:txBody>
          <a:bodyPr wrap="square" lIns="0" tIns="0" rIns="0" bIns="0" rtlCol="0" anchor="t"/>
          <a:lstStyle/>
          <a:p>
            <a:pPr indent="0" marL="0">
              <a:buNone/>
            </a:pPr>
            <a:r>
              <a:rPr lang="en-US" sz="1400" dirty="0">
                <a:solidFill>
                  <a:schemeClr val="tx1"/>
                </a:solidFill>
              </a:rPr>
              <a:t>Matriz perfiles x módulos y aislamiento</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IA en el producto</a:t>
            </a:r>
            <a:endParaRPr lang="en-US" sz="2800" dirty="0"/>
          </a:p>
        </p:txBody>
      </p:sp>
      <p:sp>
        <p:nvSpPr>
          <p:cNvPr id="4" name="Tarjeta"/>
          <p:cNvSpPr/>
          <p:nvPr/>
        </p:nvSpPr>
        <p:spPr>
          <a:xfrm>
            <a:off x="457200" y="1143000"/>
            <a:ext cx="4023360" cy="1280160"/>
          </a:xfrm>
          <a:prstGeom prst="roundRect">
            <a:avLst>
              <a:gd name="adj" fmla="val 7143"/>
            </a:avLst>
          </a:prstGeom>
          <a:solidFill>
            <a:schemeClr val="bg2"/>
          </a:solidFill>
          <a:ln w="12700">
            <a:solidFill>
              <a:schemeClr val="bg2"/>
            </a:solidFill>
            <a:prstDash val="solid"/>
          </a:ln>
        </p:spPr>
        <p:txBody>
          <a:bodyPr/>
          <a:p/>
        </p:txBody>
      </p:sp>
      <p:sp>
        <p:nvSpPr>
          <p:cNvPr id="5" name="Text 2"/>
          <p:cNvSpPr txBox="1"/>
          <p:nvPr/>
        </p:nvSpPr>
        <p:spPr>
          <a:xfrm>
            <a:off x="640080" y="1252728"/>
            <a:ext cx="3657600" cy="365760"/>
          </a:xfrm>
          <a:prstGeom prst="rect">
            <a:avLst/>
          </a:prstGeom>
          <a:noFill/>
          <a:ln/>
        </p:spPr>
        <p:txBody>
          <a:bodyPr wrap="square" lIns="0" tIns="0" rIns="0" bIns="0" rtlCol="0" anchor="t"/>
          <a:lstStyle/>
          <a:p>
            <a:pPr indent="0" marL="0">
              <a:buNone/>
            </a:pPr>
            <a:r>
              <a:rPr lang="en-US" sz="1700" b="1" dirty="0">
                <a:solidFill>
                  <a:schemeClr val="tx2"/>
                </a:solidFill>
              </a:rPr>
              <a:t>RAG con citas</a:t>
            </a:r>
            <a:endParaRPr lang="en-US" sz="1700" dirty="0"/>
          </a:p>
        </p:txBody>
      </p:sp>
      <p:sp>
        <p:nvSpPr>
          <p:cNvPr id="6" name="Text 3"/>
          <p:cNvSpPr txBox="1"/>
          <p:nvPr/>
        </p:nvSpPr>
        <p:spPr>
          <a:xfrm>
            <a:off x="640080" y="1691640"/>
            <a:ext cx="3657600" cy="640080"/>
          </a:xfrm>
          <a:prstGeom prst="rect">
            <a:avLst/>
          </a:prstGeom>
          <a:noFill/>
          <a:ln/>
        </p:spPr>
        <p:txBody>
          <a:bodyPr wrap="square" lIns="0" tIns="0" rIns="0" bIns="0" rtlCol="0" anchor="t"/>
          <a:lstStyle/>
          <a:p>
            <a:pPr indent="0" marL="0">
              <a:buNone/>
            </a:pPr>
            <a:r>
              <a:rPr lang="en-US" sz="1400" dirty="0">
                <a:solidFill>
                  <a:schemeClr val="tx1"/>
                </a:solidFill>
              </a:rPr>
              <a:t>Búsqueda en pgvector filtrada por cooperativa; respuesta con fuentes</a:t>
            </a:r>
            <a:endParaRPr lang="en-US" sz="1400" dirty="0"/>
          </a:p>
        </p:txBody>
      </p:sp>
      <p:sp>
        <p:nvSpPr>
          <p:cNvPr id="7" name="Tarjeta"/>
          <p:cNvSpPr/>
          <p:nvPr/>
        </p:nvSpPr>
        <p:spPr>
          <a:xfrm>
            <a:off x="4663440" y="1143000"/>
            <a:ext cx="4023360" cy="1280160"/>
          </a:xfrm>
          <a:prstGeom prst="roundRect">
            <a:avLst>
              <a:gd name="adj" fmla="val 7143"/>
            </a:avLst>
          </a:prstGeom>
          <a:solidFill>
            <a:schemeClr val="bg2"/>
          </a:solidFill>
          <a:ln w="12700">
            <a:solidFill>
              <a:schemeClr val="bg2"/>
            </a:solidFill>
            <a:prstDash val="solid"/>
          </a:ln>
        </p:spPr>
        <p:txBody>
          <a:bodyPr/>
          <a:p/>
        </p:txBody>
      </p:sp>
      <p:sp>
        <p:nvSpPr>
          <p:cNvPr id="8" name="Text 5"/>
          <p:cNvSpPr txBox="1"/>
          <p:nvPr/>
        </p:nvSpPr>
        <p:spPr>
          <a:xfrm>
            <a:off x="4846320" y="1252728"/>
            <a:ext cx="3657600" cy="365760"/>
          </a:xfrm>
          <a:prstGeom prst="rect">
            <a:avLst/>
          </a:prstGeom>
          <a:noFill/>
          <a:ln/>
        </p:spPr>
        <p:txBody>
          <a:bodyPr wrap="square" lIns="0" tIns="0" rIns="0" bIns="0" rtlCol="0" anchor="t"/>
          <a:lstStyle/>
          <a:p>
            <a:pPr indent="0" marL="0">
              <a:buNone/>
            </a:pPr>
            <a:r>
              <a:rPr lang="en-US" sz="1700" b="1" dirty="0">
                <a:solidFill>
                  <a:schemeClr val="tx2"/>
                </a:solidFill>
              </a:rPr>
              <a:t>Herramientas de solo lectura</a:t>
            </a:r>
            <a:endParaRPr lang="en-US" sz="1700" dirty="0"/>
          </a:p>
        </p:txBody>
      </p:sp>
      <p:sp>
        <p:nvSpPr>
          <p:cNvPr id="9" name="Text 6"/>
          <p:cNvSpPr txBox="1"/>
          <p:nvPr/>
        </p:nvSpPr>
        <p:spPr>
          <a:xfrm>
            <a:off x="4846320" y="1691640"/>
            <a:ext cx="3657600" cy="640080"/>
          </a:xfrm>
          <a:prstGeom prst="rect">
            <a:avLst/>
          </a:prstGeom>
          <a:noFill/>
          <a:ln/>
        </p:spPr>
        <p:txBody>
          <a:bodyPr wrap="square" lIns="0" tIns="0" rIns="0" bIns="0" rtlCol="0" anchor="t"/>
          <a:lstStyle/>
          <a:p>
            <a:pPr indent="0" marL="0">
              <a:buNone/>
            </a:pPr>
            <a:r>
              <a:rPr lang="en-US" sz="1400" dirty="0">
                <a:solidFill>
                  <a:schemeClr val="tx1"/>
                </a:solidFill>
              </a:rPr>
              <a:t>Reutilizan los casos de uso con los permisos del usuario</a:t>
            </a:r>
            <a:endParaRPr lang="en-US" sz="1400" dirty="0"/>
          </a:p>
        </p:txBody>
      </p:sp>
      <p:sp>
        <p:nvSpPr>
          <p:cNvPr id="10" name="Tarjeta"/>
          <p:cNvSpPr/>
          <p:nvPr/>
        </p:nvSpPr>
        <p:spPr>
          <a:xfrm>
            <a:off x="457200" y="2560320"/>
            <a:ext cx="4023360" cy="1280160"/>
          </a:xfrm>
          <a:prstGeom prst="roundRect">
            <a:avLst>
              <a:gd name="adj" fmla="val 7143"/>
            </a:avLst>
          </a:prstGeom>
          <a:solidFill>
            <a:schemeClr val="bg2"/>
          </a:solidFill>
          <a:ln w="12700">
            <a:solidFill>
              <a:schemeClr val="bg2"/>
            </a:solidFill>
            <a:prstDash val="solid"/>
          </a:ln>
        </p:spPr>
        <p:txBody>
          <a:bodyPr/>
          <a:p/>
        </p:txBody>
      </p:sp>
      <p:sp>
        <p:nvSpPr>
          <p:cNvPr id="11" name="Text 8"/>
          <p:cNvSpPr txBox="1"/>
          <p:nvPr/>
        </p:nvSpPr>
        <p:spPr>
          <a:xfrm>
            <a:off x="640080" y="2670048"/>
            <a:ext cx="3657600" cy="365760"/>
          </a:xfrm>
          <a:prstGeom prst="rect">
            <a:avLst/>
          </a:prstGeom>
          <a:noFill/>
          <a:ln/>
        </p:spPr>
        <p:txBody>
          <a:bodyPr wrap="square" lIns="0" tIns="0" rIns="0" bIns="0" rtlCol="0" anchor="t"/>
          <a:lstStyle/>
          <a:p>
            <a:pPr indent="0" marL="0">
              <a:buNone/>
            </a:pPr>
            <a:r>
              <a:rPr lang="en-US" sz="1700" b="1" dirty="0">
                <a:solidFill>
                  <a:schemeClr val="tx2"/>
                </a:solidFill>
              </a:rPr>
              <a:t>Extracción de facturas</a:t>
            </a:r>
            <a:endParaRPr lang="en-US" sz="1700" dirty="0"/>
          </a:p>
        </p:txBody>
      </p:sp>
      <p:sp>
        <p:nvSpPr>
          <p:cNvPr id="12" name="Text 9"/>
          <p:cNvSpPr txBox="1"/>
          <p:nvPr/>
        </p:nvSpPr>
        <p:spPr>
          <a:xfrm>
            <a:off x="640080" y="3108960"/>
            <a:ext cx="3657600" cy="640080"/>
          </a:xfrm>
          <a:prstGeom prst="rect">
            <a:avLst/>
          </a:prstGeom>
          <a:noFill/>
          <a:ln/>
        </p:spPr>
        <p:txBody>
          <a:bodyPr wrap="square" lIns="0" tIns="0" rIns="0" bIns="0" rtlCol="0" anchor="t"/>
          <a:lstStyle/>
          <a:p>
            <a:pPr indent="0" marL="0">
              <a:buNone/>
            </a:pPr>
            <a:r>
              <a:rPr lang="en-US" sz="1400" dirty="0">
                <a:solidFill>
                  <a:schemeClr val="tx1"/>
                </a:solidFill>
              </a:rPr>
              <a:t>Visión de Gemini, esquema Zod y confirmación humana</a:t>
            </a:r>
            <a:endParaRPr lang="en-US" sz="1400" dirty="0"/>
          </a:p>
        </p:txBody>
      </p:sp>
      <p:sp>
        <p:nvSpPr>
          <p:cNvPr id="13" name="Tarjeta"/>
          <p:cNvSpPr/>
          <p:nvPr/>
        </p:nvSpPr>
        <p:spPr>
          <a:xfrm>
            <a:off x="4663440" y="2560320"/>
            <a:ext cx="4023360" cy="1280160"/>
          </a:xfrm>
          <a:prstGeom prst="roundRect">
            <a:avLst>
              <a:gd name="adj" fmla="val 7143"/>
            </a:avLst>
          </a:prstGeom>
          <a:solidFill>
            <a:schemeClr val="bg2"/>
          </a:solidFill>
          <a:ln w="12700">
            <a:solidFill>
              <a:schemeClr val="bg2"/>
            </a:solidFill>
            <a:prstDash val="solid"/>
          </a:ln>
        </p:spPr>
        <p:txBody>
          <a:bodyPr/>
          <a:p/>
        </p:txBody>
      </p:sp>
      <p:sp>
        <p:nvSpPr>
          <p:cNvPr id="14" name="Text 11"/>
          <p:cNvSpPr txBox="1"/>
          <p:nvPr/>
        </p:nvSpPr>
        <p:spPr>
          <a:xfrm>
            <a:off x="4846320" y="2670048"/>
            <a:ext cx="3657600" cy="365760"/>
          </a:xfrm>
          <a:prstGeom prst="rect">
            <a:avLst/>
          </a:prstGeom>
          <a:noFill/>
          <a:ln/>
        </p:spPr>
        <p:txBody>
          <a:bodyPr wrap="square" lIns="0" tIns="0" rIns="0" bIns="0" rtlCol="0" anchor="t"/>
          <a:lstStyle/>
          <a:p>
            <a:pPr indent="0" marL="0">
              <a:buNone/>
            </a:pPr>
            <a:r>
              <a:rPr lang="en-US" sz="1700" b="1" dirty="0">
                <a:solidFill>
                  <a:schemeClr val="tx2"/>
                </a:solidFill>
              </a:rPr>
              <a:t>Explicar discrepancias</a:t>
            </a:r>
            <a:endParaRPr lang="en-US" sz="1700" dirty="0"/>
          </a:p>
        </p:txBody>
      </p:sp>
      <p:sp>
        <p:nvSpPr>
          <p:cNvPr id="15" name="Text 12"/>
          <p:cNvSpPr txBox="1"/>
          <p:nvPr/>
        </p:nvSpPr>
        <p:spPr>
          <a:xfrm>
            <a:off x="4846320" y="3108960"/>
            <a:ext cx="3657600" cy="640080"/>
          </a:xfrm>
          <a:prstGeom prst="rect">
            <a:avLst/>
          </a:prstGeom>
          <a:noFill/>
          <a:ln/>
        </p:spPr>
        <p:txBody>
          <a:bodyPr wrap="square" lIns="0" tIns="0" rIns="0" bIns="0" rtlCol="0" anchor="t"/>
          <a:lstStyle/>
          <a:p>
            <a:pPr indent="0" marL="0">
              <a:buNone/>
            </a:pPr>
            <a:r>
              <a:rPr lang="en-US" sz="1400" dirty="0">
                <a:solidFill>
                  <a:schemeClr val="tx1"/>
                </a:solidFill>
              </a:rPr>
              <a:t>Lenguaje natural, con minimización de datos</a:t>
            </a:r>
            <a:endParaRPr lang="en-US" sz="1400" dirty="0"/>
          </a:p>
        </p:txBody>
      </p:sp>
      <p:sp>
        <p:nvSpPr>
          <p:cNvPr id="16" name="Text 13"/>
          <p:cNvSpPr txBox="1"/>
          <p:nvPr/>
        </p:nvSpPr>
        <p:spPr>
          <a:xfrm>
            <a:off x="457200" y="4114800"/>
            <a:ext cx="8229600" cy="365760"/>
          </a:xfrm>
          <a:prstGeom prst="rect">
            <a:avLst/>
          </a:prstGeom>
          <a:noFill/>
          <a:ln/>
        </p:spPr>
        <p:txBody>
          <a:bodyPr wrap="square" lIns="0" tIns="0" rIns="0" bIns="0" rtlCol="0" anchor="ctr"/>
          <a:lstStyle/>
          <a:p>
            <a:pPr indent="0" marL="0">
              <a:buNone/>
            </a:pPr>
            <a:r>
              <a:rPr lang="en-US" sz="1300" i="1" dirty="0">
                <a:solidFill>
                  <a:schemeClr val="accent6"/>
                </a:solidFill>
              </a:rPr>
              <a:t>Embeddings: local con Ollama (bge-m3) en desarrollo · Gemini en la demo alojada</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IA en el proceso de desarrollo</a:t>
            </a:r>
            <a:endParaRPr lang="en-US" sz="2800" dirty="0"/>
          </a:p>
        </p:txBody>
      </p:sp>
      <p:sp>
        <p:nvSpPr>
          <p:cNvPr id="4" name="Shape 1"/>
          <p:cNvSpPr/>
          <p:nvPr/>
        </p:nvSpPr>
        <p:spPr>
          <a:xfrm>
            <a:off x="457200" y="1188720"/>
            <a:ext cx="2834640" cy="3200400"/>
          </a:xfrm>
          <a:prstGeom prst="roundRect">
            <a:avLst>
              <a:gd name="adj" fmla="val 3226"/>
            </a:avLst>
          </a:prstGeom>
          <a:solidFill>
            <a:schemeClr val="accent1"/>
          </a:solidFill>
          <a:ln w="12700">
            <a:solidFill>
              <a:schemeClr val="accent1"/>
            </a:solidFill>
            <a:prstDash val="solid"/>
          </a:ln>
        </p:spPr>
        <p:txBody>
          <a:bodyPr/>
          <a:p/>
        </p:txBody>
      </p:sp>
      <p:sp>
        <p:nvSpPr>
          <p:cNvPr id="5" name="Text 2"/>
          <p:cNvSpPr txBox="1"/>
          <p:nvPr/>
        </p:nvSpPr>
        <p:spPr>
          <a:xfrm>
            <a:off x="457200" y="1463040"/>
            <a:ext cx="2834640" cy="914400"/>
          </a:xfrm>
          <a:prstGeom prst="rect">
            <a:avLst/>
          </a:prstGeom>
          <a:noFill/>
          <a:ln/>
        </p:spPr>
        <p:txBody>
          <a:bodyPr wrap="square" lIns="0" tIns="0" rIns="0" bIns="0" rtlCol="0" anchor="ctr"/>
          <a:lstStyle/>
          <a:p>
            <a:pPr algn="ctr" indent="0" marL="0">
              <a:buNone/>
            </a:pPr>
            <a:r>
              <a:rPr lang="en-US" sz="4800" b="1" dirty="0">
                <a:solidFill>
                  <a:schemeClr val="accent2"/>
                </a:solidFill>
                <a:latin typeface="Cambria" pitchFamily="34" charset="0"/>
                <a:ea typeface="Cambria" pitchFamily="34" charset="-122"/>
                <a:cs typeface="Cambria" pitchFamily="34" charset="-120"/>
              </a:rPr>
              <a:t>60 / 61</a:t>
            </a:r>
            <a:endParaRPr lang="en-US" sz="4800" dirty="0"/>
          </a:p>
        </p:txBody>
      </p:sp>
      <p:sp>
        <p:nvSpPr>
          <p:cNvPr id="6" name="Text 3"/>
          <p:cNvSpPr txBox="1"/>
          <p:nvPr/>
        </p:nvSpPr>
        <p:spPr>
          <a:xfrm>
            <a:off x="685800" y="2468880"/>
            <a:ext cx="2377440" cy="731520"/>
          </a:xfrm>
          <a:prstGeom prst="rect">
            <a:avLst/>
          </a:prstGeom>
          <a:noFill/>
          <a:ln/>
        </p:spPr>
        <p:txBody>
          <a:bodyPr wrap="square" lIns="0" tIns="0" rIns="0" bIns="0" rtlCol="0" anchor="ctr"/>
          <a:lstStyle/>
          <a:p>
            <a:pPr algn="ctr" indent="0" marL="0">
              <a:buNone/>
            </a:pPr>
            <a:r>
              <a:rPr lang="en-US" sz="1600" dirty="0">
                <a:solidFill>
                  <a:schemeClr val="bg1"/>
                </a:solidFill>
              </a:rPr>
              <a:t>commits co-autorados con Claude (98 %)</a:t>
            </a:r>
            <a:endParaRPr lang="en-US" sz="1600" dirty="0"/>
          </a:p>
        </p:txBody>
      </p:sp>
      <p:sp>
        <p:nvSpPr>
          <p:cNvPr id="7" name="Text 4"/>
          <p:cNvSpPr txBox="1"/>
          <p:nvPr/>
        </p:nvSpPr>
        <p:spPr>
          <a:xfrm>
            <a:off x="685800" y="3383280"/>
            <a:ext cx="2377440" cy="731520"/>
          </a:xfrm>
          <a:prstGeom prst="rect">
            <a:avLst/>
          </a:prstGeom>
          <a:noFill/>
          <a:ln/>
        </p:spPr>
        <p:txBody>
          <a:bodyPr wrap="square" lIns="0" tIns="0" rIns="0" bIns="0" rtlCol="0" anchor="ctr"/>
          <a:lstStyle/>
          <a:p>
            <a:pPr algn="ctr" indent="0" marL="0">
              <a:buNone/>
            </a:pPr>
            <a:r>
              <a:rPr lang="en-US" sz="1400" dirty="0">
                <a:solidFill>
                  <a:schemeClr val="accent4"/>
                </a:solidFill>
              </a:rPr>
              <a:t>54 historias de usuario</a:t>
            </a:r>
            <a:endParaRPr lang="en-US" sz="1400" dirty="0"/>
          </a:p>
          <a:p>
            <a:pPr algn="ctr" indent="0" marL="0">
              <a:buNone/>
            </a:pPr>
            <a:r>
              <a:rPr lang="en-US" sz="1400" dirty="0">
                <a:solidFill>
                  <a:schemeClr val="accent4"/>
                </a:solidFill>
              </a:rPr>
              <a:t>11 ADR</a:t>
            </a:r>
            <a:endParaRPr lang="en-US" sz="1400" dirty="0"/>
          </a:p>
        </p:txBody>
      </p:sp>
      <p:sp>
        <p:nvSpPr>
          <p:cNvPr id="8" name="Text 5"/>
          <p:cNvSpPr txBox="1"/>
          <p:nvPr/>
        </p:nvSpPr>
        <p:spPr>
          <a:xfrm>
            <a:off x="3611880" y="1188720"/>
            <a:ext cx="5074920" cy="3291840"/>
          </a:xfrm>
          <a:prstGeom prst="rect">
            <a:avLst/>
          </a:prstGeom>
          <a:noFill/>
          <a:ln/>
        </p:spPr>
        <p:txBody>
          <a:bodyPr wrap="square" lIns="0" tIns="0" rIns="0" bIns="0" rtlCol="0" anchor="t"/>
          <a:lstStyle/>
          <a:p>
            <a:pPr marL="342900" indent="-342900">
              <a:spcAft>
                <a:spcPts val="900"/>
              </a:spcAft>
              <a:buSzPct val="100000"/>
              <a:buChar char="•"/>
            </a:pPr>
            <a:r>
              <a:rPr lang="en-US" sz="1700" dirty="0">
                <a:solidFill>
                  <a:schemeClr val="tx1"/>
                </a:solidFill>
              </a:rPr>
              <a:t>Spec Driven Development: especificación antes del código</a:t>
            </a:r>
            <a:endParaRPr lang="en-US" sz="1700" dirty="0"/>
          </a:p>
          <a:p>
            <a:pPr marL="342900" indent="-342900">
              <a:spcAft>
                <a:spcPts val="900"/>
              </a:spcAft>
              <a:buSzPct val="100000"/>
              <a:buChar char="•"/>
            </a:pPr>
            <a:r>
              <a:rPr lang="en-US" sz="1700" dirty="0">
                <a:solidFill>
                  <a:schemeClr val="tx1"/>
                </a:solidFill>
              </a:rPr>
              <a:t>CLAUDE.md como contrato con el agente</a:t>
            </a:r>
            <a:endParaRPr lang="en-US" sz="1700" dirty="0"/>
          </a:p>
          <a:p>
            <a:pPr marL="342900" indent="-342900">
              <a:spcAft>
                <a:spcPts val="900"/>
              </a:spcAft>
              <a:buSzPct val="100000"/>
              <a:buChar char="•"/>
            </a:pPr>
            <a:r>
              <a:rPr lang="en-US" sz="1700" dirty="0">
                <a:solidFill>
                  <a:schemeClr val="tx1"/>
                </a:solidFill>
              </a:rPr>
              <a:t>TDD en el dominio</a:t>
            </a:r>
            <a:endParaRPr lang="en-US" sz="1700" dirty="0"/>
          </a:p>
          <a:p>
            <a:pPr marL="342900" indent="-342900">
              <a:spcAft>
                <a:spcPts val="900"/>
              </a:spcAft>
              <a:buSzPct val="100000"/>
              <a:buChar char="•"/>
            </a:pPr>
            <a:r>
              <a:rPr lang="en-US" sz="1700" dirty="0">
                <a:solidFill>
                  <a:schemeClr val="tx1"/>
                </a:solidFill>
              </a:rPr>
              <a:t>IDs de requisitos en tests y commits</a:t>
            </a:r>
            <a:endParaRPr lang="en-US" sz="1700" dirty="0"/>
          </a:p>
          <a:p>
            <a:pPr marL="342900" indent="-342900">
              <a:spcAft>
                <a:spcPts val="900"/>
              </a:spcAft>
              <a:buSzPct val="100000"/>
              <a:buChar char="•"/>
            </a:pPr>
            <a:r>
              <a:rPr lang="en-US" sz="1700" dirty="0">
                <a:solidFill>
                  <a:schemeClr val="tx1"/>
                </a:solidFill>
              </a:rPr>
              <a:t>Regla ESLint de fronteras entre módulos</a:t>
            </a:r>
            <a:endParaRPr lang="en-US" sz="1700" dirty="0"/>
          </a:p>
          <a:p>
            <a:pPr marL="342900" indent="-342900">
              <a:spcAft>
                <a:spcPts val="900"/>
              </a:spcAft>
              <a:buSzPct val="100000"/>
              <a:buChar char="•"/>
            </a:pPr>
            <a:r>
              <a:rPr lang="en-US" sz="1700" dirty="0">
                <a:solidFill>
                  <a:schemeClr val="tx1"/>
                </a:solidFill>
              </a:rPr>
              <a:t>Agentes en paralelo con git worktrees</a:t>
            </a:r>
            <a:endParaRPr lang="en-US" sz="17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Calidad</a:t>
            </a:r>
            <a:endParaRPr lang="en-US" sz="2800" dirty="0"/>
          </a:p>
        </p:txBody>
      </p:sp>
      <p:sp>
        <p:nvSpPr>
          <p:cNvPr id="4" name="Shape 1"/>
          <p:cNvSpPr/>
          <p:nvPr/>
        </p:nvSpPr>
        <p:spPr>
          <a:xfrm>
            <a:off x="457200" y="1188720"/>
            <a:ext cx="3017520" cy="1463040"/>
          </a:xfrm>
          <a:prstGeom prst="roundRect">
            <a:avLst>
              <a:gd name="adj" fmla="val 6250"/>
            </a:avLst>
          </a:prstGeom>
          <a:solidFill>
            <a:schemeClr val="accent1"/>
          </a:solidFill>
          <a:ln w="12700">
            <a:solidFill>
              <a:schemeClr val="accent1"/>
            </a:solidFill>
            <a:prstDash val="solid"/>
          </a:ln>
        </p:spPr>
        <p:txBody>
          <a:bodyPr/>
          <a:p/>
        </p:txBody>
      </p:sp>
      <p:sp>
        <p:nvSpPr>
          <p:cNvPr id="5" name="Text 2"/>
          <p:cNvSpPr txBox="1"/>
          <p:nvPr/>
        </p:nvSpPr>
        <p:spPr>
          <a:xfrm>
            <a:off x="457200" y="1280160"/>
            <a:ext cx="3017520" cy="777240"/>
          </a:xfrm>
          <a:prstGeom prst="rect">
            <a:avLst/>
          </a:prstGeom>
          <a:noFill/>
          <a:ln/>
        </p:spPr>
        <p:txBody>
          <a:bodyPr wrap="square" lIns="0" tIns="0" rIns="0" bIns="0" rtlCol="0" anchor="ctr"/>
          <a:lstStyle/>
          <a:p>
            <a:pPr algn="ctr" indent="0" marL="0">
              <a:buNone/>
            </a:pPr>
            <a:r>
              <a:rPr lang="en-US" sz="4600" b="1" dirty="0">
                <a:solidFill>
                  <a:schemeClr val="accent2"/>
                </a:solidFill>
                <a:latin typeface="Cambria" pitchFamily="34" charset="0"/>
                <a:ea typeface="Cambria" pitchFamily="34" charset="-122"/>
                <a:cs typeface="Cambria" pitchFamily="34" charset="-120"/>
              </a:rPr>
              <a:t>649</a:t>
            </a:r>
            <a:endParaRPr lang="en-US" sz="4600" dirty="0"/>
          </a:p>
        </p:txBody>
      </p:sp>
      <p:sp>
        <p:nvSpPr>
          <p:cNvPr id="6" name="Text 3"/>
          <p:cNvSpPr txBox="1"/>
          <p:nvPr/>
        </p:nvSpPr>
        <p:spPr>
          <a:xfrm>
            <a:off x="548640" y="2057400"/>
            <a:ext cx="2834640" cy="502920"/>
          </a:xfrm>
          <a:prstGeom prst="rect">
            <a:avLst/>
          </a:prstGeom>
          <a:noFill/>
          <a:ln/>
        </p:spPr>
        <p:txBody>
          <a:bodyPr wrap="square" lIns="0" tIns="0" rIns="0" bIns="0" rtlCol="0" anchor="ctr"/>
          <a:lstStyle/>
          <a:p>
            <a:pPr algn="ctr" indent="0" marL="0">
              <a:buNone/>
            </a:pPr>
            <a:r>
              <a:rPr lang="en-US" sz="1400" dirty="0">
                <a:solidFill>
                  <a:schemeClr val="bg1"/>
                </a:solidFill>
              </a:rPr>
              <a:t>tests unitarios en 68 ficheros</a:t>
            </a:r>
            <a:endParaRPr lang="en-US" sz="1400" dirty="0"/>
          </a:p>
        </p:txBody>
      </p:sp>
      <p:sp>
        <p:nvSpPr>
          <p:cNvPr id="7" name="Shape 4"/>
          <p:cNvSpPr/>
          <p:nvPr/>
        </p:nvSpPr>
        <p:spPr>
          <a:xfrm>
            <a:off x="457200" y="2834640"/>
            <a:ext cx="3017520" cy="1463040"/>
          </a:xfrm>
          <a:prstGeom prst="roundRect">
            <a:avLst>
              <a:gd name="adj" fmla="val 6250"/>
            </a:avLst>
          </a:prstGeom>
          <a:solidFill>
            <a:schemeClr val="accent1"/>
          </a:solidFill>
          <a:ln w="12700">
            <a:solidFill>
              <a:schemeClr val="accent1"/>
            </a:solidFill>
            <a:prstDash val="solid"/>
          </a:ln>
        </p:spPr>
        <p:txBody>
          <a:bodyPr/>
          <a:p/>
        </p:txBody>
      </p:sp>
      <p:sp>
        <p:nvSpPr>
          <p:cNvPr id="8" name="Text 5"/>
          <p:cNvSpPr txBox="1"/>
          <p:nvPr/>
        </p:nvSpPr>
        <p:spPr>
          <a:xfrm>
            <a:off x="457200" y="2926080"/>
            <a:ext cx="3017520" cy="777240"/>
          </a:xfrm>
          <a:prstGeom prst="rect">
            <a:avLst/>
          </a:prstGeom>
          <a:noFill/>
          <a:ln/>
        </p:spPr>
        <p:txBody>
          <a:bodyPr wrap="square" lIns="0" tIns="0" rIns="0" bIns="0" rtlCol="0" anchor="ctr"/>
          <a:lstStyle/>
          <a:p>
            <a:pPr algn="ctr" indent="0" marL="0">
              <a:buNone/>
            </a:pPr>
            <a:r>
              <a:rPr lang="en-US" sz="4600" b="1" dirty="0">
                <a:solidFill>
                  <a:schemeClr val="accent2"/>
                </a:solidFill>
                <a:latin typeface="Cambria" pitchFamily="34" charset="0"/>
                <a:ea typeface="Cambria" pitchFamily="34" charset="-122"/>
                <a:cs typeface="Cambria" pitchFamily="34" charset="-120"/>
              </a:rPr>
              <a:t>20</a:t>
            </a:r>
            <a:endParaRPr lang="en-US" sz="4600" dirty="0"/>
          </a:p>
        </p:txBody>
      </p:sp>
      <p:sp>
        <p:nvSpPr>
          <p:cNvPr id="9" name="Text 6"/>
          <p:cNvSpPr txBox="1"/>
          <p:nvPr/>
        </p:nvSpPr>
        <p:spPr>
          <a:xfrm>
            <a:off x="548640" y="3703320"/>
            <a:ext cx="2834640" cy="502920"/>
          </a:xfrm>
          <a:prstGeom prst="rect">
            <a:avLst/>
          </a:prstGeom>
          <a:noFill/>
          <a:ln/>
        </p:spPr>
        <p:txBody>
          <a:bodyPr wrap="square" lIns="0" tIns="0" rIns="0" bIns="0" rtlCol="0" anchor="ctr"/>
          <a:lstStyle/>
          <a:p>
            <a:pPr algn="ctr" indent="0" marL="0">
              <a:buNone/>
            </a:pPr>
            <a:r>
              <a:rPr lang="en-US" sz="1400" dirty="0">
                <a:solidFill>
                  <a:schemeClr val="bg1"/>
                </a:solidFill>
              </a:rPr>
              <a:t>preguntas de evaluación del asistente (20/20 con Gemini real)</a:t>
            </a:r>
            <a:endParaRPr lang="en-US" sz="1400" dirty="0"/>
          </a:p>
        </p:txBody>
      </p:sp>
      <p:sp>
        <p:nvSpPr>
          <p:cNvPr id="10" name="Tarjeta"/>
          <p:cNvSpPr/>
          <p:nvPr/>
        </p:nvSpPr>
        <p:spPr>
          <a:xfrm>
            <a:off x="3749040" y="1188720"/>
            <a:ext cx="4937760" cy="868680"/>
          </a:xfrm>
          <a:prstGeom prst="roundRect">
            <a:avLst>
              <a:gd name="adj" fmla="val 10526"/>
            </a:avLst>
          </a:prstGeom>
          <a:solidFill>
            <a:schemeClr val="bg2"/>
          </a:solidFill>
          <a:ln w="12700">
            <a:solidFill>
              <a:schemeClr val="bg2"/>
            </a:solidFill>
            <a:prstDash val="solid"/>
          </a:ln>
        </p:spPr>
        <p:txBody>
          <a:bodyPr/>
          <a:p/>
        </p:txBody>
      </p:sp>
      <p:sp>
        <p:nvSpPr>
          <p:cNvPr id="11" name="Text 8"/>
          <p:cNvSpPr txBox="1"/>
          <p:nvPr/>
        </p:nvSpPr>
        <p:spPr>
          <a:xfrm>
            <a:off x="3931920" y="1298448"/>
            <a:ext cx="4572000" cy="365760"/>
          </a:xfrm>
          <a:prstGeom prst="rect">
            <a:avLst/>
          </a:prstGeom>
          <a:noFill/>
          <a:ln/>
        </p:spPr>
        <p:txBody>
          <a:bodyPr wrap="square" lIns="0" tIns="0" rIns="0" bIns="0" rtlCol="0" anchor="t"/>
          <a:lstStyle/>
          <a:p>
            <a:pPr indent="0" marL="0">
              <a:buNone/>
            </a:pPr>
            <a:r>
              <a:rPr lang="en-US" sz="1600" b="1" dirty="0">
                <a:solidFill>
                  <a:schemeClr val="tx2"/>
                </a:solidFill>
              </a:rPr>
              <a:t>Puerta de calidad local</a:t>
            </a:r>
            <a:endParaRPr lang="en-US" sz="1600" dirty="0"/>
          </a:p>
        </p:txBody>
      </p:sp>
      <p:sp>
        <p:nvSpPr>
          <p:cNvPr id="12" name="Text 9"/>
          <p:cNvSpPr txBox="1"/>
          <p:nvPr/>
        </p:nvSpPr>
        <p:spPr>
          <a:xfrm>
            <a:off x="3931920" y="1737360"/>
            <a:ext cx="4572000" cy="228600"/>
          </a:xfrm>
          <a:prstGeom prst="rect">
            <a:avLst/>
          </a:prstGeom>
          <a:noFill/>
          <a:ln/>
        </p:spPr>
        <p:txBody>
          <a:bodyPr wrap="square" lIns="0" tIns="0" rIns="0" bIns="0" rtlCol="0" anchor="t"/>
          <a:lstStyle/>
          <a:p>
            <a:pPr indent="0" marL="0">
              <a:buNone/>
            </a:pPr>
            <a:r>
              <a:rPr lang="en-US" sz="1400" dirty="0">
                <a:solidFill>
                  <a:schemeClr val="tx1"/>
                </a:solidFill>
              </a:rPr>
              <a:t>Husky: lint, typecheck y tests en el pre-commit</a:t>
            </a:r>
            <a:endParaRPr lang="en-US" sz="1400" dirty="0"/>
          </a:p>
        </p:txBody>
      </p:sp>
      <p:sp>
        <p:nvSpPr>
          <p:cNvPr id="13" name="Tarjeta"/>
          <p:cNvSpPr/>
          <p:nvPr/>
        </p:nvSpPr>
        <p:spPr>
          <a:xfrm>
            <a:off x="3749040" y="2194560"/>
            <a:ext cx="4937760" cy="868680"/>
          </a:xfrm>
          <a:prstGeom prst="roundRect">
            <a:avLst>
              <a:gd name="adj" fmla="val 10526"/>
            </a:avLst>
          </a:prstGeom>
          <a:solidFill>
            <a:schemeClr val="bg2"/>
          </a:solidFill>
          <a:ln w="12700">
            <a:solidFill>
              <a:schemeClr val="bg2"/>
            </a:solidFill>
            <a:prstDash val="solid"/>
          </a:ln>
        </p:spPr>
        <p:txBody>
          <a:bodyPr/>
          <a:p/>
        </p:txBody>
      </p:sp>
      <p:sp>
        <p:nvSpPr>
          <p:cNvPr id="14" name="Text 11"/>
          <p:cNvSpPr txBox="1"/>
          <p:nvPr/>
        </p:nvSpPr>
        <p:spPr>
          <a:xfrm>
            <a:off x="3931920" y="2304288"/>
            <a:ext cx="4572000" cy="365760"/>
          </a:xfrm>
          <a:prstGeom prst="rect">
            <a:avLst/>
          </a:prstGeom>
          <a:noFill/>
          <a:ln/>
        </p:spPr>
        <p:txBody>
          <a:bodyPr wrap="square" lIns="0" tIns="0" rIns="0" bIns="0" rtlCol="0" anchor="t"/>
          <a:lstStyle/>
          <a:p>
            <a:pPr indent="0" marL="0">
              <a:buNone/>
            </a:pPr>
            <a:r>
              <a:rPr lang="en-US" sz="1600" b="1" dirty="0">
                <a:solidFill>
                  <a:schemeClr val="tx2"/>
                </a:solidFill>
              </a:rPr>
              <a:t>CI en GitHub Actions</a:t>
            </a:r>
            <a:endParaRPr lang="en-US" sz="1600" dirty="0"/>
          </a:p>
        </p:txBody>
      </p:sp>
      <p:sp>
        <p:nvSpPr>
          <p:cNvPr id="15" name="Text 12"/>
          <p:cNvSpPr txBox="1"/>
          <p:nvPr/>
        </p:nvSpPr>
        <p:spPr>
          <a:xfrm>
            <a:off x="3931920" y="2743200"/>
            <a:ext cx="4572000" cy="228600"/>
          </a:xfrm>
          <a:prstGeom prst="rect">
            <a:avLst/>
          </a:prstGeom>
          <a:noFill/>
          <a:ln/>
        </p:spPr>
        <p:txBody>
          <a:bodyPr wrap="square" lIns="0" tIns="0" rIns="0" bIns="0" rtlCol="0" anchor="t"/>
          <a:lstStyle/>
          <a:p>
            <a:pPr indent="0" marL="0">
              <a:buNone/>
            </a:pPr>
            <a:r>
              <a:rPr lang="en-US" sz="1400" dirty="0">
                <a:solidFill>
                  <a:schemeClr val="tx1"/>
                </a:solidFill>
              </a:rPr>
              <a:t>Formato, lint, typecheck, tests y migraciones</a:t>
            </a:r>
            <a:endParaRPr lang="en-US" sz="1400" dirty="0"/>
          </a:p>
        </p:txBody>
      </p:sp>
      <p:sp>
        <p:nvSpPr>
          <p:cNvPr id="16" name="Tarjeta"/>
          <p:cNvSpPr/>
          <p:nvPr/>
        </p:nvSpPr>
        <p:spPr>
          <a:xfrm>
            <a:off x="3749040" y="3200400"/>
            <a:ext cx="4937760" cy="1005840"/>
          </a:xfrm>
          <a:prstGeom prst="roundRect">
            <a:avLst>
              <a:gd name="adj" fmla="val 9091"/>
            </a:avLst>
          </a:prstGeom>
          <a:solidFill>
            <a:schemeClr val="bg2"/>
          </a:solidFill>
          <a:ln w="12700">
            <a:solidFill>
              <a:schemeClr val="bg2"/>
            </a:solidFill>
            <a:prstDash val="solid"/>
          </a:ln>
        </p:spPr>
        <p:txBody>
          <a:bodyPr/>
          <a:p/>
        </p:txBody>
      </p:sp>
      <p:sp>
        <p:nvSpPr>
          <p:cNvPr id="17" name="Text 14"/>
          <p:cNvSpPr txBox="1"/>
          <p:nvPr/>
        </p:nvSpPr>
        <p:spPr>
          <a:xfrm>
            <a:off x="3931920" y="3310128"/>
            <a:ext cx="4572000" cy="365760"/>
          </a:xfrm>
          <a:prstGeom prst="rect">
            <a:avLst/>
          </a:prstGeom>
          <a:noFill/>
          <a:ln/>
        </p:spPr>
        <p:txBody>
          <a:bodyPr wrap="square" lIns="0" tIns="0" rIns="0" bIns="0" rtlCol="0" anchor="t"/>
          <a:lstStyle/>
          <a:p>
            <a:pPr indent="0" marL="0">
              <a:buNone/>
            </a:pPr>
            <a:r>
              <a:rPr lang="en-US" sz="1600" b="1" dirty="0">
                <a:solidFill>
                  <a:schemeClr val="tx2"/>
                </a:solidFill>
              </a:rPr>
              <a:t>364 tests de integración</a:t>
            </a:r>
            <a:endParaRPr lang="en-US" sz="1600" dirty="0"/>
          </a:p>
        </p:txBody>
      </p:sp>
      <p:sp>
        <p:nvSpPr>
          <p:cNvPr id="18" name="Text 15"/>
          <p:cNvSpPr txBox="1"/>
          <p:nvPr/>
        </p:nvSpPr>
        <p:spPr>
          <a:xfrm>
            <a:off x="3931920" y="3749040"/>
            <a:ext cx="4572000" cy="365760"/>
          </a:xfrm>
          <a:prstGeom prst="rect">
            <a:avLst/>
          </a:prstGeom>
          <a:noFill/>
          <a:ln/>
        </p:spPr>
        <p:txBody>
          <a:bodyPr wrap="square" lIns="0" tIns="0" rIns="0" bIns="0" rtlCol="0" anchor="t"/>
          <a:lstStyle/>
          <a:p>
            <a:pPr indent="0" marL="0">
              <a:buNone/>
            </a:pPr>
            <a:r>
              <a:rPr lang="en-US" sz="1400" dirty="0">
                <a:solidFill>
                  <a:schemeClr val="tx1"/>
                </a:solidFill>
              </a:rPr>
              <a:t>Contra PostgreSQL y S3 reales, incluido el aislamiento entre cooperativas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Despliegue gratuito y sin tarjeta</a:t>
            </a:r>
            <a:endParaRPr lang="en-US" sz="2800" dirty="0"/>
          </a:p>
        </p:txBody>
      </p:sp>
      <p:sp>
        <p:nvSpPr>
          <p:cNvPr id="4" name="Nodo"/>
          <p:cNvSpPr/>
          <p:nvPr/>
        </p:nvSpPr>
        <p:spPr>
          <a:xfrm>
            <a:off x="457200" y="1371600"/>
            <a:ext cx="1828800" cy="822960"/>
          </a:xfrm>
          <a:prstGeom prst="roundRect">
            <a:avLst>
              <a:gd name="adj" fmla="val 8889"/>
            </a:avLst>
          </a:prstGeom>
          <a:solidFill>
            <a:schemeClr val="accent3"/>
          </a:solidFill>
          <a:ln w="12700">
            <a:solidFill>
              <a:schemeClr val="accent3"/>
            </a:solidFill>
            <a:prstDash val="solid"/>
          </a:ln>
        </p:spPr>
        <p:txBody>
          <a:bodyPr/>
          <a:p/>
        </p:txBody>
      </p:sp>
      <p:sp>
        <p:nvSpPr>
          <p:cNvPr id="5" name="Text 2"/>
          <p:cNvSpPr txBox="1"/>
          <p:nvPr/>
        </p:nvSpPr>
        <p:spPr>
          <a:xfrm>
            <a:off x="457200" y="1371600"/>
            <a:ext cx="1828800" cy="822960"/>
          </a:xfrm>
          <a:prstGeom prst="rect">
            <a:avLst/>
          </a:prstGeom>
          <a:noFill/>
          <a:ln/>
        </p:spPr>
        <p:txBody>
          <a:bodyPr wrap="square" lIns="508" tIns="508" rIns="508" bIns="508" rtlCol="0" anchor="ctr"/>
          <a:lstStyle/>
          <a:p>
            <a:pPr algn="ctr" indent="0" marL="0">
              <a:buNone/>
            </a:pPr>
            <a:r>
              <a:rPr lang="en-US" sz="1300" b="1" dirty="0">
                <a:solidFill>
                  <a:schemeClr val="bg1"/>
                </a:solidFill>
              </a:rPr>
              <a:t>GitHub Pages</a:t>
            </a:r>
            <a:endParaRPr lang="en-US" sz="1300" dirty="0"/>
          </a:p>
          <a:p>
            <a:pPr algn="ctr" indent="0" marL="0">
              <a:buNone/>
            </a:pPr>
            <a:r>
              <a:rPr lang="en-US" sz="1300" b="1" dirty="0">
                <a:solidFill>
                  <a:schemeClr val="bg1"/>
                </a:solidFill>
              </a:rPr>
              <a:t>app web</a:t>
            </a:r>
            <a:endParaRPr lang="en-US" sz="1300" dirty="0"/>
          </a:p>
        </p:txBody>
      </p:sp>
      <p:sp>
        <p:nvSpPr>
          <p:cNvPr id="6" name="Nodo"/>
          <p:cNvSpPr/>
          <p:nvPr/>
        </p:nvSpPr>
        <p:spPr>
          <a:xfrm>
            <a:off x="2834640" y="1371600"/>
            <a:ext cx="1828800" cy="822960"/>
          </a:xfrm>
          <a:prstGeom prst="roundRect">
            <a:avLst>
              <a:gd name="adj" fmla="val 8889"/>
            </a:avLst>
          </a:prstGeom>
          <a:solidFill>
            <a:schemeClr val="accent1"/>
          </a:solidFill>
          <a:ln w="12700">
            <a:solidFill>
              <a:schemeClr val="accent1"/>
            </a:solidFill>
            <a:prstDash val="solid"/>
          </a:ln>
        </p:spPr>
        <p:txBody>
          <a:bodyPr/>
          <a:p/>
        </p:txBody>
      </p:sp>
      <p:sp>
        <p:nvSpPr>
          <p:cNvPr id="7" name="Text 4"/>
          <p:cNvSpPr txBox="1"/>
          <p:nvPr/>
        </p:nvSpPr>
        <p:spPr>
          <a:xfrm>
            <a:off x="2834640" y="1371600"/>
            <a:ext cx="1828800" cy="822960"/>
          </a:xfrm>
          <a:prstGeom prst="rect">
            <a:avLst/>
          </a:prstGeom>
          <a:noFill/>
          <a:ln/>
        </p:spPr>
        <p:txBody>
          <a:bodyPr wrap="square" lIns="508" tIns="508" rIns="508" bIns="508" rtlCol="0" anchor="ctr"/>
          <a:lstStyle/>
          <a:p>
            <a:pPr algn="ctr" indent="0" marL="0">
              <a:buNone/>
            </a:pPr>
            <a:r>
              <a:rPr lang="en-US" sz="1300" b="1" dirty="0">
                <a:solidFill>
                  <a:schemeClr val="bg1"/>
                </a:solidFill>
              </a:rPr>
              <a:t>Render</a:t>
            </a:r>
            <a:endParaRPr lang="en-US" sz="1300" dirty="0"/>
          </a:p>
          <a:p>
            <a:pPr algn="ctr" indent="0" marL="0">
              <a:buNone/>
            </a:pPr>
            <a:r>
              <a:rPr lang="en-US" sz="1300" b="1" dirty="0">
                <a:solidFill>
                  <a:schemeClr val="bg1"/>
                </a:solidFill>
              </a:rPr>
              <a:t>API (Docker)</a:t>
            </a:r>
            <a:endParaRPr lang="en-US" sz="1300" dirty="0"/>
          </a:p>
        </p:txBody>
      </p:sp>
      <p:sp>
        <p:nvSpPr>
          <p:cNvPr id="8" name="Shape 5"/>
          <p:cNvSpPr/>
          <p:nvPr/>
        </p:nvSpPr>
        <p:spPr>
          <a:xfrm>
            <a:off x="2286000" y="1783080"/>
            <a:ext cx="548640" cy="0"/>
          </a:xfrm>
          <a:prstGeom prst="line">
            <a:avLst/>
          </a:prstGeom>
          <a:noFill/>
          <a:ln w="22225">
            <a:solidFill>
              <a:schemeClr val="accent6"/>
            </a:solidFill>
            <a:prstDash val="solid"/>
            <a:tailEnd type="triangle"/>
          </a:ln>
        </p:spPr>
        <p:txBody>
          <a:bodyPr/>
          <a:p/>
        </p:txBody>
      </p:sp>
      <p:sp>
        <p:nvSpPr>
          <p:cNvPr id="9" name="Nodo"/>
          <p:cNvSpPr/>
          <p:nvPr/>
        </p:nvSpPr>
        <p:spPr>
          <a:xfrm>
            <a:off x="457200" y="2743200"/>
            <a:ext cx="1828800" cy="822960"/>
          </a:xfrm>
          <a:prstGeom prst="roundRect">
            <a:avLst>
              <a:gd name="adj" fmla="val 8889"/>
            </a:avLst>
          </a:prstGeom>
          <a:solidFill>
            <a:schemeClr val="bg2"/>
          </a:solidFill>
          <a:ln w="12700">
            <a:solidFill>
              <a:schemeClr val="accent1"/>
            </a:solidFill>
            <a:prstDash val="solid"/>
          </a:ln>
        </p:spPr>
        <p:txBody>
          <a:bodyPr/>
          <a:p/>
        </p:txBody>
      </p:sp>
      <p:sp>
        <p:nvSpPr>
          <p:cNvPr id="10" name="Text 7"/>
          <p:cNvSpPr txBox="1"/>
          <p:nvPr/>
        </p:nvSpPr>
        <p:spPr>
          <a:xfrm>
            <a:off x="457200" y="2743200"/>
            <a:ext cx="1828800" cy="822960"/>
          </a:xfrm>
          <a:prstGeom prst="rect">
            <a:avLst/>
          </a:prstGeom>
          <a:noFill/>
          <a:ln/>
        </p:spPr>
        <p:txBody>
          <a:bodyPr wrap="square" lIns="508" tIns="508" rIns="508" bIns="508" rtlCol="0" anchor="ctr"/>
          <a:lstStyle/>
          <a:p>
            <a:pPr algn="ctr" indent="0" marL="0">
              <a:buNone/>
            </a:pPr>
            <a:r>
              <a:rPr lang="en-US" sz="1300" b="1" dirty="0">
                <a:solidFill>
                  <a:schemeClr val="tx2"/>
                </a:solidFill>
              </a:rPr>
              <a:t>Neon</a:t>
            </a:r>
            <a:endParaRPr lang="en-US" sz="1300" dirty="0"/>
          </a:p>
          <a:p>
            <a:pPr algn="ctr" indent="0" marL="0">
              <a:buNone/>
            </a:pPr>
            <a:r>
              <a:rPr lang="en-US" sz="1300" b="1" dirty="0">
                <a:solidFill>
                  <a:schemeClr val="tx2"/>
                </a:solidFill>
              </a:rPr>
              <a:t>Postgres + pgvector</a:t>
            </a:r>
            <a:endParaRPr lang="en-US" sz="1300" dirty="0"/>
          </a:p>
        </p:txBody>
      </p:sp>
      <p:sp>
        <p:nvSpPr>
          <p:cNvPr id="11" name="Nodo"/>
          <p:cNvSpPr/>
          <p:nvPr/>
        </p:nvSpPr>
        <p:spPr>
          <a:xfrm>
            <a:off x="2834640" y="2743200"/>
            <a:ext cx="1828800" cy="822960"/>
          </a:xfrm>
          <a:prstGeom prst="roundRect">
            <a:avLst>
              <a:gd name="adj" fmla="val 8889"/>
            </a:avLst>
          </a:prstGeom>
          <a:solidFill>
            <a:schemeClr val="bg2"/>
          </a:solidFill>
          <a:ln w="12700">
            <a:solidFill>
              <a:schemeClr val="accent1"/>
            </a:solidFill>
            <a:prstDash val="solid"/>
          </a:ln>
        </p:spPr>
        <p:txBody>
          <a:bodyPr/>
          <a:p/>
        </p:txBody>
      </p:sp>
      <p:sp>
        <p:nvSpPr>
          <p:cNvPr id="12" name="Text 9"/>
          <p:cNvSpPr txBox="1"/>
          <p:nvPr/>
        </p:nvSpPr>
        <p:spPr>
          <a:xfrm>
            <a:off x="2834640" y="2743200"/>
            <a:ext cx="1828800" cy="822960"/>
          </a:xfrm>
          <a:prstGeom prst="rect">
            <a:avLst/>
          </a:prstGeom>
          <a:noFill/>
          <a:ln/>
        </p:spPr>
        <p:txBody>
          <a:bodyPr wrap="square" lIns="508" tIns="508" rIns="508" bIns="508" rtlCol="0" anchor="ctr"/>
          <a:lstStyle/>
          <a:p>
            <a:pPr algn="ctr" indent="0" marL="0">
              <a:buNone/>
            </a:pPr>
            <a:r>
              <a:rPr lang="en-US" sz="1300" b="1" dirty="0">
                <a:solidFill>
                  <a:schemeClr val="tx2"/>
                </a:solidFill>
              </a:rPr>
              <a:t>Supabase</a:t>
            </a:r>
            <a:endParaRPr lang="en-US" sz="1300" dirty="0"/>
          </a:p>
          <a:p>
            <a:pPr algn="ctr" indent="0" marL="0">
              <a:buNone/>
            </a:pPr>
            <a:r>
              <a:rPr lang="en-US" sz="1300" b="1" dirty="0">
                <a:solidFill>
                  <a:schemeClr val="tx2"/>
                </a:solidFill>
              </a:rPr>
              <a:t>Storage S3</a:t>
            </a:r>
            <a:endParaRPr lang="en-US" sz="1300" dirty="0"/>
          </a:p>
        </p:txBody>
      </p:sp>
      <p:sp>
        <p:nvSpPr>
          <p:cNvPr id="13" name="Nodo"/>
          <p:cNvSpPr/>
          <p:nvPr/>
        </p:nvSpPr>
        <p:spPr>
          <a:xfrm>
            <a:off x="5212080" y="2743200"/>
            <a:ext cx="1828800" cy="822960"/>
          </a:xfrm>
          <a:prstGeom prst="roundRect">
            <a:avLst>
              <a:gd name="adj" fmla="val 8889"/>
            </a:avLst>
          </a:prstGeom>
          <a:solidFill>
            <a:schemeClr val="bg2"/>
          </a:solidFill>
          <a:ln w="12700">
            <a:solidFill>
              <a:schemeClr val="accent1"/>
            </a:solidFill>
            <a:prstDash val="solid"/>
          </a:ln>
        </p:spPr>
        <p:txBody>
          <a:bodyPr/>
          <a:p/>
        </p:txBody>
      </p:sp>
      <p:sp>
        <p:nvSpPr>
          <p:cNvPr id="14" name="Text 11"/>
          <p:cNvSpPr txBox="1"/>
          <p:nvPr/>
        </p:nvSpPr>
        <p:spPr>
          <a:xfrm>
            <a:off x="5212080" y="2743200"/>
            <a:ext cx="1828800" cy="822960"/>
          </a:xfrm>
          <a:prstGeom prst="rect">
            <a:avLst/>
          </a:prstGeom>
          <a:noFill/>
          <a:ln/>
        </p:spPr>
        <p:txBody>
          <a:bodyPr wrap="square" lIns="508" tIns="508" rIns="508" bIns="508" rtlCol="0" anchor="ctr"/>
          <a:lstStyle/>
          <a:p>
            <a:pPr algn="ctr" indent="0" marL="0">
              <a:buNone/>
            </a:pPr>
            <a:r>
              <a:rPr lang="en-US" sz="1300" b="1" dirty="0">
                <a:solidFill>
                  <a:schemeClr val="tx2"/>
                </a:solidFill>
              </a:rPr>
              <a:t>Gemini API</a:t>
            </a:r>
            <a:endParaRPr lang="en-US" sz="1300" dirty="0"/>
          </a:p>
        </p:txBody>
      </p:sp>
      <p:sp>
        <p:nvSpPr>
          <p:cNvPr id="15" name="Shape 12"/>
          <p:cNvSpPr/>
          <p:nvPr/>
        </p:nvSpPr>
        <p:spPr>
          <a:xfrm flipH="1">
            <a:off x="1371600" y="2194560"/>
            <a:ext cx="2377440" cy="548640"/>
          </a:xfrm>
          <a:prstGeom prst="line">
            <a:avLst/>
          </a:prstGeom>
          <a:noFill/>
          <a:ln w="22225">
            <a:solidFill>
              <a:schemeClr val="accent6"/>
            </a:solidFill>
            <a:prstDash val="solid"/>
            <a:tailEnd type="triangle"/>
          </a:ln>
        </p:spPr>
        <p:txBody>
          <a:bodyPr/>
          <a:p/>
        </p:txBody>
      </p:sp>
      <p:sp>
        <p:nvSpPr>
          <p:cNvPr id="16" name="Shape 13"/>
          <p:cNvSpPr/>
          <p:nvPr/>
        </p:nvSpPr>
        <p:spPr>
          <a:xfrm>
            <a:off x="3749040" y="2194560"/>
            <a:ext cx="0" cy="548640"/>
          </a:xfrm>
          <a:prstGeom prst="line">
            <a:avLst/>
          </a:prstGeom>
          <a:noFill/>
          <a:ln w="22225">
            <a:solidFill>
              <a:schemeClr val="accent6"/>
            </a:solidFill>
            <a:prstDash val="solid"/>
            <a:tailEnd type="triangle"/>
          </a:ln>
        </p:spPr>
        <p:txBody>
          <a:bodyPr/>
          <a:p/>
        </p:txBody>
      </p:sp>
      <p:sp>
        <p:nvSpPr>
          <p:cNvPr id="17" name="Shape 14"/>
          <p:cNvSpPr/>
          <p:nvPr/>
        </p:nvSpPr>
        <p:spPr>
          <a:xfrm>
            <a:off x="3749040" y="2194560"/>
            <a:ext cx="2377440" cy="548640"/>
          </a:xfrm>
          <a:prstGeom prst="line">
            <a:avLst/>
          </a:prstGeom>
          <a:noFill/>
          <a:ln w="22225">
            <a:solidFill>
              <a:schemeClr val="accent6"/>
            </a:solidFill>
            <a:prstDash val="solid"/>
            <a:tailEnd type="triangle"/>
          </a:ln>
        </p:spPr>
        <p:txBody>
          <a:bodyPr/>
          <a:p/>
        </p:txBody>
      </p:sp>
      <p:sp>
        <p:nvSpPr>
          <p:cNvPr id="18" name="Nodo"/>
          <p:cNvSpPr/>
          <p:nvPr/>
        </p:nvSpPr>
        <p:spPr>
          <a:xfrm>
            <a:off x="5212080" y="1371600"/>
            <a:ext cx="1828800" cy="822960"/>
          </a:xfrm>
          <a:prstGeom prst="roundRect">
            <a:avLst>
              <a:gd name="adj" fmla="val 8889"/>
            </a:avLst>
          </a:prstGeom>
          <a:solidFill>
            <a:schemeClr val="bg2"/>
          </a:solidFill>
          <a:ln w="12700">
            <a:solidFill>
              <a:schemeClr val="accent1"/>
            </a:solidFill>
            <a:prstDash val="solid"/>
          </a:ln>
        </p:spPr>
        <p:txBody>
          <a:bodyPr/>
          <a:p/>
        </p:txBody>
      </p:sp>
      <p:sp>
        <p:nvSpPr>
          <p:cNvPr id="19" name="Text 16"/>
          <p:cNvSpPr txBox="1"/>
          <p:nvPr/>
        </p:nvSpPr>
        <p:spPr>
          <a:xfrm>
            <a:off x="5212080" y="1371600"/>
            <a:ext cx="1828800" cy="822960"/>
          </a:xfrm>
          <a:prstGeom prst="rect">
            <a:avLst/>
          </a:prstGeom>
          <a:noFill/>
          <a:ln/>
        </p:spPr>
        <p:txBody>
          <a:bodyPr wrap="square" lIns="508" tIns="508" rIns="508" bIns="508" rtlCol="0" anchor="ctr"/>
          <a:lstStyle/>
          <a:p>
            <a:pPr algn="ctr" indent="0" marL="0">
              <a:buNone/>
            </a:pPr>
            <a:r>
              <a:rPr lang="en-US" sz="1300" b="1" dirty="0">
                <a:solidFill>
                  <a:schemeClr val="tx2"/>
                </a:solidFill>
              </a:rPr>
              <a:t>Cron de Actions</a:t>
            </a:r>
            <a:endParaRPr lang="en-US" sz="1300" dirty="0"/>
          </a:p>
          <a:p>
            <a:pPr algn="ctr" indent="0" marL="0">
              <a:buNone/>
            </a:pPr>
            <a:r>
              <a:rPr lang="en-US" sz="1300" b="1" dirty="0">
                <a:solidFill>
                  <a:schemeClr val="tx2"/>
                </a:solidFill>
              </a:rPr>
              <a:t>cada hora</a:t>
            </a:r>
            <a:endParaRPr lang="en-US" sz="1300" dirty="0"/>
          </a:p>
        </p:txBody>
      </p:sp>
      <p:sp>
        <p:nvSpPr>
          <p:cNvPr id="20" name="Shape 17"/>
          <p:cNvSpPr/>
          <p:nvPr/>
        </p:nvSpPr>
        <p:spPr>
          <a:xfrm flipH="1">
            <a:off x="4663440" y="1783080"/>
            <a:ext cx="548640" cy="0"/>
          </a:xfrm>
          <a:prstGeom prst="line">
            <a:avLst/>
          </a:prstGeom>
          <a:noFill/>
          <a:ln w="22225">
            <a:solidFill>
              <a:schemeClr val="accent6"/>
            </a:solidFill>
            <a:prstDash val="solid"/>
            <a:tailEnd type="triangle"/>
          </a:ln>
        </p:spPr>
        <p:txBody>
          <a:bodyPr/>
          <a:p/>
        </p:txBody>
      </p:sp>
      <p:sp>
        <p:nvSpPr>
          <p:cNvPr id="21" name="Tarjeta"/>
          <p:cNvSpPr/>
          <p:nvPr/>
        </p:nvSpPr>
        <p:spPr>
          <a:xfrm>
            <a:off x="7315200" y="1371600"/>
            <a:ext cx="1371600" cy="2834640"/>
          </a:xfrm>
          <a:prstGeom prst="roundRect">
            <a:avLst>
              <a:gd name="adj" fmla="val 6667"/>
            </a:avLst>
          </a:prstGeom>
          <a:solidFill>
            <a:schemeClr val="accent4"/>
          </a:solidFill>
          <a:ln w="12700">
            <a:solidFill>
              <a:schemeClr val="accent4"/>
            </a:solidFill>
            <a:prstDash val="solid"/>
          </a:ln>
        </p:spPr>
        <p:txBody>
          <a:bodyPr/>
          <a:p/>
        </p:txBody>
      </p:sp>
      <p:sp>
        <p:nvSpPr>
          <p:cNvPr id="22" name="Text 19"/>
          <p:cNvSpPr txBox="1"/>
          <p:nvPr/>
        </p:nvSpPr>
        <p:spPr>
          <a:xfrm>
            <a:off x="7498080" y="1481328"/>
            <a:ext cx="1005840" cy="365760"/>
          </a:xfrm>
          <a:prstGeom prst="rect">
            <a:avLst/>
          </a:prstGeom>
          <a:noFill/>
          <a:ln/>
        </p:spPr>
        <p:txBody>
          <a:bodyPr wrap="square" lIns="0" tIns="0" rIns="0" bIns="0" rtlCol="0" anchor="t"/>
          <a:lstStyle/>
          <a:p>
            <a:pPr indent="0" marL="0">
              <a:buNone/>
            </a:pPr>
            <a:r>
              <a:rPr lang="en-US" sz="1500" b="1" dirty="0">
                <a:solidFill>
                  <a:schemeClr val="tx2"/>
                </a:solidFill>
              </a:rPr>
              <a:t>Límites</a:t>
            </a:r>
            <a:endParaRPr lang="en-US" sz="1500" dirty="0"/>
          </a:p>
        </p:txBody>
      </p:sp>
      <p:sp>
        <p:nvSpPr>
          <p:cNvPr id="23" name="Text 20"/>
          <p:cNvSpPr txBox="1"/>
          <p:nvPr/>
        </p:nvSpPr>
        <p:spPr>
          <a:xfrm>
            <a:off x="7452360" y="1828800"/>
            <a:ext cx="1143000" cy="2286000"/>
          </a:xfrm>
          <a:prstGeom prst="rect">
            <a:avLst/>
          </a:prstGeom>
          <a:noFill/>
          <a:ln/>
        </p:spPr>
        <p:txBody>
          <a:bodyPr wrap="square" lIns="0" tIns="0" rIns="0" bIns="0" rtlCol="0" anchor="t"/>
          <a:lstStyle/>
          <a:p>
            <a:pPr indent="0" marL="0">
              <a:buNone/>
            </a:pPr>
            <a:r>
              <a:rPr lang="en-US" sz="1300" dirty="0">
                <a:solidFill>
                  <a:schemeClr val="tx1"/>
                </a:solidFill>
              </a:rPr>
              <a:t>Arranque en frío de ~1 min</a:t>
            </a:r>
            <a:endParaRPr lang="en-US" sz="1300" dirty="0"/>
          </a:p>
          <a:p>
            <a:pPr indent="0" marL="0">
              <a:buNone/>
            </a:pPr>
            <a:endParaRPr lang="en-US" sz="1300" dirty="0"/>
          </a:p>
          <a:p>
            <a:pPr indent="0" marL="0">
              <a:buNone/>
            </a:pPr>
            <a:r>
              <a:rPr lang="en-US" sz="1300" dirty="0">
                <a:solidFill>
                  <a:schemeClr val="tx1"/>
                </a:solidFill>
              </a:rPr>
              <a:t>No subir datos reales</a:t>
            </a:r>
            <a:endParaRPr lang="en-US" sz="1300" dirty="0"/>
          </a:p>
          <a:p>
            <a:pPr indent="0" marL="0">
              <a:buNone/>
            </a:pPr>
            <a:endParaRPr lang="en-US" sz="1300" dirty="0"/>
          </a:p>
          <a:p>
            <a:pPr indent="0" marL="0">
              <a:buNone/>
            </a:pPr>
            <a:r>
              <a:rPr lang="en-US" sz="1300" dirty="0">
                <a:solidFill>
                  <a:schemeClr val="tx1"/>
                </a:solidFill>
              </a:rPr>
              <a:t>Solo web</a:t>
            </a:r>
            <a:endParaRPr lang="en-US" sz="1300" dirty="0"/>
          </a:p>
        </p:txBody>
      </p:sp>
      <p:sp>
        <p:nvSpPr>
          <p:cNvPr id="24" name="Text 21"/>
          <p:cNvSpPr txBox="1"/>
          <p:nvPr/>
        </p:nvSpPr>
        <p:spPr>
          <a:xfrm>
            <a:off x="457200" y="3977640"/>
            <a:ext cx="4572000" cy="320040"/>
          </a:xfrm>
          <a:prstGeom prst="rect">
            <a:avLst/>
          </a:prstGeom>
          <a:noFill/>
          <a:ln/>
        </p:spPr>
        <p:txBody>
          <a:bodyPr wrap="square" lIns="0" tIns="0" rIns="0" bIns="0" rtlCol="0" anchor="ctr"/>
          <a:lstStyle/>
          <a:p>
            <a:pPr indent="0" marL="0">
              <a:buNone/>
            </a:pPr>
            <a:r>
              <a:rPr lang="en-US" sz="1400" b="1" dirty="0">
                <a:solidFill>
                  <a:schemeClr val="accent3"/>
                </a:solidFill>
              </a:rPr>
              <a:t>Coste: 0 EUR</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Demo</a:t>
            </a:r>
            <a:endParaRPr lang="en-US" sz="2800" dirty="0"/>
          </a:p>
        </p:txBody>
      </p:sp>
      <p:sp>
        <p:nvSpPr>
          <p:cNvPr id="4" name="Text 1"/>
          <p:cNvSpPr txBox="1"/>
          <p:nvPr/>
        </p:nvSpPr>
        <p:spPr>
          <a:xfrm>
            <a:off x="457200" y="1188720"/>
            <a:ext cx="8229600" cy="457200"/>
          </a:xfrm>
          <a:prstGeom prst="rect">
            <a:avLst/>
          </a:prstGeom>
          <a:noFill/>
          <a:ln/>
        </p:spPr>
        <p:txBody>
          <a:bodyPr wrap="square" lIns="0" tIns="0" rIns="0" bIns="0" rtlCol="0" anchor="ctr"/>
          <a:lstStyle/>
          <a:p>
            <a:pPr indent="0" marL="0">
              <a:buNone/>
            </a:pPr>
            <a:r>
              <a:rPr lang="en-US" sz="2000" b="1" dirty="0">
                <a:solidFill>
                  <a:schemeClr val="tx1"/>
                </a:solidFill>
              </a:rPr>
              <a:t>URL: </a:t>
            </a:r>
            <a:pPr indent="0" marL="0">
              <a:buNone/>
            </a:pPr>
            <a:r>
              <a:rPr lang="en-US" sz="2000" dirty="0">
                <a:solidFill>
                  <a:schemeClr val="tx1"/>
                </a:solidFill>
              </a:rPr>
              <a:t>chaparro2001.github.io/multiCooperativa</a:t>
            </a:r>
            <a:endParaRPr lang="en-US" sz="2000" dirty="0"/>
          </a:p>
        </p:txBody>
      </p:sp>
      <p:sp>
        <p:nvSpPr>
          <p:cNvPr id="5" name="Text 2"/>
          <p:cNvSpPr txBox="1"/>
          <p:nvPr/>
        </p:nvSpPr>
        <p:spPr>
          <a:xfrm>
            <a:off x="457200" y="1691640"/>
            <a:ext cx="8229600" cy="365760"/>
          </a:xfrm>
          <a:prstGeom prst="rect">
            <a:avLst/>
          </a:prstGeom>
          <a:noFill/>
          <a:ln/>
        </p:spPr>
        <p:txBody>
          <a:bodyPr wrap="square" lIns="0" tIns="0" rIns="0" bIns="0" rtlCol="0" anchor="ctr"/>
          <a:lstStyle/>
          <a:p>
            <a:pPr indent="0" marL="0">
              <a:buNone/>
            </a:pPr>
            <a:r>
              <a:rPr lang="en-US" sz="1400" dirty="0">
                <a:solidFill>
                  <a:schemeClr val="accent6"/>
                </a:solidFill>
              </a:rPr>
              <a:t>Contraseña local: demo-cooperativa-2026 · demo alojada: &lt;contraseña demo&gt;</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2240280"/>
          <a:ext cx="8229600" cy="914400"/>
        </p:xfrm>
        <a:graphic>
          <a:graphicData uri="http://schemas.openxmlformats.org/drawingml/2006/table">
            <a:tbl>
              <a:tblPr/>
              <a:tblGrid>
                <a:gridCol w="2743200"/>
                <a:gridCol w="5486400"/>
              </a:tblGrid>
              <a:tr h="347472">
                <a:tc>
                  <a:txBody>
                    <a:bodyPr/>
                    <a:lstStyle/>
                    <a:p>
                      <a:pPr indent="0" marL="0">
                        <a:buNone/>
                      </a:pPr>
                      <a:r>
                        <a:rPr lang="en-US" sz="1400" b="1" dirty="0">
                          <a:solidFill>
                            <a:schemeClr val="bg1"/>
                          </a:solidFill>
                        </a:rPr>
                        <a:t>Perfil</a:t>
                      </a:r>
                      <a:endParaRPr lang="en-US" sz="1400" dirty="0"/>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Usuario</a:t>
                      </a:r>
                      <a:endParaRPr lang="en-US" sz="1400" dirty="0"/>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accent1"/>
                    </a:solidFill>
                  </a:tcPr>
                </a:tc>
              </a:tr>
              <a:tr h="347472">
                <a:tc>
                  <a:txBody>
                    <a:bodyPr/>
                    <a:lstStyle/>
                    <a:p>
                      <a:pPr indent="0" marL="0">
                        <a:buNone/>
                      </a:pPr>
                      <a:r>
                        <a:rPr lang="en-US" sz="1400" dirty="0">
                          <a:solidFill>
                            <a:schemeClr val="tx1"/>
                          </a:solidFill>
                        </a:rPr>
                        <a:t>Socio</a:t>
                      </a:r>
                      <a:endParaRPr lang="en-US" sz="1400" dirty="0"/>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socio@sanisidro.test</a:t>
                      </a:r>
                      <a:endParaRPr lang="en-US" sz="1400" dirty="0"/>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r h="347472">
                <a:tc>
                  <a:txBody>
                    <a:bodyPr/>
                    <a:lstStyle/>
                    <a:p>
                      <a:pPr indent="0" marL="0">
                        <a:buNone/>
                      </a:pPr>
                      <a:r>
                        <a:rPr lang="en-US" sz="1400" dirty="0">
                          <a:solidFill>
                            <a:schemeClr val="tx1"/>
                          </a:solidFill>
                        </a:rPr>
                        <a:t>Consejo rector</a:t>
                      </a:r>
                      <a:endParaRPr lang="en-US" sz="1400" dirty="0"/>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consejo@sanisidro.test</a:t>
                      </a:r>
                      <a:endParaRPr lang="en-US" sz="1400" dirty="0"/>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r h="347472">
                <a:tc>
                  <a:txBody>
                    <a:bodyPr/>
                    <a:lstStyle/>
                    <a:p>
                      <a:pPr indent="0" marL="0">
                        <a:buNone/>
                      </a:pPr>
                      <a:r>
                        <a:rPr lang="en-US" sz="1400" dirty="0">
                          <a:solidFill>
                            <a:schemeClr val="tx1"/>
                          </a:solidFill>
                        </a:rPr>
                        <a:t>Gestor</a:t>
                      </a:r>
                      <a:endParaRPr lang="en-US" sz="1400" dirty="0"/>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gestor@sanisidro.test</a:t>
                      </a:r>
                      <a:endParaRPr lang="en-US" sz="1400" dirty="0"/>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r h="347472">
                <a:tc>
                  <a:txBody>
                    <a:bodyPr/>
                    <a:lstStyle/>
                    <a:p>
                      <a:pPr indent="0" marL="0">
                        <a:buNone/>
                      </a:pPr>
                      <a:r>
                        <a:rPr lang="en-US" sz="1400" dirty="0">
                          <a:solidFill>
                            <a:schemeClr val="tx1"/>
                          </a:solidFill>
                        </a:rPr>
                        <a:t>Administrador</a:t>
                      </a:r>
                      <a:endParaRPr lang="en-US" sz="1400" dirty="0"/>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admin@sanisidro.test</a:t>
                      </a:r>
                      <a:endParaRPr lang="en-US" sz="1400" dirty="0"/>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r h="347472">
                <a:tc>
                  <a:txBody>
                    <a:bodyPr/>
                    <a:lstStyle/>
                    <a:p>
                      <a:pPr indent="0" marL="0">
                        <a:buNone/>
                      </a:pPr>
                      <a:r>
                        <a:rPr lang="en-US" sz="1400" dirty="0">
                          <a:solidFill>
                            <a:schemeClr val="tx1"/>
                          </a:solidFill>
                        </a:rPr>
                        <a:t>Dos cooperativas</a:t>
                      </a:r>
                      <a:endParaRPr lang="en-US" sz="1400" dirty="0"/>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lucia@demo.test</a:t>
                      </a:r>
                      <a:endParaRPr lang="en-US" sz="1400" dirty="0"/>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Lecciones aprendidas y trabajo futuro</a:t>
            </a:r>
            <a:endParaRPr lang="en-US" sz="2800" dirty="0"/>
          </a:p>
        </p:txBody>
      </p:sp>
      <p:sp>
        <p:nvSpPr>
          <p:cNvPr id="4" name="Tarjeta"/>
          <p:cNvSpPr/>
          <p:nvPr/>
        </p:nvSpPr>
        <p:spPr>
          <a:xfrm>
            <a:off x="457200" y="1188720"/>
            <a:ext cx="4023360" cy="3383280"/>
          </a:xfrm>
          <a:prstGeom prst="roundRect">
            <a:avLst>
              <a:gd name="adj" fmla="val 2703"/>
            </a:avLst>
          </a:prstGeom>
          <a:solidFill>
            <a:schemeClr val="bg2"/>
          </a:solidFill>
          <a:ln w="12700">
            <a:solidFill>
              <a:schemeClr val="bg2"/>
            </a:solidFill>
            <a:prstDash val="solid"/>
          </a:ln>
        </p:spPr>
        <p:txBody>
          <a:bodyPr/>
          <a:p/>
        </p:txBody>
      </p:sp>
      <p:sp>
        <p:nvSpPr>
          <p:cNvPr id="5" name="Text 2"/>
          <p:cNvSpPr txBox="1"/>
          <p:nvPr/>
        </p:nvSpPr>
        <p:spPr>
          <a:xfrm>
            <a:off x="640080" y="1298448"/>
            <a:ext cx="3657600" cy="365760"/>
          </a:xfrm>
          <a:prstGeom prst="rect">
            <a:avLst/>
          </a:prstGeom>
          <a:noFill/>
          <a:ln/>
        </p:spPr>
        <p:txBody>
          <a:bodyPr wrap="square" lIns="0" tIns="0" rIns="0" bIns="0" rtlCol="0" anchor="t"/>
          <a:lstStyle/>
          <a:p>
            <a:pPr indent="0" marL="0">
              <a:buNone/>
            </a:pPr>
            <a:r>
              <a:rPr lang="en-US" sz="1800" b="1" dirty="0">
                <a:solidFill>
                  <a:schemeClr val="tx2"/>
                </a:solidFill>
              </a:rPr>
              <a:t>Lecciones</a:t>
            </a:r>
            <a:endParaRPr lang="en-US" sz="1800" dirty="0"/>
          </a:p>
        </p:txBody>
      </p:sp>
      <p:sp>
        <p:nvSpPr>
          <p:cNvPr id="6" name="Text 3"/>
          <p:cNvSpPr txBox="1"/>
          <p:nvPr/>
        </p:nvSpPr>
        <p:spPr>
          <a:xfrm>
            <a:off x="640080" y="1783080"/>
            <a:ext cx="3657600" cy="27432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Especificar primero reduce la ambigüedad con el agente</a:t>
            </a:r>
            <a:endParaRPr lang="en-US" sz="1500" dirty="0"/>
          </a:p>
          <a:p>
            <a:pPr marL="342900" indent="-342900">
              <a:spcAft>
                <a:spcPts val="800"/>
              </a:spcAft>
              <a:buSzPct val="100000"/>
              <a:buChar char="•"/>
            </a:pPr>
            <a:r>
              <a:rPr lang="en-US" sz="1500" dirty="0">
                <a:solidFill>
                  <a:schemeClr val="tx1"/>
                </a:solidFill>
              </a:rPr>
              <a:t>CLAUDE.md y ESLint protegen la arquitectura</a:t>
            </a:r>
            <a:endParaRPr lang="en-US" sz="1500" dirty="0"/>
          </a:p>
          <a:p>
            <a:pPr marL="342900" indent="-342900">
              <a:spcAft>
                <a:spcPts val="800"/>
              </a:spcAft>
              <a:buSzPct val="100000"/>
              <a:buChar char="•"/>
            </a:pPr>
            <a:r>
              <a:rPr lang="en-US" sz="1500" dirty="0">
                <a:solidFill>
                  <a:schemeClr val="tx1"/>
                </a:solidFill>
              </a:rPr>
              <a:t>Los puertos permitieron cambiar Claude por Gemini (ADR-009)</a:t>
            </a:r>
            <a:endParaRPr lang="en-US" sz="1500" dirty="0"/>
          </a:p>
          <a:p>
            <a:pPr marL="342900" indent="-342900">
              <a:spcAft>
                <a:spcPts val="800"/>
              </a:spcAft>
              <a:buSzPct val="100000"/>
              <a:buChar char="•"/>
            </a:pPr>
            <a:r>
              <a:rPr lang="en-US" sz="1500" dirty="0">
                <a:solidFill>
                  <a:schemeClr val="tx1"/>
                </a:solidFill>
              </a:rPr>
              <a:t>Recortar con criterio: perfiles, facturas con escaneo y asistente no se tocan</a:t>
            </a:r>
            <a:endParaRPr lang="en-US" sz="1500" dirty="0"/>
          </a:p>
        </p:txBody>
      </p:sp>
      <p:sp>
        <p:nvSpPr>
          <p:cNvPr id="7" name="Tarjeta"/>
          <p:cNvSpPr/>
          <p:nvPr/>
        </p:nvSpPr>
        <p:spPr>
          <a:xfrm>
            <a:off x="4663440" y="1188720"/>
            <a:ext cx="4023360" cy="3383280"/>
          </a:xfrm>
          <a:prstGeom prst="roundRect">
            <a:avLst>
              <a:gd name="adj" fmla="val 2703"/>
            </a:avLst>
          </a:prstGeom>
          <a:solidFill>
            <a:schemeClr val="accent4"/>
          </a:solidFill>
          <a:ln w="12700">
            <a:solidFill>
              <a:schemeClr val="accent4"/>
            </a:solidFill>
            <a:prstDash val="solid"/>
          </a:ln>
        </p:spPr>
        <p:txBody>
          <a:bodyPr/>
          <a:p/>
        </p:txBody>
      </p:sp>
      <p:sp>
        <p:nvSpPr>
          <p:cNvPr id="8" name="Text 5"/>
          <p:cNvSpPr txBox="1"/>
          <p:nvPr/>
        </p:nvSpPr>
        <p:spPr>
          <a:xfrm>
            <a:off x="4846320" y="1298448"/>
            <a:ext cx="3657600" cy="365760"/>
          </a:xfrm>
          <a:prstGeom prst="rect">
            <a:avLst/>
          </a:prstGeom>
          <a:noFill/>
          <a:ln/>
        </p:spPr>
        <p:txBody>
          <a:bodyPr wrap="square" lIns="0" tIns="0" rIns="0" bIns="0" rtlCol="0" anchor="t"/>
          <a:lstStyle/>
          <a:p>
            <a:pPr indent="0" marL="0">
              <a:buNone/>
            </a:pPr>
            <a:r>
              <a:rPr lang="en-US" sz="1800" b="1" dirty="0">
                <a:solidFill>
                  <a:schemeClr val="tx2"/>
                </a:solidFill>
              </a:rPr>
              <a:t>Trabajo futuro</a:t>
            </a:r>
            <a:endParaRPr lang="en-US" sz="1800" dirty="0"/>
          </a:p>
        </p:txBody>
      </p:sp>
      <p:sp>
        <p:nvSpPr>
          <p:cNvPr id="9" name="Text 6"/>
          <p:cNvSpPr txBox="1"/>
          <p:nvPr/>
        </p:nvSpPr>
        <p:spPr>
          <a:xfrm>
            <a:off x="4846320" y="1783080"/>
            <a:ext cx="3657600" cy="27432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Área del socio</a:t>
            </a:r>
            <a:endParaRPr lang="en-US" sz="1500" dirty="0"/>
          </a:p>
          <a:p>
            <a:pPr marL="342900" indent="-342900">
              <a:spcAft>
                <a:spcPts val="800"/>
              </a:spcAft>
              <a:buSzPct val="100000"/>
              <a:buChar char="•"/>
            </a:pPr>
            <a:r>
              <a:rPr lang="en-US" sz="1500" dirty="0">
                <a:solidFill>
                  <a:schemeClr val="tx1"/>
                </a:solidFill>
              </a:rPr>
              <a:t>Notificaciones push</a:t>
            </a:r>
            <a:endParaRPr lang="en-US" sz="1500" dirty="0"/>
          </a:p>
          <a:p>
            <a:pPr marL="342900" indent="-342900">
              <a:spcAft>
                <a:spcPts val="800"/>
              </a:spcAft>
              <a:buSzPct val="100000"/>
              <a:buChar char="•"/>
            </a:pPr>
            <a:r>
              <a:rPr lang="en-US" sz="1500" dirty="0">
                <a:solidFill>
                  <a:schemeClr val="tx1"/>
                </a:solidFill>
              </a:rPr>
              <a:t>Sentry</a:t>
            </a:r>
            <a:endParaRPr lang="en-US" sz="1500" dirty="0"/>
          </a:p>
          <a:p>
            <a:pPr marL="342900" indent="-342900">
              <a:spcAft>
                <a:spcPts val="800"/>
              </a:spcAft>
              <a:buSzPct val="100000"/>
              <a:buChar char="•"/>
            </a:pPr>
            <a:r>
              <a:rPr lang="en-US" sz="1500" dirty="0">
                <a:solidFill>
                  <a:schemeClr val="tx1"/>
                </a:solidFill>
              </a:rPr>
              <a:t>E2E con Maestro</a:t>
            </a:r>
            <a:endParaRPr lang="en-US" sz="1500" dirty="0"/>
          </a:p>
          <a:p>
            <a:pPr marL="342900" indent="-342900">
              <a:spcAft>
                <a:spcPts val="800"/>
              </a:spcAft>
              <a:buSzPct val="100000"/>
              <a:buChar char="•"/>
            </a:pPr>
            <a:r>
              <a:rPr lang="en-US" sz="1500" dirty="0">
                <a:solidFill>
                  <a:schemeClr val="tx1"/>
                </a:solidFill>
              </a:rPr>
              <a:t>Reclamaciones de facturas</a:t>
            </a:r>
            <a:endParaRPr lang="en-US" sz="1500" dirty="0"/>
          </a:p>
          <a:p>
            <a:pPr marL="342900" indent="-342900">
              <a:spcAft>
                <a:spcPts val="800"/>
              </a:spcAft>
              <a:buSzPct val="100000"/>
              <a:buChar char="•"/>
            </a:pPr>
            <a:r>
              <a:rPr lang="en-US" sz="1500" dirty="0">
                <a:solidFill>
                  <a:schemeClr val="tx1"/>
                </a:solidFill>
              </a:rPr>
              <a:t>Binarios nativos (EAS Build)</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822960"/>
            <a:ext cx="7863840" cy="914400"/>
          </a:xfrm>
          <a:prstGeom prst="rect">
            <a:avLst/>
          </a:prstGeom>
          <a:noFill/>
          <a:ln/>
        </p:spPr>
        <p:txBody>
          <a:bodyPr wrap="square" lIns="0" tIns="0" rIns="0" bIns="0" rtlCol="0" anchor="ctr"/>
          <a:lstStyle/>
          <a:p>
            <a:pPr indent="0" marL="0">
              <a:buNone/>
            </a:pPr>
            <a:r>
              <a:rPr lang="en-US" sz="5400" b="1" dirty="0">
                <a:solidFill>
                  <a:schemeClr val="bg1"/>
                </a:solidFill>
                <a:latin typeface="Cambria" pitchFamily="34" charset="0"/>
                <a:ea typeface="Cambria" pitchFamily="34" charset="-122"/>
                <a:cs typeface="Cambria" pitchFamily="34" charset="-120"/>
              </a:rPr>
              <a:t>Gracias</a:t>
            </a:r>
            <a:endParaRPr lang="en-US" sz="5400" dirty="0"/>
          </a:p>
        </p:txBody>
      </p:sp>
      <p:sp>
        <p:nvSpPr>
          <p:cNvPr id="3" name="Text 1"/>
          <p:cNvSpPr txBox="1"/>
          <p:nvPr/>
        </p:nvSpPr>
        <p:spPr>
          <a:xfrm>
            <a:off x="640080" y="2103120"/>
            <a:ext cx="7863840" cy="1371600"/>
          </a:xfrm>
          <a:prstGeom prst="rect">
            <a:avLst/>
          </a:prstGeom>
          <a:noFill/>
          <a:ln/>
        </p:spPr>
        <p:txBody>
          <a:bodyPr wrap="square" lIns="0" tIns="0" rIns="0" bIns="0" rtlCol="0" anchor="ctr"/>
          <a:lstStyle/>
          <a:p>
            <a:pPr indent="0" marL="0">
              <a:spcAft>
                <a:spcPts val="1000"/>
              </a:spcAft>
              <a:buNone/>
            </a:pPr>
            <a:r>
              <a:rPr lang="en-US" sz="2000" dirty="0">
                <a:solidFill>
                  <a:schemeClr val="bg2"/>
                </a:solidFill>
              </a:rPr>
              <a:t>Repositorio: github.com/chaparro2001/multiCooperativa</a:t>
            </a:r>
            <a:endParaRPr lang="en-US" sz="2000" dirty="0"/>
          </a:p>
          <a:p>
            <a:pPr indent="0" marL="0">
              <a:spcAft>
                <a:spcPts val="1000"/>
              </a:spcAft>
              <a:buNone/>
            </a:pPr>
            <a:r>
              <a:rPr lang="en-US" sz="2000" dirty="0">
                <a:solidFill>
                  <a:schemeClr val="bg2"/>
                </a:solidFill>
              </a:rPr>
              <a:t>Demo: chaparro2001.github.io/multiCooperativa</a:t>
            </a:r>
            <a:endParaRPr lang="en-US" sz="2000" dirty="0"/>
          </a:p>
          <a:p>
            <a:pPr indent="0" marL="0">
              <a:spcAft>
                <a:spcPts val="1000"/>
              </a:spcAft>
              <a:buNone/>
            </a:pPr>
            <a:r>
              <a:rPr lang="en-US" sz="2000" dirty="0">
                <a:solidFill>
                  <a:schemeClr val="bg2"/>
                </a:solidFill>
              </a:rPr>
              <a:t>Vídeo: &lt;URL vídeo&gt;</a:t>
            </a:r>
            <a:endParaRPr lang="en-US" sz="2000" dirty="0"/>
          </a:p>
        </p:txBody>
      </p:sp>
      <p:sp>
        <p:nvSpPr>
          <p:cNvPr id="4" name="Text 2"/>
          <p:cNvSpPr txBox="1"/>
          <p:nvPr/>
        </p:nvSpPr>
        <p:spPr>
          <a:xfrm>
            <a:off x="640080" y="4023360"/>
            <a:ext cx="7863840" cy="365760"/>
          </a:xfrm>
          <a:prstGeom prst="rect">
            <a:avLst/>
          </a:prstGeom>
          <a:noFill/>
          <a:ln/>
        </p:spPr>
        <p:txBody>
          <a:bodyPr wrap="square" lIns="0" tIns="0" rIns="0" bIns="0" rtlCol="0" anchor="ctr"/>
          <a:lstStyle/>
          <a:p>
            <a:pPr indent="0" marL="0">
              <a:buNone/>
            </a:pPr>
            <a:r>
              <a:rPr lang="en-US" sz="1400" dirty="0">
                <a:solidFill>
                  <a:schemeClr val="accent2"/>
                </a:solidFill>
              </a:rPr>
              <a:t>Juan Chaparro García · TFM Máster de Desarrollo con IA · BIG school · Octubre 2026</a:t>
            </a:r>
            <a:endParaRPr lang="en-US" sz="1400" dirty="0"/>
          </a:p>
        </p:txBody>
      </p:sp>
    </p:spTree>
  </p:cSld>
  <p:clrMapOvr>
    <a:masterClrMapping/>
  </p:clrMapOvr>
</p:sld>
</file>

<file path=ppt/theme/theme1.xml><?xml version="1.0" encoding="utf-8"?>
<a:theme xmlns:a="http://schemas.openxmlformats.org/drawingml/2006/main" name="multiCooperativa">
  <a:themeElements>
    <a:clrScheme name="multiCooperativa">
      <a:dk1>
        <a:srgbClr val="1B2B24"/>
      </a:dk1>
      <a:lt1>
        <a:srgbClr val="FFFFFF"/>
      </a:lt1>
      <a:dk2>
        <a:srgbClr val="1F4D3A"/>
      </a:dk2>
      <a:lt2>
        <a:srgbClr val="EEF3EF"/>
      </a:lt2>
      <a:accent1>
        <a:srgbClr val="1F4D3A"/>
      </a:accent1>
      <a:accent2>
        <a:srgbClr val="E0A526"/>
      </a:accent2>
      <a:accent3>
        <a:srgbClr val="3E7C5A"/>
      </a:accent3>
      <a:accent4>
        <a:srgbClr val="C8D9CE"/>
      </a:accent4>
      <a:accent5>
        <a:srgbClr val="B5543A"/>
      </a:accent5>
      <a:accent6>
        <a:srgbClr val="5B6B64"/>
      </a:accent6>
      <a:hlink>
        <a:srgbClr val="3E7C5A"/>
      </a:hlink>
      <a:folHlink>
        <a:srgbClr val="5B6B64"/>
      </a:folHlink>
    </a:clrScheme>
    <a:fontScheme name="multiCooperativ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multiCooperativa - Defensa del TFM</dc:title>
  <dc:subject>PptxGenJS Presentation</dc:subject>
  <dc:creator>&lt;Nombre&gt;</dc:creator>
  <cp:lastModifiedBy>&lt;Nombre&gt;</cp:lastModifiedBy>
  <cp:revision>1</cp:revision>
  <dcterms:created xsi:type="dcterms:W3CDTF">2026-10-21T04:59:23Z</dcterms:created>
  <dcterms:modified xsi:type="dcterms:W3CDTF">2026-10-21T04:59:23Z</dcterms:modified>
</cp:coreProperties>
</file>