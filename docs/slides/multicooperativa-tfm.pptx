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70" r:id="rId21"/>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Aciertos</c:v>
                </c:pt>
              </c:strCache>
            </c:strRef>
          </c:tx>
          <c:spPr>
            <a:solidFill>
              <a:schemeClr val="accent3"/>
            </a:solidFill>
          </c:spPr>
          <c:cat>
            <c:strRef>
              <c:f>Sheet1!$A$2:$A$7</c:f>
              <c:strCache>
                <c:ptCount val="6"/>
                <c:pt idx="0">
                  <c:v>phi4-mini</c:v>
                </c:pt>
                <c:pt idx="1">
                  <c:v>qwen2.5:3b</c:v>
                </c:pt>
                <c:pt idx="2">
                  <c:v>llama3.2:3b</c:v>
                </c:pt>
                <c:pt idx="3">
                  <c:v>gemma4:e4b</c:v>
                </c:pt>
                <c:pt idx="4">
                  <c:v>qwen3:4b-instruct</c:v>
                </c:pt>
                <c:pt idx="5">
                  <c:v>qwen3:8b</c:v>
                </c:pt>
              </c:strCache>
            </c:strRef>
          </c:cat>
          <c:val>
            <c:numRef>
              <c:f>Sheet1!$B$2:$B$7</c:f>
              <c:numCache>
                <c:formatCode>General</c:formatCode>
                <c:ptCount val="6"/>
                <c:pt idx="0">
                  <c:v>4</c:v>
                </c:pt>
                <c:pt idx="1">
                  <c:v>5</c:v>
                </c:pt>
                <c:pt idx="2">
                  <c:v>7</c:v>
                </c:pt>
                <c:pt idx="3">
                  <c:v>15</c:v>
                </c:pt>
                <c:pt idx="4">
                  <c:v>18</c:v>
                </c:pt>
                <c:pt idx="5">
                  <c:v>19</c:v>
                </c:pt>
              </c:numCache>
            </c:numRef>
          </c:val>
        </c:ser>
        <c:dLbls>
          <c:txPr>
            <a:bodyPr/>
            <a:lstStyle/>
            <a:p>
              <a:pPr>
                <a:defRPr sz="1100" b="1">
                  <a:solidFill>
                    <a:schemeClr val="tx1"/>
                  </a:solidFil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100">
                <a:solidFill>
                  <a:schemeClr val="tx1"/>
                </a:solidFill>
              </a:defRPr>
            </a:pPr>
          </a:p>
        </c:txPr>
        <c:crossAx val="-2113994440"/>
        <c:crosses val="autoZero"/>
        <c:auto val="1"/>
        <c:lblAlgn val="ctr"/>
        <c:lblOffset val="100"/>
        <c:noMultiLvlLbl val="0"/>
      </c:catAx>
      <c:valAx>
        <c:axId val="-2113994440"/>
        <c:scaling>
          <c:max val="22.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Buenas. Soy Juan Chaparro García y presento multiCooperativa, mi Trabajo Fin de Máster del Máster de Desarrollo con IA de BIG school. Es una aplicación móvil para cooperativas con un asistente de IA que respeta los permisos de cada usuario. Voy a contar el problema, la solución, cómo está construida y, sobre todo, cómo he usado la IA tanto dentro del producto como en el proceso de desarrollo.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socio de una cooperativa participa poco y está mal informado. Las convocatorias llegan por carta o por el tablón de anuncios. Estatutos, reglamentos y actas no están a mano. Y en la parte de gestión, los albaranes y facturas con proveedores y clientes viven en papel: los descuadres entre ellos, los impagos y los cobros pendientes se detectan tarde o nunca. Ese es el hueco que cubre la aplicación.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solución es una aplicación estándar, válida para cualquier tipo de cooperativa: agrícola, de vivienda, de trabajo o de consumo, sin funcionalidad sectorial. Un mismo usuario puede pertenecer a varias cooperativas con un perfil distinto en cada una, y los datos de cada cooperativa están aislados. Hay cuatro perfiles: el socio, que se informa, vota, lee documentos y consulta su capital; el consejo rector, que publica comunicados, convoca asambleas y vigila pagos y cobros; el gestor, que registra y concilia albaranes y facturas y puede no ser socio; y el administrador, que da acceso con invitaciones, asigna perfiles y personaliza el color de su cooperativa. Los permisos se definen por módulo, nivel y alcance; el backend decide y la app solo oculta.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Esta es la foto honesta. Los siete módulos del MVP están implementados y funcionando: acceso y perfiles, con la administración de miembros y las invitaciones por enlace; comunicados; documentos con búsqueda semántica; asambleas con votación, quórum y mayorías; facturas y albaranes con captura, extracción por IA y explicación de discrepancias, con proveedores y clientes; el área del socio con su capital y aportaciones; y el asistente de IA con citas, historial de conversaciones y modelo local o externo. Además, cada cooperativa puede personalizar su color. Lo que queda como trabajo futuro: notificaciones push, Sentry, tests de componentes con React Native Testing Library y E2E en la integración continua (hay cuatro flujos de Maestro, pero solo en local, con el simulador de iOS y fuera de la CI), las reclamaciones de facturas, los binarios nativos con EAS Build y el envío de invitaciones por correo.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app Expo, que genera iOS, Android y web, con la interfaz en react-native-paper (Material Design 3), habla con una API REST en Node y TypeScript. El backend es un monolito modular con Clean Architecture: cada módulo tiene capas de dominio, aplicación e infraestructura y solo expone su index.ts. Los módulos no leen las tablas de otros; se comunican por su interfaz pública o por eventos internos, y una regla de ESLint propia lo hace cumplir. Hay ocho módulos: acceso, comunicados, documentos, asambleas, facturas, área del socio, asistente y marca. A la derecha están las dependencias: PostgreSQL con pgvector, almacenamiento compatible con S3 con URLs firmadas, Ollama en local para los embeddings y como asistente por defecto, Gemini para la visión, las explicaciones de discrepancias y el asistente de la demo publicada, y, de forma opcional, un proveedor externo de modelos que una cooperativa puede elegir con su propia clave. Todo ello corre en Docker en un servidor propio; solo la API sale a internet, a través de Cloudflare Tunnel.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Cada decisión importante está en un ADR inmutable: si una decisión cambia, se escribe otro ADR. Hay 26. Las primeras, de la 001 a la 005, fijan la base: Expo, monolito modular, multi-cooperativa con base de datos compartida, permisos por perfil y almacenamiento S3 tras un puerto. El 007 elegía Claude para visión y fue sustituido por el 009, con Gemini. Las últimas cuentan lo que pasó al desplegar: la 012 mueve la API a un servidor propio con Cloudflare Tunnel porque Render y Railway pedían tarjeta; la 013 pasa el asistente a un modelo local en Ollama por la cuota de Gemini; la 014 deja elegir el modelo por cooperativa; la 015 fija qwen3:4b-instruct como modelo por defecto tras medir; la 016 entrega las invitaciones como enlace; la 017 pone dominio propio a la web; la 018 permite color por cooperativa (su parte de logo la retira la 021); la 019 deja que una cooperativa use un proveedor externo de modelos con su propia clave, cifrada en el servidor; la 020 migra la interfaz a react-native-paper (Material Design 3), con el tema generado a partir del color de cada cooperativa; la 021 elimina el logo por cooperativa: solo se veía tras iniciar sesión y la subida de ficheros no compensaba antes de la entrega; la 022 pasa a búsqueda híbrida con un umbral de similitud; la 023 documenta el benchmark de calidad del RAG; la 024 fija el sistema de diseño de la interfaz; la 025 añade el NIF del socio y el cruce entre socios y terceros; y la 026, la última, usa Gemini Flash-Lite en el asistente de la demo publicada, porque el modelo local tardaba más de 30 segundos por pregunta en la CPU del servidor.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seguridad se decide en el backend. Cada caso de uso comprueba el permiso y deniega por defecto; la app solo oculta lo que el servidor dice que no está permitido. El aislamiento es por cooperativa, también en la búsqueda semántica y en las herramientas del asistente: un recurso de otra cooperativa responde 404 y un módulo sin permiso responde 403. Las contraseñas usan Argon2id con bloqueo por intentos fallidos, y las sesiones JWT con refresh rotatorio. Los ficheros se sirven con URLs firmadas que caducan; el servidor valida cada entrada, y también el color de marca que elige el administrador, que debe cumplir un contraste WCAG AA de 4,5:1 con el texto blanco. No hay logo por cooperativa (ADR-021). CORS tiene una lista de orígenes permitidos y los secretos no están en el repositorio; la clave que una cooperativa aporta para un proveedor externo se guarda cifrada con AES-256-GCM, y el servidor solo llama a un catálogo fijo de proveedores, nunca a una URL enviada por el cliente, para evitar SSRF. Y todo esto está cubierto por tests: la matriz de perfiles por módulos y el aislamiento entre cooperativas.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Hay varios usos de IA, todos con límites. Uno: el asistente. Por defecto responde con un modelo local en Ollama, qwen3:4b-instruct, y el administrador de cada cooperativa puede elegir otro modelo local en Ajustes o, opcionalmente, un proveedor externo de un catálogo fijo (Groq, Mistral, NVIDIA NIM u OpenRouter) con su propia clave, cifrada en el servidor; si el proveedor falla, responde el modelo del servidor. La demo publicada usa Gemini Flash-Lite (ADR-026): en la CPU del servidor, qwen3:4b tardaba más de 30 segundos por pregunta, y Flash-Lite acertó 53 de 60 preguntas del conjunto de evaluación con una mediana de 1,7 segundos, frente a 47 de 60 del modelo local en el Mac. Dos: el asistente usa RAG sobre los documentos de la cooperativa, con búsqueda en pgvector filtrada por cooperativa y citas a la fuente, y otras 17 herramientas de consulta a datos, de solo lectura, que reutilizan los casos de uso con los permisos del usuario: proveedores y clientes, mis aportaciones, facturación agregada calculada en la base de datos, herramientas de socios y el cruce entre socios y terceros por NIF. Las cifras se citan y los periodos relativos, como "el mes pasado", los resuelve el servidor; por eso el asistente no puede ver nada que el usuario no pueda ver. Tres: la extracción de facturas usa la visión de Gemini, valida la salida con un esquema Zod y nunca guarda sin confirmación humana; también explica discrepancias entre albarán y factura en lenguaje natural, enviando solo los datos mínimos. Las llamadas a Gemini se reintentan y tienen modelos alternativos. Y cuatro: las conversaciones tienen historial, se pueden reabrir y eliminar, y las respuestas se muestran en Markdown. Los embeddings son locales con bge-m3.</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Además de usar IA en el producto, el proyecto se ha construido con Claude Code y Spec Driven Development. Primero la especificación: visión, stack, plan por hitos y 63 historias de usuario con reglas de negocio y requisitos no funcionales, antes del código. CLAUDE.md es el contrato con el agente: reglas no negociables, forma de trabajar y comandos; y una regla propia de ESLint hace cumplir las fronteras entre módulos aunque escriba el agente. Dominio con TDD a partir de los criterios de la especificación; los identificadores de requisitos aparecen en tests y en commits con Conventional Commits. 248 de los 249 commits sin fusiones, el 99 por ciento, llevan el trailer Co-Authored-By de Claude; el único sin él es el inicial. Hacia el final trabajé con agentes en paralelo, cada uno en su git worktree y rama, y luego integré; ahí aprendí que hace falta disciplina de integración. También fijé en el repositorio skills de la comunidad (skills.sh, con su lock) para React Native, Vitest, Prisma, Supabase y Node, con una regla de precedencia en CLAUDE.md: CLAUDE.md, los ADR y las especificaciones mandan sobre las skills, y las desviaciones están documentadas; un registro de skills inyecta sus reglas compactas en cada subagente. El diseño de la interfaz siguió un flujo con IA: un brief, una herramienta de diseño con IA que generó tokens y componentes, un análisis de brechas con lo que ya había, y la migración (ADR-020 y ADR-024) a cargo de un agente orquestador que delegó en subagentes: uno de base, luego siete en paralelo sobre carpetas de funcionalidad disjuntas, uno de verificación y uno que lanzó la app en web con Playwright, hizo capturas y encontró errores visuales que se corrigieron. La memoria persistente entre sesiones, con Engram, mantiene el contexto. Y las decisiones sobre IA se tomaron midiendo: un conjunto de evaluación de 60 preguntas contra el modelo real y un benchmark de modelos locales, que se ve en la siguiente diapositiva.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Los números, medidos el 23 de octubre ejecutando pnpm test y pnpm test:integration: 1504 tests unitarios en 136 ficheros (API, app, contratos y reglas de ESLint) y 611 tests de integración en 32 ficheros, todos en verde. Los de integración corren contra PostgreSQL y S3 reales, e incluyen el aislamiento entre cooperativas. Husky ejecuta lint, typecheck y tests en el pre-commit, y la CI de GitHub Actions comprueba formato, lint, tipos, tests, migraciones e integración. A la derecha, el benchmark de modelos locales para el asistente, sobre el conjunto de evaluación de entonces, 22 preguntas, medido en un Mac con 12 CPU y sin GPU: qwen3:8b acierta 19, qwen3:4b-instruct 18, gemma4:e4b 15, llama3.2:3b 7, qwen2.5:3b 5 y phi4-mini 4. Hoy el conjunto de evaluación tiene 60 preguntas: qwen3:4b-instruct acierta 47 y Gemini Flash-Lite, el modelo de la demo publicada, 53. El servidor lleva qwen3:4b-instruct por defecto: pierde una pregunta frente al 8b pero responde más rápido en esa CPU; esa rapidez en el servidor la ha comprobado el autor, no se ha medido con el conjunto de evaluación.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demo cuesta 0 euros. El plan inicial era Render, Neon y Supabase, pero en octubre descubrí que Render y Railway piden tarjeta de crédito y no tengo, así que mover la API a un servidor propio fue la decisión del ADR-012. Es un Windows de casa con Docker Desktop, un i5-10500 y 32 GB de RAM, que ejecuta el mismo stack que el desarrollo: la API, PostgreSQL con pgvector, RustFS como almacenamiento S3 y Ollama con el modelo local del asistente y los embeddings. Solo la API sale a internet, por un Cloudflare Tunnel con conexión de salida, sin abrir puertos en el router, en api-cooperativa.chaparro2001.com; los ficheros se sirven con URLs firmadas por files-cooperativa. La app web está en GitHub Pages con dominio propio, cooperativa.chaparro2001.com, ADR-017. Un cron de GitHub Actions llama cada hora al proceso de vencimientos. Gemini se usa para la visión, las explicaciones y, en la demo publicada, el asistente (ADR-026), porque el modelo local era demasiado lento en esa CPU. Los límites: solo responde con el servidor encendido, no hay copias de seguridad y no hay que subir datos reales. La alternativa en la nube con Neon, Supabase y Render sigue documentada.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Aquí enseño la demo en directo o en vídeo, en https://cooperativa.chaparro2001.com. La contraseña de la demo se completa antes de la entrega. El asistente de la demo usa Gemini Flash-Lite (ADR-026): conviene no gastar la cuota diaria de Gemini antes de presentar y comprobar que las cooperativas están en "Modelo del servidor". Hay un usuario por perfil en la Cooperativa Agrícola San Isidro: el socio, que ve comunicados, documentos, asamblea y voto, su capital y el asistente; el gestor, que registra facturas, escanea con IA y revisa discrepancias; el consejo, que publica comunicados y vigila pagos y cobros; y el administrador, que invita miembros con un enlace y personaliza la apariencia y el modelo del asistente; en Ajustes, Apariencia, se ve el aspecto Material Design de la app y cómo el color de la cooperativa llega a los chips y a las opciones seleccionadas. Lucía pertenece a dos cooperativas con perfil distinto en cada una, y sirve para ver el selector de cooperativa. Usar solo facturas ficticias: la capa gratuita de Gemini puede usar el contenido.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Lecciones. Uno: vengo de casi 15 años de iOS nativo, y este proyecto me ha obligado a aprender todo el stack, desde Docker hasta el backend, la base de datos y la IA. Dos: después de terminar el Máster oficial en IA de UNIR, este máster ha ampliado ese conocimiento hacia el desarrollo con IA. Tres: la cuota gratuita de Gemini me llevó a un modelo local, pero en el servidor la CPU lo hizo inviable, más de 30 segundos por pregunta, y la demo volvió a Gemini con Flash-Lite. Cuatro: la latencia en CPU se midió; el 4b es más rápido y el 8b, algo más preciso. Cinco: los agentes en paralelo exigen disciplina de integración. Seis: evaluar con el modelo real y no solo offline encontró errores que los tests con simulaciones no veían, y subió el acierto de 32 a 47 sobre 60. Siete: especificar primero, con CLAUDE.md y ESLint protegiendo la arquitectura, redujo la ambigüedad con el agente. Ocho: en el diseño generado con IA, el análisis de brechas antes de migrar evitó sorpresas. Trabajo futuro, lo que no está implementado: notificaciones push, Sentry, tests de componentes con React Native Testing Library y E2E en la integración continua (los flujos de Maestro existen, pero solo en local), y las reclamaciones de facturas; tampoco hay binarios nativos con EAS Build ni invitaciones por correo.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Muchas gracias. El código, la documentación y los 26 ADR están en el repositorio de GitHub; la demo está en cooperativa.chaparro2001.com, la API en api-cooperativa.chaparro2001.com y el vídeo en el enlace de la diapositiva. Quedo a disposición del tribunal para preguntas.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multiCooperativa · TFM Máster de Desarrollo con IA</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188720"/>
            <a:ext cx="7863840" cy="100584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multiCooperativa</a:t>
            </a:r>
            <a:endParaRPr lang="en-US" sz="5400" dirty="0"/>
          </a:p>
        </p:txBody>
      </p:sp>
      <p:sp>
        <p:nvSpPr>
          <p:cNvPr id="3" name="Text 1"/>
          <p:cNvSpPr txBox="1"/>
          <p:nvPr/>
        </p:nvSpPr>
        <p:spPr>
          <a:xfrm>
            <a:off x="640080" y="2240280"/>
            <a:ext cx="7863840" cy="548640"/>
          </a:xfrm>
          <a:prstGeom prst="rect">
            <a:avLst/>
          </a:prstGeom>
          <a:noFill/>
          <a:ln/>
        </p:spPr>
        <p:txBody>
          <a:bodyPr wrap="square" lIns="0" tIns="0" rIns="0" bIns="0" rtlCol="0" anchor="ctr"/>
          <a:lstStyle/>
          <a:p>
            <a:pPr indent="0" marL="0">
              <a:buNone/>
            </a:pPr>
            <a:r>
              <a:rPr lang="en-US" sz="2400" dirty="0">
                <a:solidFill>
                  <a:schemeClr val="accent2"/>
                </a:solidFill>
              </a:rPr>
              <a:t>App móvil multi-cooperativa con asistente de IA</a:t>
            </a:r>
            <a:endParaRPr lang="en-US" sz="2400" dirty="0"/>
          </a:p>
        </p:txBody>
      </p:sp>
      <p:sp>
        <p:nvSpPr>
          <p:cNvPr id="4" name="Text 2"/>
          <p:cNvSpPr txBox="1"/>
          <p:nvPr/>
        </p:nvSpPr>
        <p:spPr>
          <a:xfrm>
            <a:off x="640080" y="3200400"/>
            <a:ext cx="7863840" cy="365760"/>
          </a:xfrm>
          <a:prstGeom prst="rect">
            <a:avLst/>
          </a:prstGeom>
          <a:noFill/>
          <a:ln/>
        </p:spPr>
        <p:txBody>
          <a:bodyPr wrap="square" lIns="0" tIns="0" rIns="0" bIns="0" rtlCol="0" anchor="ctr"/>
          <a:lstStyle/>
          <a:p>
            <a:pPr indent="0" marL="0">
              <a:buNone/>
            </a:pPr>
            <a:r>
              <a:rPr lang="en-US" sz="1600" dirty="0">
                <a:solidFill>
                  <a:schemeClr val="bg2"/>
                </a:solidFill>
              </a:rPr>
              <a:t>Trabajo Fin de Máster · Máster de Desarrollo con IA (BIG school)</a:t>
            </a:r>
            <a:endParaRPr lang="en-US" sz="1600" dirty="0"/>
          </a:p>
        </p:txBody>
      </p:sp>
      <p:sp>
        <p:nvSpPr>
          <p:cNvPr id="5" name="Text 3"/>
          <p:cNvSpPr txBox="1"/>
          <p:nvPr/>
        </p:nvSpPr>
        <p:spPr>
          <a:xfrm>
            <a:off x="640080" y="3611880"/>
            <a:ext cx="7863840" cy="365760"/>
          </a:xfrm>
          <a:prstGeom prst="rect">
            <a:avLst/>
          </a:prstGeom>
          <a:noFill/>
          <a:ln/>
        </p:spPr>
        <p:txBody>
          <a:bodyPr wrap="square" lIns="0" tIns="0" rIns="0" bIns="0" rtlCol="0" anchor="ctr"/>
          <a:lstStyle/>
          <a:p>
            <a:pPr indent="0" marL="0">
              <a:buNone/>
            </a:pPr>
            <a:r>
              <a:rPr lang="en-US" sz="1600" dirty="0">
                <a:solidFill>
                  <a:schemeClr val="bg2"/>
                </a:solidFill>
              </a:rPr>
              <a:t>Juan Chaparro García · Octubre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ulo"/>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El problema: un socio poco informado</a:t>
            </a:r>
            <a:endParaRPr lang="en-US" sz="2800" dirty="0"/>
          </a:p>
        </p:txBody>
      </p:sp>
      <p:sp>
        <p:nvSpPr>
          <p:cNvPr id="4" name="Tarjeta"/>
          <p:cNvSpPr/>
          <p:nvPr/>
        </p:nvSpPr>
        <p:spPr>
          <a:xfrm>
            <a:off x="457200" y="1188720"/>
            <a:ext cx="2606040" cy="2286000"/>
          </a:xfrm>
          <a:prstGeom prst="roundRect">
            <a:avLst>
              <a:gd name="adj" fmla="val 4000"/>
            </a:avLst>
          </a:prstGeom>
          <a:solidFill>
            <a:schemeClr val="bg2"/>
          </a:solidFill>
          <a:ln w="12700">
            <a:solidFill>
              <a:schemeClr val="bg2"/>
            </a:solidFill>
            <a:prstDash val="solid"/>
          </a:ln>
        </p:spPr>
        <p:txBody>
          <a:bodyPr/>
          <a:p/>
        </p:txBody>
      </p:sp>
      <p:sp>
        <p:nvSpPr>
          <p:cNvPr id="5" name="Text 2"/>
          <p:cNvSpPr txBox="1"/>
          <p:nvPr/>
        </p:nvSpPr>
        <p:spPr>
          <a:xfrm>
            <a:off x="640080" y="1298448"/>
            <a:ext cx="2240280" cy="594360"/>
          </a:xfrm>
          <a:prstGeom prst="rect">
            <a:avLst/>
          </a:prstGeom>
          <a:noFill/>
          <a:ln/>
        </p:spPr>
        <p:txBody>
          <a:bodyPr wrap="square" lIns="0" tIns="0" rIns="0" bIns="0" rtlCol="0" anchor="t"/>
          <a:lstStyle/>
          <a:p>
            <a:pPr indent="0" marL="0">
              <a:buNone/>
            </a:pPr>
            <a:r>
              <a:rPr lang="en-US" sz="1600" b="1" dirty="0">
                <a:solidFill>
                  <a:schemeClr val="tx2"/>
                </a:solidFill>
              </a:rPr>
              <a:t>Convocatorias en papel</a:t>
            </a:r>
            <a:endParaRPr lang="en-US" sz="1600" dirty="0"/>
          </a:p>
        </p:txBody>
      </p:sp>
      <p:sp>
        <p:nvSpPr>
          <p:cNvPr id="6" name="Text 3"/>
          <p:cNvSpPr txBox="1"/>
          <p:nvPr/>
        </p:nvSpPr>
        <p:spPr>
          <a:xfrm>
            <a:off x="640080" y="1965960"/>
            <a:ext cx="2240280" cy="1417320"/>
          </a:xfrm>
          <a:prstGeom prst="rect">
            <a:avLst/>
          </a:prstGeom>
          <a:noFill/>
          <a:ln/>
        </p:spPr>
        <p:txBody>
          <a:bodyPr wrap="square" lIns="0" tIns="0" rIns="0" bIns="0" rtlCol="0" anchor="t"/>
          <a:lstStyle/>
          <a:p>
            <a:pPr indent="0" marL="0">
              <a:buNone/>
            </a:pPr>
            <a:r>
              <a:rPr lang="en-US" sz="1500" dirty="0">
                <a:solidFill>
                  <a:schemeClr val="tx1"/>
                </a:solidFill>
              </a:rPr>
              <a:t>Cartas y tablón de anuncios: el socio se entera tarde o no se entera.</a:t>
            </a:r>
            <a:endParaRPr lang="en-US" sz="1500" dirty="0"/>
          </a:p>
        </p:txBody>
      </p:sp>
      <p:sp>
        <p:nvSpPr>
          <p:cNvPr id="7" name="Tarjeta"/>
          <p:cNvSpPr/>
          <p:nvPr/>
        </p:nvSpPr>
        <p:spPr>
          <a:xfrm>
            <a:off x="3246120" y="1188720"/>
            <a:ext cx="2606040" cy="2286000"/>
          </a:xfrm>
          <a:prstGeom prst="roundRect">
            <a:avLst>
              <a:gd name="adj" fmla="val 4000"/>
            </a:avLst>
          </a:prstGeom>
          <a:solidFill>
            <a:schemeClr val="bg2"/>
          </a:solidFill>
          <a:ln w="12700">
            <a:solidFill>
              <a:schemeClr val="bg2"/>
            </a:solidFill>
            <a:prstDash val="solid"/>
          </a:ln>
        </p:spPr>
        <p:txBody>
          <a:bodyPr/>
          <a:p/>
        </p:txBody>
      </p:sp>
      <p:sp>
        <p:nvSpPr>
          <p:cNvPr id="8" name="Text 5"/>
          <p:cNvSpPr txBox="1"/>
          <p:nvPr/>
        </p:nvSpPr>
        <p:spPr>
          <a:xfrm>
            <a:off x="3429000" y="1298448"/>
            <a:ext cx="2240280" cy="594360"/>
          </a:xfrm>
          <a:prstGeom prst="rect">
            <a:avLst/>
          </a:prstGeom>
          <a:noFill/>
          <a:ln/>
        </p:spPr>
        <p:txBody>
          <a:bodyPr wrap="square" lIns="0" tIns="0" rIns="0" bIns="0" rtlCol="0" anchor="t"/>
          <a:lstStyle/>
          <a:p>
            <a:pPr indent="0" marL="0">
              <a:buNone/>
            </a:pPr>
            <a:r>
              <a:rPr lang="en-US" sz="1600" b="1" dirty="0">
                <a:solidFill>
                  <a:schemeClr val="tx2"/>
                </a:solidFill>
              </a:rPr>
              <a:t>Documentos fuera de alcance</a:t>
            </a:r>
            <a:endParaRPr lang="en-US" sz="1600" dirty="0"/>
          </a:p>
        </p:txBody>
      </p:sp>
      <p:sp>
        <p:nvSpPr>
          <p:cNvPr id="9" name="Text 6"/>
          <p:cNvSpPr txBox="1"/>
          <p:nvPr/>
        </p:nvSpPr>
        <p:spPr>
          <a:xfrm>
            <a:off x="3429000" y="1965960"/>
            <a:ext cx="2240280" cy="1417320"/>
          </a:xfrm>
          <a:prstGeom prst="rect">
            <a:avLst/>
          </a:prstGeom>
          <a:noFill/>
          <a:ln/>
        </p:spPr>
        <p:txBody>
          <a:bodyPr wrap="square" lIns="0" tIns="0" rIns="0" bIns="0" rtlCol="0" anchor="t"/>
          <a:lstStyle/>
          <a:p>
            <a:pPr indent="0" marL="0">
              <a:buNone/>
            </a:pPr>
            <a:r>
              <a:rPr lang="en-US" sz="1500" dirty="0">
                <a:solidFill>
                  <a:schemeClr val="tx1"/>
                </a:solidFill>
              </a:rPr>
              <a:t>Estatutos, reglamentos y actas no están a mano.</a:t>
            </a:r>
            <a:endParaRPr lang="en-US" sz="1500" dirty="0"/>
          </a:p>
        </p:txBody>
      </p:sp>
      <p:sp>
        <p:nvSpPr>
          <p:cNvPr id="10" name="Tarjeta"/>
          <p:cNvSpPr/>
          <p:nvPr/>
        </p:nvSpPr>
        <p:spPr>
          <a:xfrm>
            <a:off x="6035040" y="1188720"/>
            <a:ext cx="2606040" cy="2286000"/>
          </a:xfrm>
          <a:prstGeom prst="roundRect">
            <a:avLst>
              <a:gd name="adj" fmla="val 4000"/>
            </a:avLst>
          </a:prstGeom>
          <a:solidFill>
            <a:schemeClr val="bg2"/>
          </a:solidFill>
          <a:ln w="12700">
            <a:solidFill>
              <a:schemeClr val="bg2"/>
            </a:solidFill>
            <a:prstDash val="solid"/>
          </a:ln>
        </p:spPr>
        <p:txBody>
          <a:bodyPr/>
          <a:p/>
        </p:txBody>
      </p:sp>
      <p:sp>
        <p:nvSpPr>
          <p:cNvPr id="11" name="Text 8"/>
          <p:cNvSpPr txBox="1"/>
          <p:nvPr/>
        </p:nvSpPr>
        <p:spPr>
          <a:xfrm>
            <a:off x="6217920" y="1298448"/>
            <a:ext cx="2240280" cy="594360"/>
          </a:xfrm>
          <a:prstGeom prst="rect">
            <a:avLst/>
          </a:prstGeom>
          <a:noFill/>
          <a:ln/>
        </p:spPr>
        <p:txBody>
          <a:bodyPr wrap="square" lIns="0" tIns="0" rIns="0" bIns="0" rtlCol="0" anchor="t"/>
          <a:lstStyle/>
          <a:p>
            <a:pPr indent="0" marL="0">
              <a:buNone/>
            </a:pPr>
            <a:r>
              <a:rPr lang="en-US" sz="1600" b="1" dirty="0">
                <a:solidFill>
                  <a:schemeClr val="tx2"/>
                </a:solidFill>
              </a:rPr>
              <a:t>Descuadres detectados tarde</a:t>
            </a:r>
            <a:endParaRPr lang="en-US" sz="1600" dirty="0"/>
          </a:p>
        </p:txBody>
      </p:sp>
      <p:sp>
        <p:nvSpPr>
          <p:cNvPr id="12" name="Text 9"/>
          <p:cNvSpPr txBox="1"/>
          <p:nvPr/>
        </p:nvSpPr>
        <p:spPr>
          <a:xfrm>
            <a:off x="6217920" y="1965960"/>
            <a:ext cx="2240280" cy="1417320"/>
          </a:xfrm>
          <a:prstGeom prst="rect">
            <a:avLst/>
          </a:prstGeom>
          <a:noFill/>
          <a:ln/>
        </p:spPr>
        <p:txBody>
          <a:bodyPr wrap="square" lIns="0" tIns="0" rIns="0" bIns="0" rtlCol="0" anchor="t"/>
          <a:lstStyle/>
          <a:p>
            <a:pPr indent="0" marL="0">
              <a:buNone/>
            </a:pPr>
            <a:r>
              <a:rPr lang="en-US" sz="1500" dirty="0">
                <a:solidFill>
                  <a:schemeClr val="tx1"/>
                </a:solidFill>
              </a:rPr>
              <a:t>Albaranes y facturas en papel: impagos y cobros pendientes se ven tarde o nunca.</a:t>
            </a:r>
            <a:endParaRPr lang="en-US" sz="1500" dirty="0"/>
          </a:p>
        </p:txBody>
      </p:sp>
      <p:sp>
        <p:nvSpPr>
          <p:cNvPr id="13" name="Shape 10"/>
          <p:cNvSpPr/>
          <p:nvPr/>
        </p:nvSpPr>
        <p:spPr>
          <a:xfrm>
            <a:off x="457200" y="3657600"/>
            <a:ext cx="8229600" cy="868680"/>
          </a:xfrm>
          <a:prstGeom prst="roundRect">
            <a:avLst>
              <a:gd name="adj" fmla="val 10526"/>
            </a:avLst>
          </a:prstGeom>
          <a:solidFill>
            <a:schemeClr val="accent1"/>
          </a:solidFill>
          <a:ln w="12700">
            <a:solidFill>
              <a:schemeClr val="accent1"/>
            </a:solidFill>
            <a:prstDash val="solid"/>
          </a:ln>
        </p:spPr>
        <p:txBody>
          <a:bodyPr/>
          <a:p/>
        </p:txBody>
      </p:sp>
      <p:sp>
        <p:nvSpPr>
          <p:cNvPr id="14" name="Text 11"/>
          <p:cNvSpPr txBox="1"/>
          <p:nvPr/>
        </p:nvSpPr>
        <p:spPr>
          <a:xfrm>
            <a:off x="685800" y="3657600"/>
            <a:ext cx="7772400" cy="868680"/>
          </a:xfrm>
          <a:prstGeom prst="rect">
            <a:avLst/>
          </a:prstGeom>
          <a:noFill/>
          <a:ln/>
        </p:spPr>
        <p:txBody>
          <a:bodyPr wrap="square" lIns="0" tIns="0" rIns="0" bIns="0" rtlCol="0" anchor="ctr"/>
          <a:lstStyle/>
          <a:p>
            <a:pPr indent="0" marL="0">
              <a:buNone/>
            </a:pPr>
            <a:r>
              <a:rPr lang="en-US" sz="1600" b="1" dirty="0">
                <a:solidFill>
                  <a:schemeClr val="bg1"/>
                </a:solidFill>
              </a:rPr>
              <a:t>Objetivo: conectar a cada cooperativa con sus socios y controlar albaranes y facturas con un asistente de IA que respeta los permisos</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ulo"/>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La solución y sus cuatro perfiles</a:t>
            </a:r>
            <a:endParaRPr lang="en-US" sz="2800" dirty="0"/>
          </a:p>
        </p:txBody>
      </p:sp>
      <p:sp>
        <p:nvSpPr>
          <p:cNvPr id="4" name="Text 1"/>
          <p:cNvSpPr txBox="1"/>
          <p:nvPr/>
        </p:nvSpPr>
        <p:spPr>
          <a:xfrm>
            <a:off x="457200" y="1188720"/>
            <a:ext cx="3200400" cy="2011680"/>
          </a:xfrm>
          <a:prstGeom prst="rect">
            <a:avLst/>
          </a:prstGeom>
          <a:noFill/>
          <a:ln/>
        </p:spPr>
        <p:txBody>
          <a:bodyPr wrap="square" lIns="0" tIns="0" rIns="0" bIns="0" rtlCol="0" anchor="t"/>
          <a:lstStyle/>
          <a:p>
            <a:pPr indent="0" marL="0">
              <a:buNone/>
            </a:pPr>
            <a:r>
              <a:rPr lang="en-US" sz="1800" dirty="0">
                <a:solidFill>
                  <a:schemeClr val="tx1"/>
                </a:solidFill>
              </a:rPr>
              <a:t>Una app estándar para cualquier cooperativa; un usuario, varias cooperativas, datos aislados.</a:t>
            </a:r>
            <a:endParaRPr lang="en-US" sz="1800" dirty="0"/>
          </a:p>
        </p:txBody>
      </p:sp>
      <p:sp>
        <p:nvSpPr>
          <p:cNvPr id="5" name="Text 2"/>
          <p:cNvSpPr txBox="1"/>
          <p:nvPr/>
        </p:nvSpPr>
        <p:spPr>
          <a:xfrm>
            <a:off x="457200" y="3383280"/>
            <a:ext cx="3200400" cy="731520"/>
          </a:xfrm>
          <a:prstGeom prst="rect">
            <a:avLst/>
          </a:prstGeom>
          <a:noFill/>
          <a:ln/>
        </p:spPr>
        <p:txBody>
          <a:bodyPr wrap="square" lIns="0" tIns="0" rIns="0" bIns="0" rtlCol="0" anchor="t"/>
          <a:lstStyle/>
          <a:p>
            <a:pPr indent="0" marL="0">
              <a:buNone/>
            </a:pPr>
            <a:r>
              <a:rPr lang="en-US" sz="1600" b="1" i="1" dirty="0">
                <a:solidFill>
                  <a:schemeClr val="accent3"/>
                </a:solidFill>
              </a:rPr>
              <a:t>El backend decide; la app solo oculta.</a:t>
            </a:r>
            <a:endParaRPr lang="en-US" sz="1600" dirty="0"/>
          </a:p>
        </p:txBody>
      </p:sp>
      <p:sp>
        <p:nvSpPr>
          <p:cNvPr id="6" name="Tarjeta"/>
          <p:cNvSpPr/>
          <p:nvPr/>
        </p:nvSpPr>
        <p:spPr>
          <a:xfrm>
            <a:off x="3931920" y="1188720"/>
            <a:ext cx="2331720" cy="1417320"/>
          </a:xfrm>
          <a:prstGeom prst="roundRect">
            <a:avLst>
              <a:gd name="adj" fmla="val 6452"/>
            </a:avLst>
          </a:prstGeom>
          <a:solidFill>
            <a:schemeClr val="bg2"/>
          </a:solidFill>
          <a:ln w="12700">
            <a:solidFill>
              <a:schemeClr val="bg2"/>
            </a:solidFill>
            <a:prstDash val="solid"/>
          </a:ln>
        </p:spPr>
        <p:txBody>
          <a:bodyPr/>
          <a:p/>
        </p:txBody>
      </p:sp>
      <p:sp>
        <p:nvSpPr>
          <p:cNvPr id="7" name="Text 4"/>
          <p:cNvSpPr txBox="1"/>
          <p:nvPr/>
        </p:nvSpPr>
        <p:spPr>
          <a:xfrm>
            <a:off x="4114800" y="1298448"/>
            <a:ext cx="1965960" cy="365760"/>
          </a:xfrm>
          <a:prstGeom prst="rect">
            <a:avLst/>
          </a:prstGeom>
          <a:noFill/>
          <a:ln/>
        </p:spPr>
        <p:txBody>
          <a:bodyPr wrap="square" lIns="0" tIns="0" rIns="0" bIns="0" rtlCol="0" anchor="t"/>
          <a:lstStyle/>
          <a:p>
            <a:pPr indent="0" marL="0">
              <a:buNone/>
            </a:pPr>
            <a:r>
              <a:rPr lang="en-US" sz="1700" b="1" dirty="0">
                <a:solidFill>
                  <a:schemeClr val="tx2"/>
                </a:solidFill>
              </a:rPr>
              <a:t>Socio</a:t>
            </a:r>
            <a:endParaRPr lang="en-US" sz="1700" dirty="0"/>
          </a:p>
        </p:txBody>
      </p:sp>
      <p:sp>
        <p:nvSpPr>
          <p:cNvPr id="8" name="Text 5"/>
          <p:cNvSpPr txBox="1"/>
          <p:nvPr/>
        </p:nvSpPr>
        <p:spPr>
          <a:xfrm>
            <a:off x="4114800" y="1737360"/>
            <a:ext cx="1965960" cy="777240"/>
          </a:xfrm>
          <a:prstGeom prst="rect">
            <a:avLst/>
          </a:prstGeom>
          <a:noFill/>
          <a:ln/>
        </p:spPr>
        <p:txBody>
          <a:bodyPr wrap="square" lIns="0" tIns="0" rIns="0" bIns="0" rtlCol="0" anchor="t"/>
          <a:lstStyle/>
          <a:p>
            <a:pPr indent="0" marL="0">
              <a:buNone/>
            </a:pPr>
            <a:r>
              <a:rPr lang="en-US" sz="1400" dirty="0">
                <a:solidFill>
                  <a:schemeClr val="tx1"/>
                </a:solidFill>
              </a:rPr>
              <a:t>Informarse, votar, leer documentos y ver su capital</a:t>
            </a:r>
            <a:endParaRPr lang="en-US" sz="1400" dirty="0"/>
          </a:p>
        </p:txBody>
      </p:sp>
      <p:sp>
        <p:nvSpPr>
          <p:cNvPr id="9" name="Tarjeta"/>
          <p:cNvSpPr/>
          <p:nvPr/>
        </p:nvSpPr>
        <p:spPr>
          <a:xfrm>
            <a:off x="6400800" y="1188720"/>
            <a:ext cx="2331720" cy="1417320"/>
          </a:xfrm>
          <a:prstGeom prst="roundRect">
            <a:avLst>
              <a:gd name="adj" fmla="val 6452"/>
            </a:avLst>
          </a:prstGeom>
          <a:solidFill>
            <a:schemeClr val="bg2"/>
          </a:solidFill>
          <a:ln w="12700">
            <a:solidFill>
              <a:schemeClr val="bg2"/>
            </a:solidFill>
            <a:prstDash val="solid"/>
          </a:ln>
        </p:spPr>
        <p:txBody>
          <a:bodyPr/>
          <a:p/>
        </p:txBody>
      </p:sp>
      <p:sp>
        <p:nvSpPr>
          <p:cNvPr id="10" name="Text 7"/>
          <p:cNvSpPr txBox="1"/>
          <p:nvPr/>
        </p:nvSpPr>
        <p:spPr>
          <a:xfrm>
            <a:off x="6583680" y="1298448"/>
            <a:ext cx="1965960" cy="365760"/>
          </a:xfrm>
          <a:prstGeom prst="rect">
            <a:avLst/>
          </a:prstGeom>
          <a:noFill/>
          <a:ln/>
        </p:spPr>
        <p:txBody>
          <a:bodyPr wrap="square" lIns="0" tIns="0" rIns="0" bIns="0" rtlCol="0" anchor="t"/>
          <a:lstStyle/>
          <a:p>
            <a:pPr indent="0" marL="0">
              <a:buNone/>
            </a:pPr>
            <a:r>
              <a:rPr lang="en-US" sz="1700" b="1" dirty="0">
                <a:solidFill>
                  <a:schemeClr val="tx2"/>
                </a:solidFill>
              </a:rPr>
              <a:t>Consejo rector</a:t>
            </a:r>
            <a:endParaRPr lang="en-US" sz="1700" dirty="0"/>
          </a:p>
        </p:txBody>
      </p:sp>
      <p:sp>
        <p:nvSpPr>
          <p:cNvPr id="11" name="Text 8"/>
          <p:cNvSpPr txBox="1"/>
          <p:nvPr/>
        </p:nvSpPr>
        <p:spPr>
          <a:xfrm>
            <a:off x="6583680" y="1737360"/>
            <a:ext cx="1965960" cy="777240"/>
          </a:xfrm>
          <a:prstGeom prst="rect">
            <a:avLst/>
          </a:prstGeom>
          <a:noFill/>
          <a:ln/>
        </p:spPr>
        <p:txBody>
          <a:bodyPr wrap="square" lIns="0" tIns="0" rIns="0" bIns="0" rtlCol="0" anchor="t"/>
          <a:lstStyle/>
          <a:p>
            <a:pPr indent="0" marL="0">
              <a:buNone/>
            </a:pPr>
            <a:r>
              <a:rPr lang="en-US" sz="1400" dirty="0">
                <a:solidFill>
                  <a:schemeClr val="tx1"/>
                </a:solidFill>
              </a:rPr>
              <a:t>Comunicados, asambleas, vigilar pagos y cobros</a:t>
            </a:r>
            <a:endParaRPr lang="en-US" sz="1400" dirty="0"/>
          </a:p>
        </p:txBody>
      </p:sp>
      <p:sp>
        <p:nvSpPr>
          <p:cNvPr id="12" name="Tarjeta"/>
          <p:cNvSpPr/>
          <p:nvPr/>
        </p:nvSpPr>
        <p:spPr>
          <a:xfrm>
            <a:off x="3931920" y="2743200"/>
            <a:ext cx="2331720" cy="1417320"/>
          </a:xfrm>
          <a:prstGeom prst="roundRect">
            <a:avLst>
              <a:gd name="adj" fmla="val 6452"/>
            </a:avLst>
          </a:prstGeom>
          <a:solidFill>
            <a:schemeClr val="bg2"/>
          </a:solidFill>
          <a:ln w="12700">
            <a:solidFill>
              <a:schemeClr val="bg2"/>
            </a:solidFill>
            <a:prstDash val="solid"/>
          </a:ln>
        </p:spPr>
        <p:txBody>
          <a:bodyPr/>
          <a:p/>
        </p:txBody>
      </p:sp>
      <p:sp>
        <p:nvSpPr>
          <p:cNvPr id="13" name="Text 10"/>
          <p:cNvSpPr txBox="1"/>
          <p:nvPr/>
        </p:nvSpPr>
        <p:spPr>
          <a:xfrm>
            <a:off x="4114800" y="2852928"/>
            <a:ext cx="1965960" cy="365760"/>
          </a:xfrm>
          <a:prstGeom prst="rect">
            <a:avLst/>
          </a:prstGeom>
          <a:noFill/>
          <a:ln/>
        </p:spPr>
        <p:txBody>
          <a:bodyPr wrap="square" lIns="0" tIns="0" rIns="0" bIns="0" rtlCol="0" anchor="t"/>
          <a:lstStyle/>
          <a:p>
            <a:pPr indent="0" marL="0">
              <a:buNone/>
            </a:pPr>
            <a:r>
              <a:rPr lang="en-US" sz="1700" b="1" dirty="0">
                <a:solidFill>
                  <a:schemeClr val="tx2"/>
                </a:solidFill>
              </a:rPr>
              <a:t>Gestor</a:t>
            </a:r>
            <a:endParaRPr lang="en-US" sz="1700" dirty="0"/>
          </a:p>
        </p:txBody>
      </p:sp>
      <p:sp>
        <p:nvSpPr>
          <p:cNvPr id="14" name="Text 11"/>
          <p:cNvSpPr txBox="1"/>
          <p:nvPr/>
        </p:nvSpPr>
        <p:spPr>
          <a:xfrm>
            <a:off x="4114800" y="3291840"/>
            <a:ext cx="1965960" cy="777240"/>
          </a:xfrm>
          <a:prstGeom prst="rect">
            <a:avLst/>
          </a:prstGeom>
          <a:noFill/>
          <a:ln/>
        </p:spPr>
        <p:txBody>
          <a:bodyPr wrap="square" lIns="0" tIns="0" rIns="0" bIns="0" rtlCol="0" anchor="t"/>
          <a:lstStyle/>
          <a:p>
            <a:pPr indent="0" marL="0">
              <a:buNone/>
            </a:pPr>
            <a:r>
              <a:rPr lang="en-US" sz="1400" dirty="0">
                <a:solidFill>
                  <a:schemeClr val="tx1"/>
                </a:solidFill>
              </a:rPr>
              <a:t>Registrar y conciliar albaranes y facturas</a:t>
            </a:r>
            <a:endParaRPr lang="en-US" sz="1400" dirty="0"/>
          </a:p>
        </p:txBody>
      </p:sp>
      <p:sp>
        <p:nvSpPr>
          <p:cNvPr id="15" name="Tarjeta"/>
          <p:cNvSpPr/>
          <p:nvPr/>
        </p:nvSpPr>
        <p:spPr>
          <a:xfrm>
            <a:off x="6400800" y="2743200"/>
            <a:ext cx="2331720" cy="1417320"/>
          </a:xfrm>
          <a:prstGeom prst="roundRect">
            <a:avLst>
              <a:gd name="adj" fmla="val 6452"/>
            </a:avLst>
          </a:prstGeom>
          <a:solidFill>
            <a:schemeClr val="bg2"/>
          </a:solidFill>
          <a:ln w="12700">
            <a:solidFill>
              <a:schemeClr val="bg2"/>
            </a:solidFill>
            <a:prstDash val="solid"/>
          </a:ln>
        </p:spPr>
        <p:txBody>
          <a:bodyPr/>
          <a:p/>
        </p:txBody>
      </p:sp>
      <p:sp>
        <p:nvSpPr>
          <p:cNvPr id="16" name="Text 13"/>
          <p:cNvSpPr txBox="1"/>
          <p:nvPr/>
        </p:nvSpPr>
        <p:spPr>
          <a:xfrm>
            <a:off x="6583680" y="2852928"/>
            <a:ext cx="1965960" cy="365760"/>
          </a:xfrm>
          <a:prstGeom prst="rect">
            <a:avLst/>
          </a:prstGeom>
          <a:noFill/>
          <a:ln/>
        </p:spPr>
        <p:txBody>
          <a:bodyPr wrap="square" lIns="0" tIns="0" rIns="0" bIns="0" rtlCol="0" anchor="t"/>
          <a:lstStyle/>
          <a:p>
            <a:pPr indent="0" marL="0">
              <a:buNone/>
            </a:pPr>
            <a:r>
              <a:rPr lang="en-US" sz="1700" b="1" dirty="0">
                <a:solidFill>
                  <a:schemeClr val="tx2"/>
                </a:solidFill>
              </a:rPr>
              <a:t>Administrador</a:t>
            </a:r>
            <a:endParaRPr lang="en-US" sz="1700" dirty="0"/>
          </a:p>
        </p:txBody>
      </p:sp>
      <p:sp>
        <p:nvSpPr>
          <p:cNvPr id="17" name="Text 14"/>
          <p:cNvSpPr txBox="1"/>
          <p:nvPr/>
        </p:nvSpPr>
        <p:spPr>
          <a:xfrm>
            <a:off x="6583680" y="3291840"/>
            <a:ext cx="1965960" cy="777240"/>
          </a:xfrm>
          <a:prstGeom prst="rect">
            <a:avLst/>
          </a:prstGeom>
          <a:noFill/>
          <a:ln/>
        </p:spPr>
        <p:txBody>
          <a:bodyPr wrap="square" lIns="0" tIns="0" rIns="0" bIns="0" rtlCol="0" anchor="t"/>
          <a:lstStyle/>
          <a:p>
            <a:pPr indent="0" marL="0">
              <a:buNone/>
            </a:pPr>
            <a:r>
              <a:rPr lang="en-US" sz="1400" dirty="0">
                <a:solidFill>
                  <a:schemeClr val="tx1"/>
                </a:solidFill>
              </a:rPr>
              <a:t>Dar acceso con invitaciones, asignar perfiles y marca</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
        <p:nvSpPr>
          <p:cNvPr id="26" name="Titulo"/>
          <p:cNvSpPr txBox="1"/>
          <p:nvPr/>
        </p:nvSpPr>
        <p:spPr>
          <a:xfrm>
            <a:off x="457200" y="274320"/>
            <a:ext cx="8229600" cy="685800"/>
          </a:xfrm>
          <a:prstGeom prst="rect">
            <a:avLst/>
          </a:prstGeom>
          <a:noFill/>
        </p:spPr>
        <p:txBody>
          <a:bodyPr wrap="square" lIns="0" rIns="0" tIns="0" bIns="0" anchor="ctr">
            <a:spAutoFit/>
          </a:bodyPr>
          <a:lstStyle/>
          <a:p>
            <a:r>
              <a:rPr sz="2800" b="1">
                <a:solidFill>
                  <a:schemeClr val="tx2"/>
                </a:solidFill>
                <a:latin typeface="Cambria"/>
              </a:rPr>
              <a:t>Módulos del MVP: hecho y pendiente</a:t>
            </a:r>
          </a:p>
        </p:txBody>
      </p:sp>
      <p:sp>
        <p:nvSpPr>
          <p:cNvPr id="27" name="Tarjeta"/>
          <p:cNvSpPr/>
          <p:nvPr/>
        </p:nvSpPr>
        <p:spPr>
          <a:xfrm>
            <a:off x="457200" y="1188720"/>
            <a:ext cx="4754880" cy="3429000"/>
          </a:xfrm>
          <a:prstGeom prst="roundRect">
            <a:avLst>
              <a:gd name="adj" fmla="val 4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1298448"/>
            <a:ext cx="4389120" cy="365760"/>
          </a:xfrm>
          <a:prstGeom prst="rect">
            <a:avLst/>
          </a:prstGeom>
          <a:noFill/>
        </p:spPr>
        <p:txBody>
          <a:bodyPr wrap="square" lIns="0" rIns="0" tIns="0" bIns="0" anchor="t">
            <a:spAutoFit/>
          </a:bodyPr>
          <a:lstStyle/>
          <a:p>
            <a:r>
              <a:rPr sz="1800" b="1">
                <a:solidFill>
                  <a:schemeClr val="bg1"/>
                </a:solidFill>
              </a:rPr>
              <a:t>Implementado: los 7 módulos</a:t>
            </a:r>
          </a:p>
        </p:txBody>
      </p:sp>
      <p:sp>
        <p:nvSpPr>
          <p:cNvPr id="29" name="TextBox 28"/>
          <p:cNvSpPr txBox="1"/>
          <p:nvPr/>
        </p:nvSpPr>
        <p:spPr>
          <a:xfrm>
            <a:off x="685800" y="1783080"/>
            <a:ext cx="4343400" cy="2743200"/>
          </a:xfrm>
          <a:prstGeom prst="rect">
            <a:avLst/>
          </a:prstGeom>
          <a:noFill/>
        </p:spPr>
        <p:txBody>
          <a:bodyPr wrap="square" lIns="0" rIns="0" tIns="0" bIns="0">
            <a:spAutoFit/>
          </a:bodyPr>
          <a:lstStyle/>
          <a:p>
            <a:pPr marL="228600" indent="-228600">
              <a:spcAft>
                <a:spcPts val="400"/>
              </a:spcAft>
              <a:buSzPct val="100000"/>
              <a:buChar char="•"/>
            </a:pPr>
            <a:r>
              <a:rPr sz="1400" b="0">
                <a:solidFill>
                  <a:schemeClr val="bg1"/>
                </a:solidFill>
              </a:rPr>
              <a:t>Acceso y perfiles, miembros e invitaciones por enlace</a:t>
            </a:r>
          </a:p>
          <a:p>
            <a:pPr marL="228600" indent="-228600">
              <a:spcAft>
                <a:spcPts val="400"/>
              </a:spcAft>
              <a:buSzPct val="100000"/>
              <a:buChar char="•"/>
            </a:pPr>
            <a:r>
              <a:rPr sz="1400" b="0">
                <a:solidFill>
                  <a:schemeClr val="bg1"/>
                </a:solidFill>
              </a:rPr>
              <a:t>Comunicados</a:t>
            </a:r>
          </a:p>
          <a:p>
            <a:pPr marL="228600" indent="-228600">
              <a:spcAft>
                <a:spcPts val="400"/>
              </a:spcAft>
              <a:buSzPct val="100000"/>
              <a:buChar char="•"/>
            </a:pPr>
            <a:r>
              <a:rPr sz="1400" b="0">
                <a:solidFill>
                  <a:schemeClr val="bg1"/>
                </a:solidFill>
              </a:rPr>
              <a:t>Documentos y búsqueda semántica</a:t>
            </a:r>
          </a:p>
          <a:p>
            <a:pPr marL="228600" indent="-228600">
              <a:spcAft>
                <a:spcPts val="400"/>
              </a:spcAft>
              <a:buSzPct val="100000"/>
              <a:buChar char="•"/>
            </a:pPr>
            <a:r>
              <a:rPr sz="1400" b="0">
                <a:solidFill>
                  <a:schemeClr val="bg1"/>
                </a:solidFill>
              </a:rPr>
              <a:t>Asambleas y votación</a:t>
            </a:r>
          </a:p>
          <a:p>
            <a:pPr marL="228600" indent="-228600">
              <a:spcAft>
                <a:spcPts val="400"/>
              </a:spcAft>
              <a:buSzPct val="100000"/>
              <a:buChar char="•"/>
            </a:pPr>
            <a:r>
              <a:rPr sz="1400" b="0">
                <a:solidFill>
                  <a:schemeClr val="bg1"/>
                </a:solidFill>
              </a:rPr>
              <a:t>Facturas y albaranes con IA; proveedores y clientes</a:t>
            </a:r>
          </a:p>
          <a:p>
            <a:pPr marL="228600" indent="-228600">
              <a:spcAft>
                <a:spcPts val="400"/>
              </a:spcAft>
              <a:buSzPct val="100000"/>
              <a:buChar char="•"/>
            </a:pPr>
            <a:r>
              <a:rPr sz="1400" b="0">
                <a:solidFill>
                  <a:schemeClr val="bg1"/>
                </a:solidFill>
              </a:rPr>
              <a:t>Área del socio (capital y aportaciones)</a:t>
            </a:r>
          </a:p>
          <a:p>
            <a:pPr marL="228600" indent="-228600">
              <a:spcAft>
                <a:spcPts val="400"/>
              </a:spcAft>
              <a:buSzPct val="100000"/>
              <a:buChar char="•"/>
            </a:pPr>
            <a:r>
              <a:rPr sz="1400" b="0">
                <a:solidFill>
                  <a:schemeClr val="bg1"/>
                </a:solidFill>
              </a:rPr>
              <a:t>Asistente de IA con citas, historial, facturación agregada y socios; modelo local o externo</a:t>
            </a:r>
          </a:p>
          <a:p>
            <a:pPr marL="228600" indent="-228600">
              <a:spcAft>
                <a:spcPts val="400"/>
              </a:spcAft>
              <a:buSzPct val="100000"/>
              <a:buChar char="•"/>
            </a:pPr>
            <a:r>
              <a:rPr sz="1400" b="0">
                <a:solidFill>
                  <a:schemeClr val="bg1"/>
                </a:solidFill>
              </a:rPr>
              <a:t>Marca por cooperativa (color) y sistema de diseño</a:t>
            </a:r>
          </a:p>
        </p:txBody>
      </p:sp>
      <p:sp>
        <p:nvSpPr>
          <p:cNvPr id="30" name="Tarjeta"/>
          <p:cNvSpPr/>
          <p:nvPr/>
        </p:nvSpPr>
        <p:spPr>
          <a:xfrm>
            <a:off x="5394960" y="1188720"/>
            <a:ext cx="3291840" cy="3429000"/>
          </a:xfrm>
          <a:prstGeom prst="roundRect">
            <a:avLst>
              <a:gd name="adj" fmla="val 4000"/>
            </a:avLst>
          </a:prstGeom>
          <a:solidFill>
            <a:schemeClr val="bg2"/>
          </a:solidFill>
          <a:ln w="12700">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577840" y="1298448"/>
            <a:ext cx="2926080" cy="365760"/>
          </a:xfrm>
          <a:prstGeom prst="rect">
            <a:avLst/>
          </a:prstGeom>
          <a:noFill/>
        </p:spPr>
        <p:txBody>
          <a:bodyPr wrap="square" lIns="0" rIns="0" tIns="0" bIns="0" anchor="t">
            <a:spAutoFit/>
          </a:bodyPr>
          <a:lstStyle/>
          <a:p>
            <a:r>
              <a:rPr sz="1800" b="1">
                <a:solidFill>
                  <a:schemeClr val="tx2"/>
                </a:solidFill>
              </a:rPr>
              <a:t>Trabajo futuro</a:t>
            </a:r>
          </a:p>
        </p:txBody>
      </p:sp>
      <p:sp>
        <p:nvSpPr>
          <p:cNvPr id="32" name="TextBox 31"/>
          <p:cNvSpPr txBox="1"/>
          <p:nvPr/>
        </p:nvSpPr>
        <p:spPr>
          <a:xfrm>
            <a:off x="5623560" y="1783080"/>
            <a:ext cx="2926080" cy="2743200"/>
          </a:xfrm>
          <a:prstGeom prst="rect">
            <a:avLst/>
          </a:prstGeom>
          <a:noFill/>
        </p:spPr>
        <p:txBody>
          <a:bodyPr wrap="square" lIns="0" rIns="0" tIns="0" bIns="0">
            <a:spAutoFit/>
          </a:bodyPr>
          <a:lstStyle/>
          <a:p>
            <a:pPr marL="228600" indent="-228600">
              <a:spcAft>
                <a:spcPts val="600"/>
              </a:spcAft>
              <a:buSzPct val="100000"/>
              <a:buChar char="•"/>
            </a:pPr>
            <a:r>
              <a:rPr sz="1400" b="0">
                <a:solidFill>
                  <a:schemeClr val="tx1"/>
                </a:solidFill>
              </a:rPr>
              <a:t>Notificaciones push</a:t>
            </a:r>
          </a:p>
          <a:p>
            <a:pPr marL="228600" indent="-228600">
              <a:spcAft>
                <a:spcPts val="600"/>
              </a:spcAft>
              <a:buSzPct val="100000"/>
              <a:buChar char="•"/>
            </a:pPr>
            <a:r>
              <a:rPr sz="1400" b="0">
                <a:solidFill>
                  <a:schemeClr val="tx1"/>
                </a:solidFill>
              </a:rPr>
              <a:t>Sentry</a:t>
            </a:r>
          </a:p>
          <a:p>
            <a:pPr marL="228600" indent="-228600">
              <a:spcAft>
                <a:spcPts val="600"/>
              </a:spcAft>
              <a:buSzPct val="100000"/>
              <a:buChar char="•"/>
            </a:pPr>
            <a:r>
              <a:rPr sz="1400" b="0">
                <a:solidFill>
                  <a:schemeClr val="tx1"/>
                </a:solidFill>
              </a:rPr>
              <a:t>Tests de componentes (RNTL) y E2E en CI</a:t>
            </a:r>
          </a:p>
          <a:p>
            <a:pPr marL="228600" indent="-228600">
              <a:spcAft>
                <a:spcPts val="600"/>
              </a:spcAft>
              <a:buSzPct val="100000"/>
              <a:buChar char="•"/>
            </a:pPr>
            <a:r>
              <a:rPr sz="1400" b="0">
                <a:solidFill>
                  <a:schemeClr val="tx1"/>
                </a:solidFill>
              </a:rPr>
              <a:t>Reclamaciones de facturas</a:t>
            </a:r>
          </a:p>
          <a:p>
            <a:pPr marL="228600" indent="-228600">
              <a:spcAft>
                <a:spcPts val="600"/>
              </a:spcAft>
              <a:buSzPct val="100000"/>
              <a:buChar char="•"/>
            </a:pPr>
            <a:r>
              <a:rPr sz="1400" b="0">
                <a:solidFill>
                  <a:schemeClr val="tx1"/>
                </a:solidFill>
              </a:rPr>
              <a:t>Binarios nativos (EAS Build)</a:t>
            </a:r>
          </a:p>
          <a:p>
            <a:pPr marL="228600" indent="-228600">
              <a:spcAft>
                <a:spcPts val="600"/>
              </a:spcAft>
              <a:buSzPct val="100000"/>
              <a:buChar char="•"/>
            </a:pPr>
            <a:r>
              <a:rPr sz="1400" b="0">
                <a:solidFill>
                  <a:schemeClr val="tx1"/>
                </a:solidFill>
              </a:rPr>
              <a:t>Invitaciones por correo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
        <p:nvSpPr>
          <p:cNvPr id="26" name="Titulo"/>
          <p:cNvSpPr txBox="1"/>
          <p:nvPr/>
        </p:nvSpPr>
        <p:spPr>
          <a:xfrm>
            <a:off x="457200" y="274320"/>
            <a:ext cx="8229600" cy="685800"/>
          </a:xfrm>
          <a:prstGeom prst="rect">
            <a:avLst/>
          </a:prstGeom>
          <a:noFill/>
        </p:spPr>
        <p:txBody>
          <a:bodyPr wrap="square" lIns="0" rIns="0" tIns="0" bIns="0" anchor="ctr">
            <a:spAutoFit/>
          </a:bodyPr>
          <a:lstStyle/>
          <a:p>
            <a:r>
              <a:rPr sz="2800" b="1">
                <a:solidFill>
                  <a:schemeClr val="tx2"/>
                </a:solidFill>
                <a:latin typeface="Cambria"/>
              </a:rPr>
              <a:t>Arquitectura: monolito modular</a:t>
            </a:r>
          </a:p>
        </p:txBody>
      </p:sp>
      <p:sp>
        <p:nvSpPr>
          <p:cNvPr id="27" name="Nodo"/>
          <p:cNvSpPr/>
          <p:nvPr/>
        </p:nvSpPr>
        <p:spPr>
          <a:xfrm>
            <a:off x="457200" y="2011680"/>
            <a:ext cx="1554480" cy="1005840"/>
          </a:xfrm>
          <a:prstGeom prst="roundRect">
            <a:avLst>
              <a:gd name="adj" fmla="val 7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o nodo"/>
          <p:cNvSpPr txBox="1"/>
          <p:nvPr/>
        </p:nvSpPr>
        <p:spPr>
          <a:xfrm>
            <a:off x="457200" y="2011680"/>
            <a:ext cx="1554480" cy="1005840"/>
          </a:xfrm>
          <a:prstGeom prst="rect">
            <a:avLst/>
          </a:prstGeom>
          <a:noFill/>
        </p:spPr>
        <p:txBody>
          <a:bodyPr wrap="square" lIns="36576" rIns="36576" tIns="36576" bIns="36576" anchor="ctr">
            <a:spAutoFit/>
          </a:bodyPr>
          <a:lstStyle/>
          <a:p>
            <a:pPr algn="ctr"/>
            <a:r>
              <a:rPr sz="1300" b="1">
                <a:solidFill>
                  <a:schemeClr val="bg1"/>
                </a:solidFill>
              </a:rPr>
              <a:t>App Expo</a:t>
            </a:r>
          </a:p>
          <a:p>
            <a:pPr algn="ctr"/>
            <a:r>
              <a:rPr sz="1300" b="1">
                <a:solidFill>
                  <a:schemeClr val="bg1"/>
                </a:solidFill>
              </a:rPr>
              <a:t>móvil y web</a:t>
            </a:r>
          </a:p>
          <a:p>
            <a:pPr algn="ctr"/>
            <a:r>
              <a:rPr sz="1300" b="1">
                <a:solidFill>
                  <a:schemeClr val="bg1"/>
                </a:solidFill>
              </a:rPr>
              <a:t>Paper + diseño</a:t>
            </a:r>
          </a:p>
        </p:txBody>
      </p:sp>
      <p:cxnSp>
        <p:nvCxnSpPr>
          <p:cNvPr id="29" name="Connector 28"/>
          <p:cNvCxnSpPr/>
          <p:nvPr/>
        </p:nvCxnSpPr>
        <p:spPr>
          <a:xfrm>
            <a:off x="2011680" y="2514600"/>
            <a:ext cx="457200" cy="0"/>
          </a:xfrm>
          <a:prstGeom prst="line">
            <a:avLst/>
          </a:prstGeom>
          <a:ln w="22225">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30" name="Backend"/>
          <p:cNvSpPr/>
          <p:nvPr/>
        </p:nvSpPr>
        <p:spPr>
          <a:xfrm>
            <a:off x="2468880" y="1143000"/>
            <a:ext cx="3383280" cy="3017520"/>
          </a:xfrm>
          <a:prstGeom prst="roundRect">
            <a:avLst>
              <a:gd name="adj" fmla="val 3000"/>
            </a:avLst>
          </a:prstGeom>
          <a:solidFill>
            <a:schemeClr val="bg2"/>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468880" y="1188720"/>
            <a:ext cx="3383280" cy="320040"/>
          </a:xfrm>
          <a:prstGeom prst="rect">
            <a:avLst/>
          </a:prstGeom>
          <a:noFill/>
        </p:spPr>
        <p:txBody>
          <a:bodyPr wrap="square" lIns="0" rIns="0" tIns="0" bIns="0" anchor="ctr">
            <a:spAutoFit/>
          </a:bodyPr>
          <a:lstStyle/>
          <a:p>
            <a:pPr algn="ctr"/>
            <a:r>
              <a:rPr sz="1300" b="1">
                <a:solidFill>
                  <a:schemeClr val="tx2"/>
                </a:solidFill>
              </a:rPr>
              <a:t>API · monolito modular</a:t>
            </a:r>
          </a:p>
        </p:txBody>
      </p:sp>
      <p:sp>
        <p:nvSpPr>
          <p:cNvPr id="32" name="Nodo"/>
          <p:cNvSpPr/>
          <p:nvPr/>
        </p:nvSpPr>
        <p:spPr>
          <a:xfrm>
            <a:off x="2651760" y="1600200"/>
            <a:ext cx="1371600" cy="475488"/>
          </a:xfrm>
          <a:prstGeom prst="roundRect">
            <a:avLst>
              <a:gd name="adj" fmla="val 7000"/>
            </a:avLst>
          </a:prstGeom>
          <a:solidFill>
            <a:schemeClr val="accent3"/>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o nodo"/>
          <p:cNvSpPr txBox="1"/>
          <p:nvPr/>
        </p:nvSpPr>
        <p:spPr>
          <a:xfrm>
            <a:off x="2651760" y="1600200"/>
            <a:ext cx="1371600" cy="475488"/>
          </a:xfrm>
          <a:prstGeom prst="rect">
            <a:avLst/>
          </a:prstGeom>
          <a:noFill/>
        </p:spPr>
        <p:txBody>
          <a:bodyPr wrap="square" lIns="36576" rIns="36576" tIns="36576" bIns="36576" anchor="ctr">
            <a:spAutoFit/>
          </a:bodyPr>
          <a:lstStyle/>
          <a:p>
            <a:pPr algn="ctr"/>
            <a:r>
              <a:rPr sz="1300" b="1">
                <a:solidFill>
                  <a:schemeClr val="bg1"/>
                </a:solidFill>
              </a:rPr>
              <a:t>Acceso</a:t>
            </a:r>
          </a:p>
        </p:txBody>
      </p:sp>
      <p:sp>
        <p:nvSpPr>
          <p:cNvPr id="34" name="Nodo"/>
          <p:cNvSpPr/>
          <p:nvPr/>
        </p:nvSpPr>
        <p:spPr>
          <a:xfrm>
            <a:off x="4206240" y="1600200"/>
            <a:ext cx="1371600" cy="475488"/>
          </a:xfrm>
          <a:prstGeom prst="roundRect">
            <a:avLst>
              <a:gd name="adj" fmla="val 7000"/>
            </a:avLst>
          </a:prstGeom>
          <a:solidFill>
            <a:schemeClr val="accent3"/>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o nodo"/>
          <p:cNvSpPr txBox="1"/>
          <p:nvPr/>
        </p:nvSpPr>
        <p:spPr>
          <a:xfrm>
            <a:off x="4206240" y="1600200"/>
            <a:ext cx="1371600" cy="475488"/>
          </a:xfrm>
          <a:prstGeom prst="rect">
            <a:avLst/>
          </a:prstGeom>
          <a:noFill/>
        </p:spPr>
        <p:txBody>
          <a:bodyPr wrap="square" lIns="36576" rIns="36576" tIns="36576" bIns="36576" anchor="ctr">
            <a:spAutoFit/>
          </a:bodyPr>
          <a:lstStyle/>
          <a:p>
            <a:pPr algn="ctr"/>
            <a:r>
              <a:rPr sz="1300" b="1">
                <a:solidFill>
                  <a:schemeClr val="bg1"/>
                </a:solidFill>
              </a:rPr>
              <a:t>Comunicados</a:t>
            </a:r>
          </a:p>
        </p:txBody>
      </p:sp>
      <p:sp>
        <p:nvSpPr>
          <p:cNvPr id="36" name="Nodo"/>
          <p:cNvSpPr/>
          <p:nvPr/>
        </p:nvSpPr>
        <p:spPr>
          <a:xfrm>
            <a:off x="2651760" y="2167128"/>
            <a:ext cx="1371600" cy="475488"/>
          </a:xfrm>
          <a:prstGeom prst="roundRect">
            <a:avLst>
              <a:gd name="adj" fmla="val 7000"/>
            </a:avLst>
          </a:prstGeom>
          <a:solidFill>
            <a:schemeClr val="accent3"/>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o nodo"/>
          <p:cNvSpPr txBox="1"/>
          <p:nvPr/>
        </p:nvSpPr>
        <p:spPr>
          <a:xfrm>
            <a:off x="2651760" y="2167128"/>
            <a:ext cx="1371600" cy="475488"/>
          </a:xfrm>
          <a:prstGeom prst="rect">
            <a:avLst/>
          </a:prstGeom>
          <a:noFill/>
        </p:spPr>
        <p:txBody>
          <a:bodyPr wrap="square" lIns="36576" rIns="36576" tIns="36576" bIns="36576" anchor="ctr">
            <a:spAutoFit/>
          </a:bodyPr>
          <a:lstStyle/>
          <a:p>
            <a:pPr algn="ctr"/>
            <a:r>
              <a:rPr sz="1300" b="1">
                <a:solidFill>
                  <a:schemeClr val="bg1"/>
                </a:solidFill>
              </a:rPr>
              <a:t>Documentos</a:t>
            </a:r>
          </a:p>
        </p:txBody>
      </p:sp>
      <p:sp>
        <p:nvSpPr>
          <p:cNvPr id="38" name="Nodo"/>
          <p:cNvSpPr/>
          <p:nvPr/>
        </p:nvSpPr>
        <p:spPr>
          <a:xfrm>
            <a:off x="4206240" y="2167128"/>
            <a:ext cx="1371600" cy="475488"/>
          </a:xfrm>
          <a:prstGeom prst="roundRect">
            <a:avLst>
              <a:gd name="adj" fmla="val 7000"/>
            </a:avLst>
          </a:prstGeom>
          <a:solidFill>
            <a:schemeClr val="accent3"/>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o nodo"/>
          <p:cNvSpPr txBox="1"/>
          <p:nvPr/>
        </p:nvSpPr>
        <p:spPr>
          <a:xfrm>
            <a:off x="4206240" y="2167128"/>
            <a:ext cx="1371600" cy="475488"/>
          </a:xfrm>
          <a:prstGeom prst="rect">
            <a:avLst/>
          </a:prstGeom>
          <a:noFill/>
        </p:spPr>
        <p:txBody>
          <a:bodyPr wrap="square" lIns="36576" rIns="36576" tIns="36576" bIns="36576" anchor="ctr">
            <a:spAutoFit/>
          </a:bodyPr>
          <a:lstStyle/>
          <a:p>
            <a:pPr algn="ctr"/>
            <a:r>
              <a:rPr sz="1300" b="1">
                <a:solidFill>
                  <a:schemeClr val="bg1"/>
                </a:solidFill>
              </a:rPr>
              <a:t>Asambleas</a:t>
            </a:r>
          </a:p>
        </p:txBody>
      </p:sp>
      <p:sp>
        <p:nvSpPr>
          <p:cNvPr id="40" name="Nodo"/>
          <p:cNvSpPr/>
          <p:nvPr/>
        </p:nvSpPr>
        <p:spPr>
          <a:xfrm>
            <a:off x="2651760" y="2734056"/>
            <a:ext cx="1371600" cy="475488"/>
          </a:xfrm>
          <a:prstGeom prst="roundRect">
            <a:avLst>
              <a:gd name="adj" fmla="val 7000"/>
            </a:avLst>
          </a:prstGeom>
          <a:solidFill>
            <a:schemeClr val="accent3"/>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o nodo"/>
          <p:cNvSpPr txBox="1"/>
          <p:nvPr/>
        </p:nvSpPr>
        <p:spPr>
          <a:xfrm>
            <a:off x="2651760" y="2734056"/>
            <a:ext cx="1371600" cy="475488"/>
          </a:xfrm>
          <a:prstGeom prst="rect">
            <a:avLst/>
          </a:prstGeom>
          <a:noFill/>
        </p:spPr>
        <p:txBody>
          <a:bodyPr wrap="square" lIns="36576" rIns="36576" tIns="36576" bIns="36576" anchor="ctr">
            <a:spAutoFit/>
          </a:bodyPr>
          <a:lstStyle/>
          <a:p>
            <a:pPr algn="ctr"/>
            <a:r>
              <a:rPr sz="1300" b="1">
                <a:solidFill>
                  <a:schemeClr val="bg1"/>
                </a:solidFill>
              </a:rPr>
              <a:t>Facturas</a:t>
            </a:r>
          </a:p>
        </p:txBody>
      </p:sp>
      <p:sp>
        <p:nvSpPr>
          <p:cNvPr id="42" name="Nodo"/>
          <p:cNvSpPr/>
          <p:nvPr/>
        </p:nvSpPr>
        <p:spPr>
          <a:xfrm>
            <a:off x="4206240" y="2734056"/>
            <a:ext cx="1371600" cy="475488"/>
          </a:xfrm>
          <a:prstGeom prst="roundRect">
            <a:avLst>
              <a:gd name="adj" fmla="val 7000"/>
            </a:avLst>
          </a:prstGeom>
          <a:solidFill>
            <a:schemeClr val="accent3"/>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o nodo"/>
          <p:cNvSpPr txBox="1"/>
          <p:nvPr/>
        </p:nvSpPr>
        <p:spPr>
          <a:xfrm>
            <a:off x="4206240" y="2734056"/>
            <a:ext cx="1371600" cy="475488"/>
          </a:xfrm>
          <a:prstGeom prst="rect">
            <a:avLst/>
          </a:prstGeom>
          <a:noFill/>
        </p:spPr>
        <p:txBody>
          <a:bodyPr wrap="square" lIns="36576" rIns="36576" tIns="36576" bIns="36576" anchor="ctr">
            <a:spAutoFit/>
          </a:bodyPr>
          <a:lstStyle/>
          <a:p>
            <a:pPr algn="ctr"/>
            <a:r>
              <a:rPr sz="1300" b="1">
                <a:solidFill>
                  <a:schemeClr val="bg1"/>
                </a:solidFill>
              </a:rPr>
              <a:t>Área del socio</a:t>
            </a:r>
          </a:p>
        </p:txBody>
      </p:sp>
      <p:sp>
        <p:nvSpPr>
          <p:cNvPr id="44" name="Nodo"/>
          <p:cNvSpPr/>
          <p:nvPr/>
        </p:nvSpPr>
        <p:spPr>
          <a:xfrm>
            <a:off x="2651760" y="3300984"/>
            <a:ext cx="1371600" cy="475488"/>
          </a:xfrm>
          <a:prstGeom prst="roundRect">
            <a:avLst>
              <a:gd name="adj" fmla="val 7000"/>
            </a:avLst>
          </a:prstGeom>
          <a:solidFill>
            <a:schemeClr val="accent3"/>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o nodo"/>
          <p:cNvSpPr txBox="1"/>
          <p:nvPr/>
        </p:nvSpPr>
        <p:spPr>
          <a:xfrm>
            <a:off x="2651760" y="3300984"/>
            <a:ext cx="1371600" cy="475488"/>
          </a:xfrm>
          <a:prstGeom prst="rect">
            <a:avLst/>
          </a:prstGeom>
          <a:noFill/>
        </p:spPr>
        <p:txBody>
          <a:bodyPr wrap="square" lIns="36576" rIns="36576" tIns="36576" bIns="36576" anchor="ctr">
            <a:spAutoFit/>
          </a:bodyPr>
          <a:lstStyle/>
          <a:p>
            <a:pPr algn="ctr"/>
            <a:r>
              <a:rPr sz="1300" b="1">
                <a:solidFill>
                  <a:schemeClr val="bg1"/>
                </a:solidFill>
              </a:rPr>
              <a:t>Asistente</a:t>
            </a:r>
          </a:p>
        </p:txBody>
      </p:sp>
      <p:sp>
        <p:nvSpPr>
          <p:cNvPr id="46" name="Nodo"/>
          <p:cNvSpPr/>
          <p:nvPr/>
        </p:nvSpPr>
        <p:spPr>
          <a:xfrm>
            <a:off x="4206240" y="3300984"/>
            <a:ext cx="1371600" cy="475488"/>
          </a:xfrm>
          <a:prstGeom prst="roundRect">
            <a:avLst>
              <a:gd name="adj" fmla="val 7000"/>
            </a:avLst>
          </a:prstGeom>
          <a:solidFill>
            <a:schemeClr val="accent3"/>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o nodo"/>
          <p:cNvSpPr txBox="1"/>
          <p:nvPr/>
        </p:nvSpPr>
        <p:spPr>
          <a:xfrm>
            <a:off x="4206240" y="3300984"/>
            <a:ext cx="1371600" cy="475488"/>
          </a:xfrm>
          <a:prstGeom prst="rect">
            <a:avLst/>
          </a:prstGeom>
          <a:noFill/>
        </p:spPr>
        <p:txBody>
          <a:bodyPr wrap="square" lIns="36576" rIns="36576" tIns="36576" bIns="36576" anchor="ctr">
            <a:spAutoFit/>
          </a:bodyPr>
          <a:lstStyle/>
          <a:p>
            <a:pPr algn="ctr"/>
            <a:r>
              <a:rPr sz="1300" b="1">
                <a:solidFill>
                  <a:schemeClr val="bg1"/>
                </a:solidFill>
              </a:rPr>
              <a:t>Marca</a:t>
            </a:r>
          </a:p>
        </p:txBody>
      </p:sp>
      <p:sp>
        <p:nvSpPr>
          <p:cNvPr id="48" name="TextBox 47"/>
          <p:cNvSpPr txBox="1"/>
          <p:nvPr/>
        </p:nvSpPr>
        <p:spPr>
          <a:xfrm>
            <a:off x="2468880" y="3886200"/>
            <a:ext cx="3383280" cy="228600"/>
          </a:xfrm>
          <a:prstGeom prst="rect">
            <a:avLst/>
          </a:prstGeom>
          <a:noFill/>
        </p:spPr>
        <p:txBody>
          <a:bodyPr wrap="square" lIns="0" rIns="0" tIns="0" bIns="0" anchor="ctr">
            <a:spAutoFit/>
          </a:bodyPr>
          <a:lstStyle/>
          <a:p>
            <a:pPr algn="ctr"/>
            <a:r>
              <a:rPr sz="1100" b="0">
                <a:solidFill>
                  <a:schemeClr val="accent6"/>
                </a:solidFill>
              </a:rPr>
              <a:t>Fronteras vigiladas por ESLint · eventos internos</a:t>
            </a:r>
          </a:p>
        </p:txBody>
      </p:sp>
      <p:sp>
        <p:nvSpPr>
          <p:cNvPr id="49" name="Nodo"/>
          <p:cNvSpPr/>
          <p:nvPr/>
        </p:nvSpPr>
        <p:spPr>
          <a:xfrm>
            <a:off x="6492240" y="1143000"/>
            <a:ext cx="2194560" cy="521207"/>
          </a:xfrm>
          <a:prstGeom prst="roundRect">
            <a:avLst>
              <a:gd name="adj" fmla="val 7000"/>
            </a:avLst>
          </a:prstGeom>
          <a:solidFill>
            <a:schemeClr val="accent3"/>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o nodo"/>
          <p:cNvSpPr txBox="1"/>
          <p:nvPr/>
        </p:nvSpPr>
        <p:spPr>
          <a:xfrm>
            <a:off x="6492240" y="1143000"/>
            <a:ext cx="2194560" cy="521207"/>
          </a:xfrm>
          <a:prstGeom prst="rect">
            <a:avLst/>
          </a:prstGeom>
          <a:noFill/>
        </p:spPr>
        <p:txBody>
          <a:bodyPr wrap="square" lIns="36576" rIns="36576" tIns="36576" bIns="36576" anchor="ctr">
            <a:spAutoFit/>
          </a:bodyPr>
          <a:lstStyle/>
          <a:p>
            <a:pPr algn="ctr"/>
            <a:r>
              <a:rPr sz="1200" b="1">
                <a:solidFill>
                  <a:schemeClr val="bg1"/>
                </a:solidFill>
              </a:rPr>
              <a:t>PostgreSQL + pgvector</a:t>
            </a:r>
          </a:p>
        </p:txBody>
      </p:sp>
      <p:cxnSp>
        <p:nvCxnSpPr>
          <p:cNvPr id="51" name="Connector 50"/>
          <p:cNvCxnSpPr/>
          <p:nvPr/>
        </p:nvCxnSpPr>
        <p:spPr>
          <a:xfrm>
            <a:off x="5852160" y="1403604"/>
            <a:ext cx="640080" cy="0"/>
          </a:xfrm>
          <a:prstGeom prst="line">
            <a:avLst/>
          </a:prstGeom>
          <a:ln w="22225">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52" name="Nodo"/>
          <p:cNvSpPr/>
          <p:nvPr/>
        </p:nvSpPr>
        <p:spPr>
          <a:xfrm>
            <a:off x="6492240" y="1755648"/>
            <a:ext cx="2194560" cy="521207"/>
          </a:xfrm>
          <a:prstGeom prst="roundRect">
            <a:avLst>
              <a:gd name="adj" fmla="val 7000"/>
            </a:avLst>
          </a:prstGeom>
          <a:solidFill>
            <a:schemeClr val="accent3"/>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o nodo"/>
          <p:cNvSpPr txBox="1"/>
          <p:nvPr/>
        </p:nvSpPr>
        <p:spPr>
          <a:xfrm>
            <a:off x="6492240" y="1755648"/>
            <a:ext cx="2194560" cy="521207"/>
          </a:xfrm>
          <a:prstGeom prst="rect">
            <a:avLst/>
          </a:prstGeom>
          <a:noFill/>
        </p:spPr>
        <p:txBody>
          <a:bodyPr wrap="square" lIns="36576" rIns="36576" tIns="36576" bIns="36576" anchor="ctr">
            <a:spAutoFit/>
          </a:bodyPr>
          <a:lstStyle/>
          <a:p>
            <a:pPr algn="ctr"/>
            <a:r>
              <a:rPr sz="1200" b="1">
                <a:solidFill>
                  <a:schemeClr val="bg1"/>
                </a:solidFill>
              </a:rPr>
              <a:t>Ficheros S3 (RustFS) · URLs firmadas</a:t>
            </a:r>
          </a:p>
        </p:txBody>
      </p:sp>
      <p:cxnSp>
        <p:nvCxnSpPr>
          <p:cNvPr id="54" name="Connector 53"/>
          <p:cNvCxnSpPr/>
          <p:nvPr/>
        </p:nvCxnSpPr>
        <p:spPr>
          <a:xfrm>
            <a:off x="5852160" y="2016252"/>
            <a:ext cx="640080" cy="0"/>
          </a:xfrm>
          <a:prstGeom prst="line">
            <a:avLst/>
          </a:prstGeom>
          <a:ln w="22225">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55" name="Nodo"/>
          <p:cNvSpPr/>
          <p:nvPr/>
        </p:nvSpPr>
        <p:spPr>
          <a:xfrm>
            <a:off x="6492240" y="2368296"/>
            <a:ext cx="2194560" cy="521207"/>
          </a:xfrm>
          <a:prstGeom prst="roundRect">
            <a:avLst>
              <a:gd name="adj" fmla="val 7000"/>
            </a:avLst>
          </a:prstGeom>
          <a:solidFill>
            <a:schemeClr val="accent4"/>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o nodo"/>
          <p:cNvSpPr txBox="1"/>
          <p:nvPr/>
        </p:nvSpPr>
        <p:spPr>
          <a:xfrm>
            <a:off x="6492240" y="2368296"/>
            <a:ext cx="2194560" cy="521207"/>
          </a:xfrm>
          <a:prstGeom prst="rect">
            <a:avLst/>
          </a:prstGeom>
          <a:noFill/>
        </p:spPr>
        <p:txBody>
          <a:bodyPr wrap="square" lIns="36576" rIns="36576" tIns="36576" bIns="36576" anchor="ctr">
            <a:spAutoFit/>
          </a:bodyPr>
          <a:lstStyle/>
          <a:p>
            <a:pPr algn="ctr"/>
            <a:r>
              <a:rPr sz="1200" b="1">
                <a:solidFill>
                  <a:schemeClr val="tx2"/>
                </a:solidFill>
              </a:rPr>
              <a:t>Ollama (local): embeddings y asistente por defecto</a:t>
            </a:r>
          </a:p>
        </p:txBody>
      </p:sp>
      <p:cxnSp>
        <p:nvCxnSpPr>
          <p:cNvPr id="57" name="Connector 56"/>
          <p:cNvCxnSpPr/>
          <p:nvPr/>
        </p:nvCxnSpPr>
        <p:spPr>
          <a:xfrm>
            <a:off x="5852160" y="2628900"/>
            <a:ext cx="640080" cy="0"/>
          </a:xfrm>
          <a:prstGeom prst="line">
            <a:avLst/>
          </a:prstGeom>
          <a:ln w="22225">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58" name="Nodo"/>
          <p:cNvSpPr/>
          <p:nvPr/>
        </p:nvSpPr>
        <p:spPr>
          <a:xfrm>
            <a:off x="6492240" y="2980944"/>
            <a:ext cx="2194560" cy="521207"/>
          </a:xfrm>
          <a:prstGeom prst="roundRect">
            <a:avLst>
              <a:gd name="adj" fmla="val 7000"/>
            </a:avLst>
          </a:prstGeom>
          <a:solidFill>
            <a:schemeClr val="bg2"/>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o nodo"/>
          <p:cNvSpPr txBox="1"/>
          <p:nvPr/>
        </p:nvSpPr>
        <p:spPr>
          <a:xfrm>
            <a:off x="6492240" y="2980944"/>
            <a:ext cx="2194560" cy="521207"/>
          </a:xfrm>
          <a:prstGeom prst="rect">
            <a:avLst/>
          </a:prstGeom>
          <a:noFill/>
        </p:spPr>
        <p:txBody>
          <a:bodyPr wrap="square" lIns="36576" rIns="36576" tIns="36576" bIns="36576" anchor="ctr">
            <a:spAutoFit/>
          </a:bodyPr>
          <a:lstStyle/>
          <a:p>
            <a:pPr algn="ctr"/>
            <a:r>
              <a:rPr sz="1200" b="1">
                <a:solidFill>
                  <a:schemeClr val="tx2"/>
                </a:solidFill>
              </a:rPr>
              <a:t>Gemini: visión, explicaciones y asistente de la demo</a:t>
            </a:r>
          </a:p>
        </p:txBody>
      </p:sp>
      <p:cxnSp>
        <p:nvCxnSpPr>
          <p:cNvPr id="60" name="Connector 59"/>
          <p:cNvCxnSpPr/>
          <p:nvPr/>
        </p:nvCxnSpPr>
        <p:spPr>
          <a:xfrm>
            <a:off x="5852160" y="3241548"/>
            <a:ext cx="640080" cy="0"/>
          </a:xfrm>
          <a:prstGeom prst="line">
            <a:avLst/>
          </a:prstGeom>
          <a:ln w="22225">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61" name="Nodo"/>
          <p:cNvSpPr/>
          <p:nvPr/>
        </p:nvSpPr>
        <p:spPr>
          <a:xfrm>
            <a:off x="6492240" y="3593592"/>
            <a:ext cx="2194560" cy="521207"/>
          </a:xfrm>
          <a:prstGeom prst="roundRect">
            <a:avLst>
              <a:gd name="adj" fmla="val 7000"/>
            </a:avLst>
          </a:prstGeom>
          <a:solidFill>
            <a:schemeClr val="bg2"/>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o nodo"/>
          <p:cNvSpPr txBox="1"/>
          <p:nvPr/>
        </p:nvSpPr>
        <p:spPr>
          <a:xfrm>
            <a:off x="6492240" y="3593592"/>
            <a:ext cx="2194560" cy="521207"/>
          </a:xfrm>
          <a:prstGeom prst="rect">
            <a:avLst/>
          </a:prstGeom>
          <a:noFill/>
        </p:spPr>
        <p:txBody>
          <a:bodyPr wrap="square" lIns="36576" rIns="36576" tIns="36576" bIns="36576" anchor="ctr">
            <a:spAutoFit/>
          </a:bodyPr>
          <a:lstStyle/>
          <a:p>
            <a:pPr algn="ctr"/>
            <a:r>
              <a:rPr sz="1200" b="1">
                <a:solidFill>
                  <a:schemeClr val="tx2"/>
                </a:solidFill>
              </a:rPr>
              <a:t>Proveedor externo (opcional por cooperativa)</a:t>
            </a:r>
          </a:p>
        </p:txBody>
      </p:sp>
      <p:cxnSp>
        <p:nvCxnSpPr>
          <p:cNvPr id="63" name="Connector 62"/>
          <p:cNvCxnSpPr/>
          <p:nvPr/>
        </p:nvCxnSpPr>
        <p:spPr>
          <a:xfrm>
            <a:off x="5852160" y="3854196"/>
            <a:ext cx="640080" cy="0"/>
          </a:xfrm>
          <a:prstGeom prst="line">
            <a:avLst/>
          </a:prstGeom>
          <a:ln w="22225">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457200" y="4297680"/>
            <a:ext cx="8229600" cy="274320"/>
          </a:xfrm>
          <a:prstGeom prst="rect">
            <a:avLst/>
          </a:prstGeom>
          <a:noFill/>
        </p:spPr>
        <p:txBody>
          <a:bodyPr wrap="square" lIns="0" rIns="0" tIns="0" bIns="0" anchor="ctr">
            <a:spAutoFit/>
          </a:bodyPr>
          <a:lstStyle/>
          <a:p>
            <a:r>
              <a:rPr sz="1200" b="0">
                <a:solidFill>
                  <a:schemeClr val="accent6"/>
                </a:solidFill>
              </a:rPr>
              <a:t>Todo en Docker en un servidor propio · acceso público solo a la API, por Cloudflare Tunnel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
        <p:nvSpPr>
          <p:cNvPr id="3" name="Titulo"/>
          <p:cNvSpPr txBox="1"/>
          <p:nvPr/>
        </p:nvSpPr>
        <p:spPr>
          <a:xfrm>
            <a:off x="457200" y="274320"/>
            <a:ext cx="8229600" cy="685800"/>
          </a:xfrm>
          <a:prstGeom prst="rect">
            <a:avLst/>
          </a:prstGeom>
          <a:noFill/>
        </p:spPr>
        <p:txBody>
          <a:bodyPr wrap="square" lIns="0" rIns="0" tIns="0" bIns="0" anchor="ctr">
            <a:spAutoFit/>
          </a:bodyPr>
          <a:lstStyle/>
          <a:p>
            <a:r>
              <a:rPr sz="2800" b="1">
                <a:solidFill>
                  <a:schemeClr val="tx2"/>
                </a:solidFill>
                <a:latin typeface="Cambria"/>
              </a:rPr>
              <a:t>Interfaz: del brief al sistema de diseño</a:t>
            </a:r>
          </a:p>
        </p:txBody>
      </p:sp>
      <p:sp>
        <p:nvSpPr>
          <p:cNvPr id="4" name="Tarjeta"/>
          <p:cNvSpPr/>
          <p:nvPr/>
        </p:nvSpPr>
        <p:spPr>
          <a:xfrm>
            <a:off x="6126480" y="1143000"/>
            <a:ext cx="2560320" cy="3474720"/>
          </a:xfrm>
          <a:prstGeom prst="roundRect">
            <a:avLst>
              <a:gd name="adj" fmla="val 4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27"/>
          <p:cNvSpPr txBox="1"/>
          <p:nvPr/>
        </p:nvSpPr>
        <p:spPr>
          <a:xfrm>
            <a:off x="6309360" y="1234440"/>
            <a:ext cx="2240280" cy="365760"/>
          </a:xfrm>
          <a:prstGeom prst="rect">
            <a:avLst/>
          </a:prstGeom>
          <a:noFill/>
        </p:spPr>
        <p:txBody>
          <a:bodyPr wrap="square" lIns="0" rIns="0" tIns="0" bIns="0" anchor="t">
            <a:spAutoFit/>
          </a:bodyPr>
          <a:lstStyle/>
          <a:p>
            <a:r>
              <a:rPr sz="1800" b="1">
                <a:solidFill>
                  <a:schemeClr val="bg1"/>
                </a:solidFill>
              </a:rPr>
              <a:t>Del brief a la app</a:t>
            </a:r>
          </a:p>
        </p:txBody>
      </p:sp>
      <p:sp>
        <p:nvSpPr>
          <p:cNvPr id="6" name="TextBox 28"/>
          <p:cNvSpPr txBox="1"/>
          <p:nvPr/>
        </p:nvSpPr>
        <p:spPr>
          <a:xfrm>
            <a:off x="6309360" y="1645920"/>
            <a:ext cx="2240280" cy="2743200"/>
          </a:xfrm>
          <a:prstGeom prst="rect">
            <a:avLst/>
          </a:prstGeom>
          <a:noFill/>
        </p:spPr>
        <p:txBody>
          <a:bodyPr wrap="square" lIns="0" rIns="0" tIns="0" bIns="0">
            <a:spAutoFit/>
          </a:bodyPr>
          <a:lstStyle/>
          <a:p>
            <a:pPr marL="228600" indent="-228600">
              <a:spcAft>
                <a:spcPts val="400"/>
              </a:spcAft>
              <a:buSzPct val="100000"/>
              <a:buChar char="•"/>
            </a:pPr>
            <a:r>
              <a:rPr sz="1100" b="0">
                <a:solidFill>
                  <a:schemeClr val="bg1"/>
                </a:solidFill>
              </a:rPr>
              <a:t>Brief de interfaz (docs/05)</a:t>
            </a:r>
          </a:p>
          <a:p>
            <a:pPr marL="228600" indent="-228600">
              <a:spcAft>
                <a:spcPts val="400"/>
              </a:spcAft>
              <a:buSzPct val="100000"/>
              <a:buChar char="•"/>
            </a:pPr>
            <a:r>
              <a:rPr sz="1100" b="0">
                <a:solidFill>
                  <a:schemeClr val="bg1"/>
                </a:solidFill>
              </a:rPr>
              <a:t>Herramienta de diseño con IA: tokens, 8 colores, unos 40 componentes</a:t>
            </a:r>
          </a:p>
          <a:p>
            <a:pPr marL="228600" indent="-228600">
              <a:spcAft>
                <a:spcPts val="400"/>
              </a:spcAft>
              <a:buSzPct val="100000"/>
              <a:buChar char="•"/>
            </a:pPr>
            <a:r>
              <a:rPr sz="1100" b="0">
                <a:solidFill>
                  <a:schemeClr val="bg1"/>
                </a:solidFill>
              </a:rPr>
              <a:t>Análisis de brechas (docs/06)</a:t>
            </a:r>
          </a:p>
          <a:p>
            <a:pPr marL="228600" indent="-228600">
              <a:spcAft>
                <a:spcPts val="400"/>
              </a:spcAft>
              <a:buSzPct val="100000"/>
              <a:buChar char="•"/>
            </a:pPr>
            <a:r>
              <a:rPr sz="1100" b="0">
                <a:solidFill>
                  <a:schemeClr val="bg1"/>
                </a:solidFill>
              </a:rPr>
              <a:t>Orquestador y 7 subagentes en paralelo, uno por módulo</a:t>
            </a:r>
          </a:p>
          <a:p>
            <a:pPr marL="228600" indent="-228600">
              <a:spcAft>
                <a:spcPts val="400"/>
              </a:spcAft>
              <a:buSzPct val="100000"/>
              <a:buChar char="•"/>
            </a:pPr>
            <a:r>
              <a:rPr sz="1100" b="0">
                <a:solidFill>
                  <a:schemeClr val="bg1"/>
                </a:solidFill>
              </a:rPr>
              <a:t>Kit en src/ui; las pantallas no usan Paper directamente</a:t>
            </a:r>
          </a:p>
        </p:txBody>
      </p:sp>
      <p:pic>
        <p:nvPicPr>
          <p:cNvPr id="7" name="Picture 6" descr="lucia-selector.png"/>
          <p:cNvPicPr>
            <a:picLocks noChangeAspect="1"/>
          </p:cNvPicPr>
          <p:nvPr/>
        </p:nvPicPr>
        <p:blipFill>
          <a:blip r:embed="rId2"/>
          <a:stretch>
            <a:fillRect/>
          </a:stretch>
        </p:blipFill>
        <p:spPr>
          <a:xfrm>
            <a:off x="457200" y="1143000"/>
            <a:ext cx="1280160" cy="2770397"/>
          </a:xfrm>
          <a:prstGeom prst="rect">
            <a:avLst/>
          </a:prstGeom>
          <a:ln w="9525">
            <a:solidFill>
              <a:srgbClr val="C8D2CC"/>
            </a:solidFill>
          </a:ln>
        </p:spPr>
      </p:pic>
      <p:sp>
        <p:nvSpPr>
          <p:cNvPr id="20" name="TextBox 28"/>
          <p:cNvSpPr txBox="1"/>
          <p:nvPr/>
        </p:nvSpPr>
        <p:spPr>
          <a:xfrm>
            <a:off x="457200" y="3959117"/>
            <a:ext cx="1280160" cy="320040"/>
          </a:xfrm>
          <a:prstGeom prst="rect">
            <a:avLst/>
          </a:prstGeom>
          <a:noFill/>
        </p:spPr>
        <p:txBody>
          <a:bodyPr wrap="square" lIns="0" rIns="0" tIns="0" bIns="0" anchor="t">
            <a:spAutoFit/>
          </a:bodyPr>
          <a:lstStyle/>
          <a:p>
            <a:r>
              <a:rPr sz="800" b="0">
                <a:solidFill>
                  <a:schemeClr val="tx1"/>
                </a:solidFill>
              </a:rPr>
              <a:t>Selector: color de cada cooperativa</a:t>
            </a:r>
          </a:p>
        </p:txBody>
      </p:sp>
      <p:pic>
        <p:nvPicPr>
          <p:cNvPr id="21" name="Picture 20" descr="socio-home.png"/>
          <p:cNvPicPr>
            <a:picLocks noChangeAspect="1"/>
          </p:cNvPicPr>
          <p:nvPr/>
        </p:nvPicPr>
        <p:blipFill>
          <a:blip r:embed="rId3"/>
          <a:stretch>
            <a:fillRect/>
          </a:stretch>
        </p:blipFill>
        <p:spPr>
          <a:xfrm>
            <a:off x="1851660" y="1143000"/>
            <a:ext cx="1280160" cy="2770397"/>
          </a:xfrm>
          <a:prstGeom prst="rect">
            <a:avLst/>
          </a:prstGeom>
          <a:ln w="9525">
            <a:solidFill>
              <a:srgbClr val="C8D2CC"/>
            </a:solidFill>
          </a:ln>
        </p:spPr>
      </p:pic>
      <p:sp>
        <p:nvSpPr>
          <p:cNvPr id="21" name="TextBox 28"/>
          <p:cNvSpPr txBox="1"/>
          <p:nvPr/>
        </p:nvSpPr>
        <p:spPr>
          <a:xfrm>
            <a:off x="1851660" y="3959117"/>
            <a:ext cx="1280160" cy="320040"/>
          </a:xfrm>
          <a:prstGeom prst="rect">
            <a:avLst/>
          </a:prstGeom>
          <a:noFill/>
        </p:spPr>
        <p:txBody>
          <a:bodyPr wrap="square" lIns="0" rIns="0" tIns="0" bIns="0" anchor="t">
            <a:spAutoFit/>
          </a:bodyPr>
          <a:lstStyle/>
          <a:p>
            <a:r>
              <a:rPr sz="800" b="0">
                <a:solidFill>
                  <a:schemeClr val="tx1"/>
                </a:solidFill>
              </a:rPr>
              <a:t>Inicio: "Pendiente para ti"</a:t>
            </a:r>
          </a:p>
        </p:txBody>
      </p:sp>
      <p:pic>
        <p:nvPicPr>
          <p:cNvPr id="22" name="Picture 21" descr="asm1.png"/>
          <p:cNvPicPr>
            <a:picLocks noChangeAspect="1"/>
          </p:cNvPicPr>
          <p:nvPr/>
        </p:nvPicPr>
        <p:blipFill>
          <a:blip r:embed="rId4"/>
          <a:stretch>
            <a:fillRect/>
          </a:stretch>
        </p:blipFill>
        <p:spPr>
          <a:xfrm>
            <a:off x="3246120" y="1143000"/>
            <a:ext cx="1280160" cy="2770397"/>
          </a:xfrm>
          <a:prstGeom prst="rect">
            <a:avLst/>
          </a:prstGeom>
          <a:ln w="9525">
            <a:solidFill>
              <a:srgbClr val="C8D2CC"/>
            </a:solidFill>
          </a:ln>
        </p:spPr>
      </p:pic>
      <p:sp>
        <p:nvSpPr>
          <p:cNvPr id="22" name="TextBox 28"/>
          <p:cNvSpPr txBox="1"/>
          <p:nvPr/>
        </p:nvSpPr>
        <p:spPr>
          <a:xfrm>
            <a:off x="3246120" y="3959117"/>
            <a:ext cx="1280160" cy="320040"/>
          </a:xfrm>
          <a:prstGeom prst="rect">
            <a:avLst/>
          </a:prstGeom>
          <a:noFill/>
        </p:spPr>
        <p:txBody>
          <a:bodyPr wrap="square" lIns="0" rIns="0" tIns="0" bIns="0" anchor="t">
            <a:spAutoFit/>
          </a:bodyPr>
          <a:lstStyle/>
          <a:p>
            <a:r>
              <a:rPr sz="800" b="0">
                <a:solidFill>
                  <a:schemeClr val="tx1"/>
                </a:solidFill>
              </a:rPr>
              <a:t>Asamblea: mapa y quórum</a:t>
            </a:r>
          </a:p>
        </p:txBody>
      </p:sp>
      <p:pic>
        <p:nvPicPr>
          <p:cNvPr id="23" name="Picture 22" descr="invoices.png"/>
          <p:cNvPicPr>
            <a:picLocks noChangeAspect="1"/>
          </p:cNvPicPr>
          <p:nvPr/>
        </p:nvPicPr>
        <p:blipFill>
          <a:blip r:embed="rId5"/>
          <a:stretch>
            <a:fillRect/>
          </a:stretch>
        </p:blipFill>
        <p:spPr>
          <a:xfrm>
            <a:off x="4640580" y="1143000"/>
            <a:ext cx="1280160" cy="2770397"/>
          </a:xfrm>
          <a:prstGeom prst="rect">
            <a:avLst/>
          </a:prstGeom>
          <a:ln w="9525">
            <a:solidFill>
              <a:srgbClr val="C8D2CC"/>
            </a:solidFill>
          </a:ln>
        </p:spPr>
      </p:pic>
      <p:sp>
        <p:nvSpPr>
          <p:cNvPr id="23" name="TextBox 28"/>
          <p:cNvSpPr txBox="1"/>
          <p:nvPr/>
        </p:nvSpPr>
        <p:spPr>
          <a:xfrm>
            <a:off x="4640580" y="3959117"/>
            <a:ext cx="1280160" cy="320040"/>
          </a:xfrm>
          <a:prstGeom prst="rect">
            <a:avLst/>
          </a:prstGeom>
          <a:noFill/>
        </p:spPr>
        <p:txBody>
          <a:bodyPr wrap="square" lIns="0" rIns="0" tIns="0" bIns="0" anchor="t">
            <a:spAutoFit/>
          </a:bodyPr>
          <a:lstStyle/>
          <a:p>
            <a:r>
              <a:rPr sz="800" b="0">
                <a:solidFill>
                  <a:schemeClr val="tx1"/>
                </a:solidFill>
              </a:rPr>
              <a:t>Facturas y albaranes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
        <p:nvSpPr>
          <p:cNvPr id="26" name="Titulo"/>
          <p:cNvSpPr txBox="1"/>
          <p:nvPr/>
        </p:nvSpPr>
        <p:spPr>
          <a:xfrm>
            <a:off x="457200" y="274320"/>
            <a:ext cx="8229600" cy="685800"/>
          </a:xfrm>
          <a:prstGeom prst="rect">
            <a:avLst/>
          </a:prstGeom>
          <a:noFill/>
        </p:spPr>
        <p:txBody>
          <a:bodyPr wrap="square" lIns="0" rIns="0" tIns="0" bIns="0" anchor="ctr">
            <a:spAutoFit/>
          </a:bodyPr>
          <a:lstStyle/>
          <a:p>
            <a:r>
              <a:rPr sz="2800" b="1">
                <a:solidFill>
                  <a:schemeClr val="tx2"/>
                </a:solidFill>
                <a:latin typeface="Cambria"/>
              </a:rPr>
              <a:t>Decisiones clave: 26 ADR</a:t>
            </a:r>
          </a:p>
        </p:txBody>
      </p:sp>
      <p:sp>
        <p:nvSpPr>
          <p:cNvPr id="27" name="Etiqueta"/>
          <p:cNvSpPr/>
          <p:nvPr/>
        </p:nvSpPr>
        <p:spPr>
          <a:xfrm>
            <a:off x="457200" y="1051560"/>
            <a:ext cx="548640" cy="256032"/>
          </a:xfrm>
          <a:prstGeom prst="roundRect">
            <a:avLst>
              <a:gd name="adj" fmla="val 17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1051560"/>
            <a:ext cx="548640" cy="256032"/>
          </a:xfrm>
          <a:prstGeom prst="rect">
            <a:avLst/>
          </a:prstGeom>
          <a:noFill/>
        </p:spPr>
        <p:txBody>
          <a:bodyPr wrap="square" lIns="0" rIns="0" tIns="0" bIns="0" anchor="ctr">
            <a:spAutoFit/>
          </a:bodyPr>
          <a:lstStyle/>
          <a:p>
            <a:pPr algn="ctr"/>
            <a:r>
              <a:rPr sz="1200" b="1">
                <a:solidFill>
                  <a:schemeClr val="bg1"/>
                </a:solidFill>
              </a:rPr>
              <a:t>001</a:t>
            </a:r>
          </a:p>
        </p:txBody>
      </p:sp>
      <p:sp>
        <p:nvSpPr>
          <p:cNvPr id="29" name="TextBox 28"/>
          <p:cNvSpPr txBox="1"/>
          <p:nvPr/>
        </p:nvSpPr>
        <p:spPr>
          <a:xfrm>
            <a:off x="1115568" y="1051560"/>
            <a:ext cx="3383280" cy="256032"/>
          </a:xfrm>
          <a:prstGeom prst="rect">
            <a:avLst/>
          </a:prstGeom>
          <a:noFill/>
        </p:spPr>
        <p:txBody>
          <a:bodyPr wrap="square" lIns="0" rIns="0" tIns="0" bIns="0" anchor="ctr">
            <a:spAutoFit/>
          </a:bodyPr>
          <a:lstStyle/>
          <a:p>
            <a:r>
              <a:rPr sz="1300" b="0">
                <a:solidFill>
                  <a:schemeClr val="tx1"/>
                </a:solidFill>
              </a:rPr>
              <a:t>App híbrida con Expo</a:t>
            </a:r>
          </a:p>
        </p:txBody>
      </p:sp>
      <p:sp>
        <p:nvSpPr>
          <p:cNvPr id="30" name="Etiqueta"/>
          <p:cNvSpPr/>
          <p:nvPr/>
        </p:nvSpPr>
        <p:spPr>
          <a:xfrm>
            <a:off x="457200" y="1330960"/>
            <a:ext cx="548640" cy="256032"/>
          </a:xfrm>
          <a:prstGeom prst="roundRect">
            <a:avLst>
              <a:gd name="adj" fmla="val 17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1330960"/>
            <a:ext cx="548640" cy="256032"/>
          </a:xfrm>
          <a:prstGeom prst="rect">
            <a:avLst/>
          </a:prstGeom>
          <a:noFill/>
        </p:spPr>
        <p:txBody>
          <a:bodyPr wrap="square" lIns="0" rIns="0" tIns="0" bIns="0" anchor="ctr">
            <a:spAutoFit/>
          </a:bodyPr>
          <a:lstStyle/>
          <a:p>
            <a:pPr algn="ctr"/>
            <a:r>
              <a:rPr sz="1200" b="1">
                <a:solidFill>
                  <a:schemeClr val="bg1"/>
                </a:solidFill>
              </a:rPr>
              <a:t>002</a:t>
            </a:r>
          </a:p>
        </p:txBody>
      </p:sp>
      <p:sp>
        <p:nvSpPr>
          <p:cNvPr id="32" name="TextBox 31"/>
          <p:cNvSpPr txBox="1"/>
          <p:nvPr/>
        </p:nvSpPr>
        <p:spPr>
          <a:xfrm>
            <a:off x="1115568" y="1330960"/>
            <a:ext cx="3383280" cy="256032"/>
          </a:xfrm>
          <a:prstGeom prst="rect">
            <a:avLst/>
          </a:prstGeom>
          <a:noFill/>
        </p:spPr>
        <p:txBody>
          <a:bodyPr wrap="square" lIns="0" rIns="0" tIns="0" bIns="0" anchor="ctr">
            <a:spAutoFit/>
          </a:bodyPr>
          <a:lstStyle/>
          <a:p>
            <a:r>
              <a:rPr sz="1300" b="0">
                <a:solidFill>
                  <a:schemeClr val="tx1"/>
                </a:solidFill>
              </a:rPr>
              <a:t>Monolito modular + Clean Architecture</a:t>
            </a:r>
          </a:p>
        </p:txBody>
      </p:sp>
      <p:sp>
        <p:nvSpPr>
          <p:cNvPr id="33" name="Etiqueta"/>
          <p:cNvSpPr/>
          <p:nvPr/>
        </p:nvSpPr>
        <p:spPr>
          <a:xfrm>
            <a:off x="457200" y="1610360"/>
            <a:ext cx="548640" cy="256032"/>
          </a:xfrm>
          <a:prstGeom prst="roundRect">
            <a:avLst>
              <a:gd name="adj" fmla="val 17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1610360"/>
            <a:ext cx="548640" cy="256032"/>
          </a:xfrm>
          <a:prstGeom prst="rect">
            <a:avLst/>
          </a:prstGeom>
          <a:noFill/>
        </p:spPr>
        <p:txBody>
          <a:bodyPr wrap="square" lIns="0" rIns="0" tIns="0" bIns="0" anchor="ctr">
            <a:spAutoFit/>
          </a:bodyPr>
          <a:lstStyle/>
          <a:p>
            <a:pPr algn="ctr"/>
            <a:r>
              <a:rPr sz="1200" b="1">
                <a:solidFill>
                  <a:schemeClr val="bg1"/>
                </a:solidFill>
              </a:rPr>
              <a:t>003</a:t>
            </a:r>
          </a:p>
        </p:txBody>
      </p:sp>
      <p:sp>
        <p:nvSpPr>
          <p:cNvPr id="35" name="TextBox 34"/>
          <p:cNvSpPr txBox="1"/>
          <p:nvPr/>
        </p:nvSpPr>
        <p:spPr>
          <a:xfrm>
            <a:off x="1115568" y="1610360"/>
            <a:ext cx="3383280" cy="256032"/>
          </a:xfrm>
          <a:prstGeom prst="rect">
            <a:avLst/>
          </a:prstGeom>
          <a:noFill/>
        </p:spPr>
        <p:txBody>
          <a:bodyPr wrap="square" lIns="0" rIns="0" tIns="0" bIns="0" anchor="ctr">
            <a:spAutoFit/>
          </a:bodyPr>
          <a:lstStyle/>
          <a:p>
            <a:r>
              <a:rPr sz="1300" b="0">
                <a:solidFill>
                  <a:schemeClr val="tx1"/>
                </a:solidFill>
              </a:rPr>
              <a:t>Multi-cooperativa, BD compartida</a:t>
            </a:r>
          </a:p>
        </p:txBody>
      </p:sp>
      <p:sp>
        <p:nvSpPr>
          <p:cNvPr id="36" name="Etiqueta"/>
          <p:cNvSpPr/>
          <p:nvPr/>
        </p:nvSpPr>
        <p:spPr>
          <a:xfrm>
            <a:off x="457200" y="1889760"/>
            <a:ext cx="548640" cy="256032"/>
          </a:xfrm>
          <a:prstGeom prst="roundRect">
            <a:avLst>
              <a:gd name="adj" fmla="val 17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1889760"/>
            <a:ext cx="548640" cy="256032"/>
          </a:xfrm>
          <a:prstGeom prst="rect">
            <a:avLst/>
          </a:prstGeom>
          <a:noFill/>
        </p:spPr>
        <p:txBody>
          <a:bodyPr wrap="square" lIns="0" rIns="0" tIns="0" bIns="0" anchor="ctr">
            <a:spAutoFit/>
          </a:bodyPr>
          <a:lstStyle/>
          <a:p>
            <a:pPr algn="ctr"/>
            <a:r>
              <a:rPr sz="1200" b="1">
                <a:solidFill>
                  <a:schemeClr val="bg1"/>
                </a:solidFill>
              </a:rPr>
              <a:t>004</a:t>
            </a:r>
          </a:p>
        </p:txBody>
      </p:sp>
      <p:sp>
        <p:nvSpPr>
          <p:cNvPr id="38" name="TextBox 37"/>
          <p:cNvSpPr txBox="1"/>
          <p:nvPr/>
        </p:nvSpPr>
        <p:spPr>
          <a:xfrm>
            <a:off x="1115568" y="1889760"/>
            <a:ext cx="3383280" cy="256032"/>
          </a:xfrm>
          <a:prstGeom prst="rect">
            <a:avLst/>
          </a:prstGeom>
          <a:noFill/>
        </p:spPr>
        <p:txBody>
          <a:bodyPr wrap="square" lIns="0" rIns="0" tIns="0" bIns="0" anchor="ctr">
            <a:spAutoFit/>
          </a:bodyPr>
          <a:lstStyle/>
          <a:p>
            <a:r>
              <a:rPr sz="1300" b="0">
                <a:solidFill>
                  <a:schemeClr val="tx1"/>
                </a:solidFill>
              </a:rPr>
              <a:t>Permisos por perfil, módulo y alcance</a:t>
            </a:r>
          </a:p>
        </p:txBody>
      </p:sp>
      <p:sp>
        <p:nvSpPr>
          <p:cNvPr id="39" name="Etiqueta"/>
          <p:cNvSpPr/>
          <p:nvPr/>
        </p:nvSpPr>
        <p:spPr>
          <a:xfrm>
            <a:off x="457200" y="2169160"/>
            <a:ext cx="548640" cy="256032"/>
          </a:xfrm>
          <a:prstGeom prst="roundRect">
            <a:avLst>
              <a:gd name="adj" fmla="val 17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2169160"/>
            <a:ext cx="548640" cy="256032"/>
          </a:xfrm>
          <a:prstGeom prst="rect">
            <a:avLst/>
          </a:prstGeom>
          <a:noFill/>
        </p:spPr>
        <p:txBody>
          <a:bodyPr wrap="square" lIns="0" rIns="0" tIns="0" bIns="0" anchor="ctr">
            <a:spAutoFit/>
          </a:bodyPr>
          <a:lstStyle/>
          <a:p>
            <a:pPr algn="ctr"/>
            <a:r>
              <a:rPr sz="1200" b="1">
                <a:solidFill>
                  <a:schemeClr val="bg1"/>
                </a:solidFill>
              </a:rPr>
              <a:t>005</a:t>
            </a:r>
          </a:p>
        </p:txBody>
      </p:sp>
      <p:sp>
        <p:nvSpPr>
          <p:cNvPr id="41" name="TextBox 40"/>
          <p:cNvSpPr txBox="1"/>
          <p:nvPr/>
        </p:nvSpPr>
        <p:spPr>
          <a:xfrm>
            <a:off x="1115568" y="2169160"/>
            <a:ext cx="3383280" cy="256032"/>
          </a:xfrm>
          <a:prstGeom prst="rect">
            <a:avLst/>
          </a:prstGeom>
          <a:noFill/>
        </p:spPr>
        <p:txBody>
          <a:bodyPr wrap="square" lIns="0" rIns="0" tIns="0" bIns="0" anchor="ctr">
            <a:spAutoFit/>
          </a:bodyPr>
          <a:lstStyle/>
          <a:p>
            <a:r>
              <a:rPr sz="1300" b="0">
                <a:solidFill>
                  <a:schemeClr val="tx1"/>
                </a:solidFill>
              </a:rPr>
              <a:t>Ficheros S3 tras un puerto</a:t>
            </a:r>
          </a:p>
        </p:txBody>
      </p:sp>
      <p:sp>
        <p:nvSpPr>
          <p:cNvPr id="42" name="Etiqueta"/>
          <p:cNvSpPr/>
          <p:nvPr/>
        </p:nvSpPr>
        <p:spPr>
          <a:xfrm>
            <a:off x="457200" y="2448560"/>
            <a:ext cx="548640" cy="256032"/>
          </a:xfrm>
          <a:prstGeom prst="roundRect">
            <a:avLst>
              <a:gd name="adj" fmla="val 17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2448560"/>
            <a:ext cx="548640" cy="256032"/>
          </a:xfrm>
          <a:prstGeom prst="rect">
            <a:avLst/>
          </a:prstGeom>
          <a:noFill/>
        </p:spPr>
        <p:txBody>
          <a:bodyPr wrap="square" lIns="0" rIns="0" tIns="0" bIns="0" anchor="ctr">
            <a:spAutoFit/>
          </a:bodyPr>
          <a:lstStyle/>
          <a:p>
            <a:pPr algn="ctr"/>
            <a:r>
              <a:rPr sz="1200" b="1">
                <a:solidFill>
                  <a:schemeClr val="bg1"/>
                </a:solidFill>
              </a:rPr>
              <a:t>006</a:t>
            </a:r>
          </a:p>
        </p:txBody>
      </p:sp>
      <p:sp>
        <p:nvSpPr>
          <p:cNvPr id="44" name="TextBox 43"/>
          <p:cNvSpPr txBox="1"/>
          <p:nvPr/>
        </p:nvSpPr>
        <p:spPr>
          <a:xfrm>
            <a:off x="1115568" y="2448560"/>
            <a:ext cx="3383280" cy="256032"/>
          </a:xfrm>
          <a:prstGeom prst="rect">
            <a:avLst/>
          </a:prstGeom>
          <a:noFill/>
        </p:spPr>
        <p:txBody>
          <a:bodyPr wrap="square" lIns="0" rIns="0" tIns="0" bIns="0" anchor="ctr">
            <a:spAutoFit/>
          </a:bodyPr>
          <a:lstStyle/>
          <a:p>
            <a:r>
              <a:rPr sz="1300" b="0">
                <a:solidFill>
                  <a:schemeClr val="tx1"/>
                </a:solidFill>
              </a:rPr>
              <a:t>Embeddings locales (bge-m3, Ollama)</a:t>
            </a:r>
          </a:p>
        </p:txBody>
      </p:sp>
      <p:sp>
        <p:nvSpPr>
          <p:cNvPr id="45" name="Etiqueta"/>
          <p:cNvSpPr/>
          <p:nvPr/>
        </p:nvSpPr>
        <p:spPr>
          <a:xfrm>
            <a:off x="457200" y="2727960"/>
            <a:ext cx="548640" cy="256032"/>
          </a:xfrm>
          <a:prstGeom prst="roundRect">
            <a:avLst>
              <a:gd name="adj" fmla="val 17000"/>
            </a:avLst>
          </a:prstGeom>
          <a:solidFill>
            <a:schemeClr val="accent6"/>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2727960"/>
            <a:ext cx="548640" cy="256032"/>
          </a:xfrm>
          <a:prstGeom prst="rect">
            <a:avLst/>
          </a:prstGeom>
          <a:noFill/>
        </p:spPr>
        <p:txBody>
          <a:bodyPr wrap="square" lIns="0" rIns="0" tIns="0" bIns="0" anchor="ctr">
            <a:spAutoFit/>
          </a:bodyPr>
          <a:lstStyle/>
          <a:p>
            <a:pPr algn="ctr"/>
            <a:r>
              <a:rPr sz="1200" b="1">
                <a:solidFill>
                  <a:schemeClr val="bg1"/>
                </a:solidFill>
              </a:rPr>
              <a:t>007</a:t>
            </a:r>
          </a:p>
        </p:txBody>
      </p:sp>
      <p:sp>
        <p:nvSpPr>
          <p:cNvPr id="47" name="TextBox 46"/>
          <p:cNvSpPr txBox="1"/>
          <p:nvPr/>
        </p:nvSpPr>
        <p:spPr>
          <a:xfrm>
            <a:off x="1115568" y="2727960"/>
            <a:ext cx="3383280" cy="256032"/>
          </a:xfrm>
          <a:prstGeom prst="rect">
            <a:avLst/>
          </a:prstGeom>
          <a:noFill/>
        </p:spPr>
        <p:txBody>
          <a:bodyPr wrap="square" lIns="0" rIns="0" tIns="0" bIns="0" anchor="ctr">
            <a:spAutoFit/>
          </a:bodyPr>
          <a:lstStyle/>
          <a:p>
            <a:r>
              <a:rPr sz="1300" b="0">
                <a:solidFill>
                  <a:schemeClr val="tx1"/>
                </a:solidFill>
              </a:rPr>
              <a:t>Claude para visión (sustituido por 009)</a:t>
            </a:r>
          </a:p>
        </p:txBody>
      </p:sp>
      <p:sp>
        <p:nvSpPr>
          <p:cNvPr id="48" name="Etiqueta"/>
          <p:cNvSpPr/>
          <p:nvPr/>
        </p:nvSpPr>
        <p:spPr>
          <a:xfrm>
            <a:off x="457200" y="3007360"/>
            <a:ext cx="548640" cy="256032"/>
          </a:xfrm>
          <a:prstGeom prst="roundRect">
            <a:avLst>
              <a:gd name="adj" fmla="val 17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3007360"/>
            <a:ext cx="548640" cy="256032"/>
          </a:xfrm>
          <a:prstGeom prst="rect">
            <a:avLst/>
          </a:prstGeom>
          <a:noFill/>
        </p:spPr>
        <p:txBody>
          <a:bodyPr wrap="square" lIns="0" rIns="0" tIns="0" bIns="0" anchor="ctr">
            <a:spAutoFit/>
          </a:bodyPr>
          <a:lstStyle/>
          <a:p>
            <a:pPr algn="ctr"/>
            <a:r>
              <a:rPr sz="1200" b="1">
                <a:solidFill>
                  <a:schemeClr val="bg1"/>
                </a:solidFill>
              </a:rPr>
              <a:t>008</a:t>
            </a:r>
          </a:p>
        </p:txBody>
      </p:sp>
      <p:sp>
        <p:nvSpPr>
          <p:cNvPr id="50" name="TextBox 49"/>
          <p:cNvSpPr txBox="1"/>
          <p:nvPr/>
        </p:nvSpPr>
        <p:spPr>
          <a:xfrm>
            <a:off x="1115568" y="3007360"/>
            <a:ext cx="3383280" cy="256032"/>
          </a:xfrm>
          <a:prstGeom prst="rect">
            <a:avLst/>
          </a:prstGeom>
          <a:noFill/>
        </p:spPr>
        <p:txBody>
          <a:bodyPr wrap="square" lIns="0" rIns="0" tIns="0" bIns="0" anchor="ctr">
            <a:spAutoFit/>
          </a:bodyPr>
          <a:lstStyle/>
          <a:p>
            <a:r>
              <a:rPr sz="1300" b="0">
                <a:solidFill>
                  <a:schemeClr val="tx1"/>
                </a:solidFill>
              </a:rPr>
              <a:t>Código en inglés, UI localizada</a:t>
            </a:r>
          </a:p>
        </p:txBody>
      </p:sp>
      <p:sp>
        <p:nvSpPr>
          <p:cNvPr id="51" name="Etiqueta"/>
          <p:cNvSpPr/>
          <p:nvPr/>
        </p:nvSpPr>
        <p:spPr>
          <a:xfrm>
            <a:off x="457200" y="3286760"/>
            <a:ext cx="548640" cy="256032"/>
          </a:xfrm>
          <a:prstGeom prst="roundRect">
            <a:avLst>
              <a:gd name="adj" fmla="val 17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200" y="3286760"/>
            <a:ext cx="548640" cy="256032"/>
          </a:xfrm>
          <a:prstGeom prst="rect">
            <a:avLst/>
          </a:prstGeom>
          <a:noFill/>
        </p:spPr>
        <p:txBody>
          <a:bodyPr wrap="square" lIns="0" rIns="0" tIns="0" bIns="0" anchor="ctr">
            <a:spAutoFit/>
          </a:bodyPr>
          <a:lstStyle/>
          <a:p>
            <a:pPr algn="ctr"/>
            <a:r>
              <a:rPr sz="1200" b="1">
                <a:solidFill>
                  <a:schemeClr val="bg1"/>
                </a:solidFill>
              </a:rPr>
              <a:t>009</a:t>
            </a:r>
          </a:p>
        </p:txBody>
      </p:sp>
      <p:sp>
        <p:nvSpPr>
          <p:cNvPr id="53" name="TextBox 52"/>
          <p:cNvSpPr txBox="1"/>
          <p:nvPr/>
        </p:nvSpPr>
        <p:spPr>
          <a:xfrm>
            <a:off x="1115568" y="3286760"/>
            <a:ext cx="3383280" cy="256032"/>
          </a:xfrm>
          <a:prstGeom prst="rect">
            <a:avLst/>
          </a:prstGeom>
          <a:noFill/>
        </p:spPr>
        <p:txBody>
          <a:bodyPr wrap="square" lIns="0" rIns="0" tIns="0" bIns="0" anchor="ctr">
            <a:spAutoFit/>
          </a:bodyPr>
          <a:lstStyle/>
          <a:p>
            <a:r>
              <a:rPr sz="1300" b="0">
                <a:solidFill>
                  <a:schemeClr val="tx1"/>
                </a:solidFill>
              </a:rPr>
              <a:t>Gemini para visión y lenguaje</a:t>
            </a:r>
          </a:p>
        </p:txBody>
      </p:sp>
      <p:sp>
        <p:nvSpPr>
          <p:cNvPr id="54" name="Etiqueta"/>
          <p:cNvSpPr/>
          <p:nvPr/>
        </p:nvSpPr>
        <p:spPr>
          <a:xfrm>
            <a:off x="457200" y="3566160"/>
            <a:ext cx="548640" cy="256032"/>
          </a:xfrm>
          <a:prstGeom prst="roundRect">
            <a:avLst>
              <a:gd name="adj" fmla="val 17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3566160"/>
            <a:ext cx="548640" cy="256032"/>
          </a:xfrm>
          <a:prstGeom prst="rect">
            <a:avLst/>
          </a:prstGeom>
          <a:noFill/>
        </p:spPr>
        <p:txBody>
          <a:bodyPr wrap="square" lIns="0" rIns="0" tIns="0" bIns="0" anchor="ctr">
            <a:spAutoFit/>
          </a:bodyPr>
          <a:lstStyle/>
          <a:p>
            <a:pPr algn="ctr"/>
            <a:r>
              <a:rPr sz="1200" b="1">
                <a:solidFill>
                  <a:schemeClr val="bg1"/>
                </a:solidFill>
              </a:rPr>
              <a:t>010</a:t>
            </a:r>
          </a:p>
        </p:txBody>
      </p:sp>
      <p:sp>
        <p:nvSpPr>
          <p:cNvPr id="56" name="TextBox 55"/>
          <p:cNvSpPr txBox="1"/>
          <p:nvPr/>
        </p:nvSpPr>
        <p:spPr>
          <a:xfrm>
            <a:off x="1115568" y="3566160"/>
            <a:ext cx="3383280" cy="256032"/>
          </a:xfrm>
          <a:prstGeom prst="rect">
            <a:avLst/>
          </a:prstGeom>
          <a:noFill/>
        </p:spPr>
        <p:txBody>
          <a:bodyPr wrap="square" lIns="0" rIns="0" tIns="0" bIns="0" anchor="ctr">
            <a:spAutoFit/>
          </a:bodyPr>
          <a:lstStyle/>
          <a:p>
            <a:r>
              <a:rPr sz="1300" b="0">
                <a:solidFill>
                  <a:schemeClr val="tx1"/>
                </a:solidFill>
              </a:rPr>
              <a:t>Embeddings Gemini (alternativa en la nube)</a:t>
            </a:r>
          </a:p>
        </p:txBody>
      </p:sp>
      <p:sp>
        <p:nvSpPr>
          <p:cNvPr id="57" name="Etiqueta"/>
          <p:cNvSpPr/>
          <p:nvPr/>
        </p:nvSpPr>
        <p:spPr>
          <a:xfrm>
            <a:off x="457200" y="3845560"/>
            <a:ext cx="548640" cy="256032"/>
          </a:xfrm>
          <a:prstGeom prst="roundRect">
            <a:avLst>
              <a:gd name="adj" fmla="val 17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57200" y="3845560"/>
            <a:ext cx="548640" cy="256032"/>
          </a:xfrm>
          <a:prstGeom prst="rect">
            <a:avLst/>
          </a:prstGeom>
          <a:noFill/>
        </p:spPr>
        <p:txBody>
          <a:bodyPr wrap="square" lIns="0" rIns="0" tIns="0" bIns="0" anchor="ctr">
            <a:spAutoFit/>
          </a:bodyPr>
          <a:lstStyle/>
          <a:p>
            <a:pPr algn="ctr"/>
            <a:r>
              <a:rPr sz="1200" b="1">
                <a:solidFill>
                  <a:schemeClr val="bg1"/>
                </a:solidFill>
              </a:rPr>
              <a:t>011</a:t>
            </a:r>
          </a:p>
        </p:txBody>
      </p:sp>
      <p:sp>
        <p:nvSpPr>
          <p:cNvPr id="59" name="TextBox 58"/>
          <p:cNvSpPr txBox="1"/>
          <p:nvPr/>
        </p:nvSpPr>
        <p:spPr>
          <a:xfrm>
            <a:off x="1115568" y="3845560"/>
            <a:ext cx="3383280" cy="256032"/>
          </a:xfrm>
          <a:prstGeom prst="rect">
            <a:avLst/>
          </a:prstGeom>
          <a:noFill/>
        </p:spPr>
        <p:txBody>
          <a:bodyPr wrap="square" lIns="0" rIns="0" tIns="0" bIns="0" anchor="ctr">
            <a:spAutoFit/>
          </a:bodyPr>
          <a:lstStyle/>
          <a:p>
            <a:r>
              <a:rPr sz="1300" b="0">
                <a:solidFill>
                  <a:schemeClr val="tx1"/>
                </a:solidFill>
              </a:rPr>
              <a:t>README raíz bilingüe</a:t>
            </a:r>
          </a:p>
        </p:txBody>
      </p:sp>
      <p:sp>
        <p:nvSpPr>
          <p:cNvPr id="60" name="Etiqueta"/>
          <p:cNvSpPr/>
          <p:nvPr/>
        </p:nvSpPr>
        <p:spPr>
          <a:xfrm>
            <a:off x="457200" y="4124960"/>
            <a:ext cx="548640" cy="256032"/>
          </a:xfrm>
          <a:prstGeom prst="roundRect">
            <a:avLst>
              <a:gd name="adj" fmla="val 17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7200" y="4124960"/>
            <a:ext cx="548640" cy="256032"/>
          </a:xfrm>
          <a:prstGeom prst="rect">
            <a:avLst/>
          </a:prstGeom>
          <a:noFill/>
        </p:spPr>
        <p:txBody>
          <a:bodyPr wrap="square" lIns="0" rIns="0" tIns="0" bIns="0" anchor="ctr">
            <a:spAutoFit/>
          </a:bodyPr>
          <a:lstStyle/>
          <a:p>
            <a:pPr algn="ctr"/>
            <a:r>
              <a:rPr sz="1200" b="1">
                <a:solidFill>
                  <a:schemeClr val="bg1"/>
                </a:solidFill>
              </a:rPr>
              <a:t>012</a:t>
            </a:r>
          </a:p>
        </p:txBody>
      </p:sp>
      <p:sp>
        <p:nvSpPr>
          <p:cNvPr id="62" name="TextBox 61"/>
          <p:cNvSpPr txBox="1"/>
          <p:nvPr/>
        </p:nvSpPr>
        <p:spPr>
          <a:xfrm>
            <a:off x="1115568" y="4124960"/>
            <a:ext cx="3383280" cy="256032"/>
          </a:xfrm>
          <a:prstGeom prst="rect">
            <a:avLst/>
          </a:prstGeom>
          <a:noFill/>
        </p:spPr>
        <p:txBody>
          <a:bodyPr wrap="square" lIns="0" rIns="0" tIns="0" bIns="0" anchor="ctr">
            <a:spAutoFit/>
          </a:bodyPr>
          <a:lstStyle/>
          <a:p>
            <a:r>
              <a:rPr sz="1300" b="0">
                <a:solidFill>
                  <a:schemeClr val="tx1"/>
                </a:solidFill>
              </a:rPr>
              <a:t>Servidor propio + Cloudflare Tunnel</a:t>
            </a:r>
          </a:p>
        </p:txBody>
      </p:sp>
      <p:sp>
        <p:nvSpPr>
          <p:cNvPr id="63" name="Etiqueta"/>
          <p:cNvSpPr/>
          <p:nvPr/>
        </p:nvSpPr>
        <p:spPr>
          <a:xfrm>
            <a:off x="457200" y="4404360"/>
            <a:ext cx="548640" cy="256032"/>
          </a:xfrm>
          <a:prstGeom prst="roundRect">
            <a:avLst>
              <a:gd name="adj" fmla="val 17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7200" y="4404360"/>
            <a:ext cx="548640" cy="256032"/>
          </a:xfrm>
          <a:prstGeom prst="rect">
            <a:avLst/>
          </a:prstGeom>
          <a:noFill/>
        </p:spPr>
        <p:txBody>
          <a:bodyPr wrap="square" lIns="0" rIns="0" tIns="0" bIns="0" anchor="ctr">
            <a:spAutoFit/>
          </a:bodyPr>
          <a:lstStyle/>
          <a:p>
            <a:pPr algn="ctr"/>
            <a:r>
              <a:rPr sz="1200" b="1">
                <a:solidFill>
                  <a:schemeClr val="bg1"/>
                </a:solidFill>
              </a:rPr>
              <a:t>013</a:t>
            </a:r>
          </a:p>
        </p:txBody>
      </p:sp>
      <p:sp>
        <p:nvSpPr>
          <p:cNvPr id="65" name="TextBox 64"/>
          <p:cNvSpPr txBox="1"/>
          <p:nvPr/>
        </p:nvSpPr>
        <p:spPr>
          <a:xfrm>
            <a:off x="1115568" y="4404360"/>
            <a:ext cx="3383280" cy="256032"/>
          </a:xfrm>
          <a:prstGeom prst="rect">
            <a:avLst/>
          </a:prstGeom>
          <a:noFill/>
        </p:spPr>
        <p:txBody>
          <a:bodyPr wrap="square" lIns="0" rIns="0" tIns="0" bIns="0" anchor="ctr">
            <a:spAutoFit/>
          </a:bodyPr>
          <a:lstStyle/>
          <a:p>
            <a:r>
              <a:rPr sz="1300" b="0">
                <a:solidFill>
                  <a:schemeClr val="tx1"/>
                </a:solidFill>
              </a:rPr>
              <a:t>Modelo local para el asistente</a:t>
            </a:r>
          </a:p>
        </p:txBody>
      </p:sp>
      <p:sp>
        <p:nvSpPr>
          <p:cNvPr id="66" name="Etiqueta"/>
          <p:cNvSpPr/>
          <p:nvPr/>
        </p:nvSpPr>
        <p:spPr>
          <a:xfrm>
            <a:off x="4663440" y="1051560"/>
            <a:ext cx="548640" cy="256032"/>
          </a:xfrm>
          <a:prstGeom prst="roundRect">
            <a:avLst>
              <a:gd name="adj" fmla="val 17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663440" y="1051560"/>
            <a:ext cx="548640" cy="256032"/>
          </a:xfrm>
          <a:prstGeom prst="rect">
            <a:avLst/>
          </a:prstGeom>
          <a:noFill/>
        </p:spPr>
        <p:txBody>
          <a:bodyPr wrap="square" lIns="0" rIns="0" tIns="0" bIns="0" anchor="ctr">
            <a:spAutoFit/>
          </a:bodyPr>
          <a:lstStyle/>
          <a:p>
            <a:pPr algn="ctr"/>
            <a:r>
              <a:rPr sz="1200" b="1">
                <a:solidFill>
                  <a:schemeClr val="bg1"/>
                </a:solidFill>
              </a:rPr>
              <a:t>014</a:t>
            </a:r>
          </a:p>
        </p:txBody>
      </p:sp>
      <p:sp>
        <p:nvSpPr>
          <p:cNvPr id="68" name="TextBox 67"/>
          <p:cNvSpPr txBox="1"/>
          <p:nvPr/>
        </p:nvSpPr>
        <p:spPr>
          <a:xfrm>
            <a:off x="5321807" y="1051560"/>
            <a:ext cx="3566160" cy="256032"/>
          </a:xfrm>
          <a:prstGeom prst="rect">
            <a:avLst/>
          </a:prstGeom>
          <a:noFill/>
        </p:spPr>
        <p:txBody>
          <a:bodyPr wrap="square" lIns="0" rIns="0" tIns="0" bIns="0" anchor="ctr">
            <a:spAutoFit/>
          </a:bodyPr>
          <a:lstStyle/>
          <a:p>
            <a:r>
              <a:rPr sz="1300" b="0">
                <a:solidFill>
                  <a:schemeClr val="tx1"/>
                </a:solidFill>
              </a:rPr>
              <a:t>Modelo del asistente por cooperativa</a:t>
            </a:r>
          </a:p>
        </p:txBody>
      </p:sp>
      <p:sp>
        <p:nvSpPr>
          <p:cNvPr id="69" name="Etiqueta"/>
          <p:cNvSpPr/>
          <p:nvPr/>
        </p:nvSpPr>
        <p:spPr>
          <a:xfrm>
            <a:off x="4663440" y="1330960"/>
            <a:ext cx="548640" cy="256032"/>
          </a:xfrm>
          <a:prstGeom prst="roundRect">
            <a:avLst>
              <a:gd name="adj" fmla="val 17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663440" y="1330960"/>
            <a:ext cx="548640" cy="256032"/>
          </a:xfrm>
          <a:prstGeom prst="rect">
            <a:avLst/>
          </a:prstGeom>
          <a:noFill/>
        </p:spPr>
        <p:txBody>
          <a:bodyPr wrap="square" lIns="0" rIns="0" tIns="0" bIns="0" anchor="ctr">
            <a:spAutoFit/>
          </a:bodyPr>
          <a:lstStyle/>
          <a:p>
            <a:pPr algn="ctr"/>
            <a:r>
              <a:rPr sz="1200" b="1">
                <a:solidFill>
                  <a:schemeClr val="bg1"/>
                </a:solidFill>
              </a:rPr>
              <a:t>015</a:t>
            </a:r>
          </a:p>
        </p:txBody>
      </p:sp>
      <p:sp>
        <p:nvSpPr>
          <p:cNvPr id="71" name="TextBox 70"/>
          <p:cNvSpPr txBox="1"/>
          <p:nvPr/>
        </p:nvSpPr>
        <p:spPr>
          <a:xfrm>
            <a:off x="5321807" y="1330960"/>
            <a:ext cx="3566160" cy="256032"/>
          </a:xfrm>
          <a:prstGeom prst="rect">
            <a:avLst/>
          </a:prstGeom>
          <a:noFill/>
        </p:spPr>
        <p:txBody>
          <a:bodyPr wrap="square" lIns="0" rIns="0" tIns="0" bIns="0" anchor="ctr">
            <a:spAutoFit/>
          </a:bodyPr>
          <a:lstStyle/>
          <a:p>
            <a:r>
              <a:rPr sz="1300" b="0">
                <a:solidFill>
                  <a:schemeClr val="tx1"/>
                </a:solidFill>
              </a:rPr>
              <a:t>qwen3:4b-instruct por defecto</a:t>
            </a:r>
          </a:p>
        </p:txBody>
      </p:sp>
      <p:sp>
        <p:nvSpPr>
          <p:cNvPr id="72" name="Etiqueta"/>
          <p:cNvSpPr/>
          <p:nvPr/>
        </p:nvSpPr>
        <p:spPr>
          <a:xfrm>
            <a:off x="4663440" y="1610360"/>
            <a:ext cx="548640" cy="256032"/>
          </a:xfrm>
          <a:prstGeom prst="roundRect">
            <a:avLst>
              <a:gd name="adj" fmla="val 17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663440" y="1610360"/>
            <a:ext cx="548640" cy="256032"/>
          </a:xfrm>
          <a:prstGeom prst="rect">
            <a:avLst/>
          </a:prstGeom>
          <a:noFill/>
        </p:spPr>
        <p:txBody>
          <a:bodyPr wrap="square" lIns="0" rIns="0" tIns="0" bIns="0" anchor="ctr">
            <a:spAutoFit/>
          </a:bodyPr>
          <a:lstStyle/>
          <a:p>
            <a:pPr algn="ctr"/>
            <a:r>
              <a:rPr sz="1200" b="1">
                <a:solidFill>
                  <a:schemeClr val="bg1"/>
                </a:solidFill>
              </a:rPr>
              <a:t>016</a:t>
            </a:r>
          </a:p>
        </p:txBody>
      </p:sp>
      <p:sp>
        <p:nvSpPr>
          <p:cNvPr id="74" name="TextBox 73"/>
          <p:cNvSpPr txBox="1"/>
          <p:nvPr/>
        </p:nvSpPr>
        <p:spPr>
          <a:xfrm>
            <a:off x="5321807" y="1610360"/>
            <a:ext cx="3566160" cy="256032"/>
          </a:xfrm>
          <a:prstGeom prst="rect">
            <a:avLst/>
          </a:prstGeom>
          <a:noFill/>
        </p:spPr>
        <p:txBody>
          <a:bodyPr wrap="square" lIns="0" rIns="0" tIns="0" bIns="0" anchor="ctr">
            <a:spAutoFit/>
          </a:bodyPr>
          <a:lstStyle/>
          <a:p>
            <a:r>
              <a:rPr sz="1300" b="0">
                <a:solidFill>
                  <a:schemeClr val="tx1"/>
                </a:solidFill>
              </a:rPr>
              <a:t>Invitaciones por enlace del administrador</a:t>
            </a:r>
          </a:p>
        </p:txBody>
      </p:sp>
      <p:sp>
        <p:nvSpPr>
          <p:cNvPr id="75" name="Etiqueta"/>
          <p:cNvSpPr/>
          <p:nvPr/>
        </p:nvSpPr>
        <p:spPr>
          <a:xfrm>
            <a:off x="4663440" y="1889760"/>
            <a:ext cx="548640" cy="256032"/>
          </a:xfrm>
          <a:prstGeom prst="roundRect">
            <a:avLst>
              <a:gd name="adj" fmla="val 17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663440" y="1889760"/>
            <a:ext cx="548640" cy="256032"/>
          </a:xfrm>
          <a:prstGeom prst="rect">
            <a:avLst/>
          </a:prstGeom>
          <a:noFill/>
        </p:spPr>
        <p:txBody>
          <a:bodyPr wrap="square" lIns="0" rIns="0" tIns="0" bIns="0" anchor="ctr">
            <a:spAutoFit/>
          </a:bodyPr>
          <a:lstStyle/>
          <a:p>
            <a:pPr algn="ctr"/>
            <a:r>
              <a:rPr sz="1200" b="1">
                <a:solidFill>
                  <a:schemeClr val="bg1"/>
                </a:solidFill>
              </a:rPr>
              <a:t>017</a:t>
            </a:r>
          </a:p>
        </p:txBody>
      </p:sp>
      <p:sp>
        <p:nvSpPr>
          <p:cNvPr id="77" name="TextBox 76"/>
          <p:cNvSpPr txBox="1"/>
          <p:nvPr/>
        </p:nvSpPr>
        <p:spPr>
          <a:xfrm>
            <a:off x="5321807" y="1889760"/>
            <a:ext cx="3566160" cy="256032"/>
          </a:xfrm>
          <a:prstGeom prst="rect">
            <a:avLst/>
          </a:prstGeom>
          <a:noFill/>
        </p:spPr>
        <p:txBody>
          <a:bodyPr wrap="square" lIns="0" rIns="0" tIns="0" bIns="0" anchor="ctr">
            <a:spAutoFit/>
          </a:bodyPr>
          <a:lstStyle/>
          <a:p>
            <a:r>
              <a:rPr sz="1300" b="0">
                <a:solidFill>
                  <a:schemeClr val="tx1"/>
                </a:solidFill>
              </a:rPr>
              <a:t>Dominio propio para la web</a:t>
            </a:r>
          </a:p>
        </p:txBody>
      </p:sp>
      <p:sp>
        <p:nvSpPr>
          <p:cNvPr id="78" name="Etiqueta"/>
          <p:cNvSpPr/>
          <p:nvPr/>
        </p:nvSpPr>
        <p:spPr>
          <a:xfrm>
            <a:off x="4663440" y="2169160"/>
            <a:ext cx="548640" cy="256032"/>
          </a:xfrm>
          <a:prstGeom prst="roundRect">
            <a:avLst>
              <a:gd name="adj" fmla="val 17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663440" y="2169160"/>
            <a:ext cx="548640" cy="256032"/>
          </a:xfrm>
          <a:prstGeom prst="rect">
            <a:avLst/>
          </a:prstGeom>
          <a:noFill/>
        </p:spPr>
        <p:txBody>
          <a:bodyPr wrap="square" lIns="0" rIns="0" tIns="0" bIns="0" anchor="ctr">
            <a:spAutoFit/>
          </a:bodyPr>
          <a:lstStyle/>
          <a:p>
            <a:pPr algn="ctr"/>
            <a:r>
              <a:rPr sz="1200" b="1">
                <a:solidFill>
                  <a:schemeClr val="bg1"/>
                </a:solidFill>
              </a:rPr>
              <a:t>018</a:t>
            </a:r>
          </a:p>
        </p:txBody>
      </p:sp>
      <p:sp>
        <p:nvSpPr>
          <p:cNvPr id="80" name="TextBox 79"/>
          <p:cNvSpPr txBox="1"/>
          <p:nvPr/>
        </p:nvSpPr>
        <p:spPr>
          <a:xfrm>
            <a:off x="5321807" y="2169160"/>
            <a:ext cx="3566160" cy="256032"/>
          </a:xfrm>
          <a:prstGeom prst="rect">
            <a:avLst/>
          </a:prstGeom>
          <a:noFill/>
        </p:spPr>
        <p:txBody>
          <a:bodyPr wrap="square" lIns="0" rIns="0" tIns="0" bIns="0" anchor="ctr">
            <a:spAutoFit/>
          </a:bodyPr>
          <a:lstStyle/>
          <a:p>
            <a:r>
              <a:rPr sz="1300" b="0">
                <a:solidFill>
                  <a:schemeClr val="tx1"/>
                </a:solidFill>
              </a:rPr>
              <a:t>Color por cooperativa (logo: 021)</a:t>
            </a:r>
          </a:p>
        </p:txBody>
      </p:sp>
      <p:sp>
        <p:nvSpPr>
          <p:cNvPr id="81" name="Etiqueta"/>
          <p:cNvSpPr/>
          <p:nvPr/>
        </p:nvSpPr>
        <p:spPr>
          <a:xfrm>
            <a:off x="4663440" y="2448560"/>
            <a:ext cx="548640" cy="256032"/>
          </a:xfrm>
          <a:prstGeom prst="roundRect">
            <a:avLst>
              <a:gd name="adj" fmla="val 17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663440" y="2448560"/>
            <a:ext cx="548640" cy="256032"/>
          </a:xfrm>
          <a:prstGeom prst="rect">
            <a:avLst/>
          </a:prstGeom>
          <a:noFill/>
        </p:spPr>
        <p:txBody>
          <a:bodyPr wrap="square" lIns="0" rIns="0" tIns="0" bIns="0" anchor="ctr">
            <a:spAutoFit/>
          </a:bodyPr>
          <a:lstStyle/>
          <a:p>
            <a:pPr algn="ctr"/>
            <a:r>
              <a:rPr sz="1200" b="1">
                <a:solidFill>
                  <a:schemeClr val="bg1"/>
                </a:solidFill>
              </a:rPr>
              <a:t>019</a:t>
            </a:r>
          </a:p>
        </p:txBody>
      </p:sp>
      <p:sp>
        <p:nvSpPr>
          <p:cNvPr id="83" name="TextBox 82"/>
          <p:cNvSpPr txBox="1"/>
          <p:nvPr/>
        </p:nvSpPr>
        <p:spPr>
          <a:xfrm>
            <a:off x="5321807" y="2448560"/>
            <a:ext cx="3566160" cy="256032"/>
          </a:xfrm>
          <a:prstGeom prst="rect">
            <a:avLst/>
          </a:prstGeom>
          <a:noFill/>
        </p:spPr>
        <p:txBody>
          <a:bodyPr wrap="square" lIns="0" rIns="0" tIns="0" bIns="0" anchor="ctr">
            <a:spAutoFit/>
          </a:bodyPr>
          <a:lstStyle/>
          <a:p>
            <a:r>
              <a:rPr sz="1300" b="0">
                <a:solidFill>
                  <a:schemeClr val="tx1"/>
                </a:solidFill>
              </a:rPr>
              <a:t>Proveedor externo por cooperativa</a:t>
            </a:r>
          </a:p>
        </p:txBody>
      </p:sp>
      <p:sp>
        <p:nvSpPr>
          <p:cNvPr id="84" name="Etiqueta"/>
          <p:cNvSpPr/>
          <p:nvPr/>
        </p:nvSpPr>
        <p:spPr>
          <a:xfrm>
            <a:off x="4663440" y="2727960"/>
            <a:ext cx="548640" cy="256032"/>
          </a:xfrm>
          <a:prstGeom prst="roundRect">
            <a:avLst>
              <a:gd name="adj" fmla="val 17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1"/>
          <p:cNvSpPr txBox="1"/>
          <p:nvPr/>
        </p:nvSpPr>
        <p:spPr>
          <a:xfrm>
            <a:off x="4663440" y="2727960"/>
            <a:ext cx="548640" cy="256032"/>
          </a:xfrm>
          <a:prstGeom prst="rect">
            <a:avLst/>
          </a:prstGeom>
          <a:noFill/>
        </p:spPr>
        <p:txBody>
          <a:bodyPr wrap="square" lIns="0" rIns="0" tIns="0" bIns="0" anchor="ctr">
            <a:spAutoFit/>
          </a:bodyPr>
          <a:lstStyle/>
          <a:p>
            <a:pPr algn="ctr"/>
            <a:r>
              <a:rPr sz="1200" b="1">
                <a:solidFill>
                  <a:schemeClr val="bg1"/>
                </a:solidFill>
              </a:rPr>
              <a:t>020</a:t>
            </a:r>
          </a:p>
        </p:txBody>
      </p:sp>
      <p:sp>
        <p:nvSpPr>
          <p:cNvPr id="86" name="TextBox 82"/>
          <p:cNvSpPr txBox="1"/>
          <p:nvPr/>
        </p:nvSpPr>
        <p:spPr>
          <a:xfrm>
            <a:off x="5321807" y="2727960"/>
            <a:ext cx="3566160" cy="256032"/>
          </a:xfrm>
          <a:prstGeom prst="rect">
            <a:avLst/>
          </a:prstGeom>
          <a:noFill/>
        </p:spPr>
        <p:txBody>
          <a:bodyPr wrap="square" lIns="0" rIns="0" tIns="0" bIns="0" anchor="ctr">
            <a:spAutoFit/>
          </a:bodyPr>
          <a:lstStyle/>
          <a:p>
            <a:r>
              <a:rPr sz="1300" b="0">
                <a:solidFill>
                  <a:schemeClr val="tx1"/>
                </a:solidFill>
              </a:rPr>
              <a:t>Interfaz con react-native-paper (MD3)</a:t>
            </a:r>
          </a:p>
        </p:txBody>
      </p:sp>
      <p:sp>
        <p:nvSpPr>
          <p:cNvPr id="87" name="Etiqueta"/>
          <p:cNvSpPr/>
          <p:nvPr/>
        </p:nvSpPr>
        <p:spPr>
          <a:xfrm>
            <a:off x="4663440" y="3007360"/>
            <a:ext cx="548640" cy="256032"/>
          </a:xfrm>
          <a:prstGeom prst="roundRect">
            <a:avLst>
              <a:gd name="adj" fmla="val 17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1"/>
          <p:cNvSpPr txBox="1"/>
          <p:nvPr/>
        </p:nvSpPr>
        <p:spPr>
          <a:xfrm>
            <a:off x="4663440" y="3007360"/>
            <a:ext cx="548640" cy="256032"/>
          </a:xfrm>
          <a:prstGeom prst="rect">
            <a:avLst/>
          </a:prstGeom>
          <a:noFill/>
        </p:spPr>
        <p:txBody>
          <a:bodyPr wrap="square" lIns="0" rIns="0" tIns="0" bIns="0" anchor="ctr">
            <a:spAutoFit/>
          </a:bodyPr>
          <a:lstStyle/>
          <a:p>
            <a:pPr algn="ctr"/>
            <a:r>
              <a:rPr sz="1200" b="1">
                <a:solidFill>
                  <a:schemeClr val="bg1"/>
                </a:solidFill>
              </a:rPr>
              <a:t>021</a:t>
            </a:r>
          </a:p>
        </p:txBody>
      </p:sp>
      <p:sp>
        <p:nvSpPr>
          <p:cNvPr id="89" name="TextBox 82"/>
          <p:cNvSpPr txBox="1"/>
          <p:nvPr/>
        </p:nvSpPr>
        <p:spPr>
          <a:xfrm>
            <a:off x="5321807" y="3007360"/>
            <a:ext cx="3566160" cy="256032"/>
          </a:xfrm>
          <a:prstGeom prst="rect">
            <a:avLst/>
          </a:prstGeom>
          <a:noFill/>
        </p:spPr>
        <p:txBody>
          <a:bodyPr wrap="square" lIns="0" rIns="0" tIns="0" bIns="0" anchor="ctr">
            <a:spAutoFit/>
          </a:bodyPr>
          <a:lstStyle/>
          <a:p>
            <a:r>
              <a:rPr sz="1300" b="0">
                <a:solidFill>
                  <a:schemeClr val="tx1"/>
                </a:solidFill>
              </a:rPr>
              <a:t>Sin logo por cooperativa (el color se mantiene)</a:t>
            </a:r>
          </a:p>
        </p:txBody>
      </p:sp>
      <p:sp>
        <p:nvSpPr>
          <p:cNvPr id="90" name="Etiqueta"/>
          <p:cNvSpPr/>
          <p:nvPr/>
        </p:nvSpPr>
        <p:spPr>
          <a:xfrm>
            <a:off x="4663440" y="3286760"/>
            <a:ext cx="548640" cy="256032"/>
          </a:xfrm>
          <a:prstGeom prst="roundRect">
            <a:avLst>
              <a:gd name="adj" fmla="val 17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81"/>
          <p:cNvSpPr txBox="1"/>
          <p:nvPr/>
        </p:nvSpPr>
        <p:spPr>
          <a:xfrm>
            <a:off x="4663440" y="3286760"/>
            <a:ext cx="548640" cy="256032"/>
          </a:xfrm>
          <a:prstGeom prst="rect">
            <a:avLst/>
          </a:prstGeom>
          <a:noFill/>
        </p:spPr>
        <p:txBody>
          <a:bodyPr wrap="square" lIns="0" rIns="0" tIns="0" bIns="0" anchor="ctr">
            <a:spAutoFit/>
          </a:bodyPr>
          <a:lstStyle/>
          <a:p>
            <a:pPr algn="ctr"/>
            <a:r>
              <a:rPr sz="1200" b="1">
                <a:solidFill>
                  <a:schemeClr val="bg1"/>
                </a:solidFill>
              </a:rPr>
              <a:t>022</a:t>
            </a:r>
          </a:p>
        </p:txBody>
      </p:sp>
      <p:sp>
        <p:nvSpPr>
          <p:cNvPr id="92" name="TextBox 82"/>
          <p:cNvSpPr txBox="1"/>
          <p:nvPr/>
        </p:nvSpPr>
        <p:spPr>
          <a:xfrm>
            <a:off x="5321807" y="3286760"/>
            <a:ext cx="3566160" cy="256032"/>
          </a:xfrm>
          <a:prstGeom prst="rect">
            <a:avLst/>
          </a:prstGeom>
          <a:noFill/>
        </p:spPr>
        <p:txBody>
          <a:bodyPr wrap="square" lIns="0" rIns="0" tIns="0" bIns="0" anchor="ctr">
            <a:spAutoFit/>
          </a:bodyPr>
          <a:lstStyle/>
          <a:p>
            <a:r>
              <a:rPr sz="1300" b="0">
                <a:solidFill>
                  <a:schemeClr val="tx1"/>
                </a:solidFill>
              </a:rPr>
              <a:t>Búsqueda híbrida y umbral de similitud</a:t>
            </a:r>
          </a:p>
        </p:txBody>
      </p:sp>
      <p:sp>
        <p:nvSpPr>
          <p:cNvPr id="93" name="Etiqueta"/>
          <p:cNvSpPr/>
          <p:nvPr/>
        </p:nvSpPr>
        <p:spPr>
          <a:xfrm>
            <a:off x="4663440" y="3566160"/>
            <a:ext cx="548640" cy="256032"/>
          </a:xfrm>
          <a:prstGeom prst="roundRect">
            <a:avLst>
              <a:gd name="adj" fmla="val 17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81"/>
          <p:cNvSpPr txBox="1"/>
          <p:nvPr/>
        </p:nvSpPr>
        <p:spPr>
          <a:xfrm>
            <a:off x="4663440" y="3566160"/>
            <a:ext cx="548640" cy="256032"/>
          </a:xfrm>
          <a:prstGeom prst="rect">
            <a:avLst/>
          </a:prstGeom>
          <a:noFill/>
        </p:spPr>
        <p:txBody>
          <a:bodyPr wrap="square" lIns="0" rIns="0" tIns="0" bIns="0" anchor="ctr">
            <a:spAutoFit/>
          </a:bodyPr>
          <a:lstStyle/>
          <a:p>
            <a:pPr algn="ctr"/>
            <a:r>
              <a:rPr sz="1200" b="1">
                <a:solidFill>
                  <a:schemeClr val="bg1"/>
                </a:solidFill>
              </a:rPr>
              <a:t>023</a:t>
            </a:r>
          </a:p>
        </p:txBody>
      </p:sp>
      <p:sp>
        <p:nvSpPr>
          <p:cNvPr id="95" name="TextBox 82"/>
          <p:cNvSpPr txBox="1"/>
          <p:nvPr/>
        </p:nvSpPr>
        <p:spPr>
          <a:xfrm>
            <a:off x="5321807" y="3566160"/>
            <a:ext cx="3566160" cy="256032"/>
          </a:xfrm>
          <a:prstGeom prst="rect">
            <a:avLst/>
          </a:prstGeom>
          <a:noFill/>
        </p:spPr>
        <p:txBody>
          <a:bodyPr wrap="square" lIns="0" rIns="0" tIns="0" bIns="0" anchor="ctr">
            <a:spAutoFit/>
          </a:bodyPr>
          <a:lstStyle/>
          <a:p>
            <a:r>
              <a:rPr sz="1300" b="0">
                <a:solidFill>
                  <a:schemeClr val="tx1"/>
                </a:solidFill>
              </a:rPr>
              <a:t>Calidad RAG: benchmark y recuperación</a:t>
            </a:r>
          </a:p>
        </p:txBody>
      </p:sp>
      <p:sp>
        <p:nvSpPr>
          <p:cNvPr id="96" name="Etiqueta"/>
          <p:cNvSpPr/>
          <p:nvPr/>
        </p:nvSpPr>
        <p:spPr>
          <a:xfrm>
            <a:off x="4663440" y="3845560"/>
            <a:ext cx="548640" cy="256032"/>
          </a:xfrm>
          <a:prstGeom prst="roundRect">
            <a:avLst>
              <a:gd name="adj" fmla="val 17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81"/>
          <p:cNvSpPr txBox="1"/>
          <p:nvPr/>
        </p:nvSpPr>
        <p:spPr>
          <a:xfrm>
            <a:off x="4663440" y="3845560"/>
            <a:ext cx="548640" cy="256032"/>
          </a:xfrm>
          <a:prstGeom prst="rect">
            <a:avLst/>
          </a:prstGeom>
          <a:noFill/>
        </p:spPr>
        <p:txBody>
          <a:bodyPr wrap="square" lIns="0" rIns="0" tIns="0" bIns="0" anchor="ctr">
            <a:spAutoFit/>
          </a:bodyPr>
          <a:lstStyle/>
          <a:p>
            <a:pPr algn="ctr"/>
            <a:r>
              <a:rPr sz="1200" b="1">
                <a:solidFill>
                  <a:schemeClr val="bg1"/>
                </a:solidFill>
              </a:rPr>
              <a:t>024</a:t>
            </a:r>
          </a:p>
        </p:txBody>
      </p:sp>
      <p:sp>
        <p:nvSpPr>
          <p:cNvPr id="98" name="TextBox 82"/>
          <p:cNvSpPr txBox="1"/>
          <p:nvPr/>
        </p:nvSpPr>
        <p:spPr>
          <a:xfrm>
            <a:off x="5321807" y="3845560"/>
            <a:ext cx="3566160" cy="256032"/>
          </a:xfrm>
          <a:prstGeom prst="rect">
            <a:avLst/>
          </a:prstGeom>
          <a:noFill/>
        </p:spPr>
        <p:txBody>
          <a:bodyPr wrap="square" lIns="0" rIns="0" tIns="0" bIns="0" anchor="ctr">
            <a:spAutoFit/>
          </a:bodyPr>
          <a:lstStyle/>
          <a:p>
            <a:r>
              <a:rPr sz="1300" b="0">
                <a:solidFill>
                  <a:schemeClr val="tx1"/>
                </a:solidFill>
              </a:rPr>
              <a:t>Sistema de diseño de la interfaz</a:t>
            </a:r>
          </a:p>
        </p:txBody>
      </p:sp>
      <p:sp>
        <p:nvSpPr>
          <p:cNvPr id="200" name="Etiqueta"/>
          <p:cNvSpPr/>
          <p:nvPr/>
        </p:nvSpPr>
        <p:spPr>
          <a:xfrm>
            <a:off x="4663440" y="4124960"/>
            <a:ext cx="548640" cy="256032"/>
          </a:xfrm>
          <a:prstGeom prst="roundRect">
            <a:avLst>
              <a:gd name="adj" fmla="val 17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81"/>
          <p:cNvSpPr txBox="1"/>
          <p:nvPr/>
        </p:nvSpPr>
        <p:spPr>
          <a:xfrm>
            <a:off x="4663440" y="4124960"/>
            <a:ext cx="548640" cy="256032"/>
          </a:xfrm>
          <a:prstGeom prst="rect">
            <a:avLst/>
          </a:prstGeom>
          <a:noFill/>
        </p:spPr>
        <p:txBody>
          <a:bodyPr wrap="square" lIns="0" rIns="0" tIns="0" bIns="0" anchor="ctr">
            <a:spAutoFit/>
          </a:bodyPr>
          <a:lstStyle/>
          <a:p>
            <a:pPr algn="ctr"/>
            <a:r>
              <a:rPr sz="1200" b="1">
                <a:solidFill>
                  <a:schemeClr val="bg1"/>
                </a:solidFill>
              </a:rPr>
              <a:t>025</a:t>
            </a:r>
          </a:p>
        </p:txBody>
      </p:sp>
      <p:sp>
        <p:nvSpPr>
          <p:cNvPr id="202" name="TextBox 82"/>
          <p:cNvSpPr txBox="1"/>
          <p:nvPr/>
        </p:nvSpPr>
        <p:spPr>
          <a:xfrm>
            <a:off x="5321807" y="4124960"/>
            <a:ext cx="3566160" cy="256032"/>
          </a:xfrm>
          <a:prstGeom prst="rect">
            <a:avLst/>
          </a:prstGeom>
          <a:noFill/>
        </p:spPr>
        <p:txBody>
          <a:bodyPr wrap="square" lIns="0" rIns="0" tIns="0" bIns="0" anchor="ctr">
            <a:spAutoFit/>
          </a:bodyPr>
          <a:lstStyle/>
          <a:p>
            <a:r>
              <a:rPr sz="1300" b="0">
                <a:solidFill>
                  <a:schemeClr val="tx1"/>
                </a:solidFill>
              </a:rPr>
              <a:t>NIF del socio y cruce socio–tercero</a:t>
            </a:r>
          </a:p>
        </p:txBody>
      </p:sp>
      <p:sp>
        <p:nvSpPr>
          <p:cNvPr id="203" name="Etiqueta"/>
          <p:cNvSpPr/>
          <p:nvPr/>
        </p:nvSpPr>
        <p:spPr>
          <a:xfrm>
            <a:off x="4663440" y="4404360"/>
            <a:ext cx="548640" cy="256032"/>
          </a:xfrm>
          <a:prstGeom prst="roundRect">
            <a:avLst>
              <a:gd name="adj" fmla="val 17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81"/>
          <p:cNvSpPr txBox="1"/>
          <p:nvPr/>
        </p:nvSpPr>
        <p:spPr>
          <a:xfrm>
            <a:off x="4663440" y="4404360"/>
            <a:ext cx="548640" cy="256032"/>
          </a:xfrm>
          <a:prstGeom prst="rect">
            <a:avLst/>
          </a:prstGeom>
          <a:noFill/>
        </p:spPr>
        <p:txBody>
          <a:bodyPr wrap="square" lIns="0" rIns="0" tIns="0" bIns="0" anchor="ctr">
            <a:spAutoFit/>
          </a:bodyPr>
          <a:lstStyle/>
          <a:p>
            <a:pPr algn="ctr"/>
            <a:r>
              <a:rPr sz="1200" b="1">
                <a:solidFill>
                  <a:schemeClr val="bg1"/>
                </a:solidFill>
              </a:rPr>
              <a:t>026</a:t>
            </a:r>
          </a:p>
        </p:txBody>
      </p:sp>
      <p:sp>
        <p:nvSpPr>
          <p:cNvPr id="205" name="TextBox 82"/>
          <p:cNvSpPr txBox="1"/>
          <p:nvPr/>
        </p:nvSpPr>
        <p:spPr>
          <a:xfrm>
            <a:off x="5321807" y="4404360"/>
            <a:ext cx="3566160" cy="256032"/>
          </a:xfrm>
          <a:prstGeom prst="rect">
            <a:avLst/>
          </a:prstGeom>
          <a:noFill/>
        </p:spPr>
        <p:txBody>
          <a:bodyPr wrap="square" lIns="0" rIns="0" tIns="0" bIns="0" anchor="ctr">
            <a:spAutoFit/>
          </a:bodyPr>
          <a:lstStyle/>
          <a:p>
            <a:r>
              <a:rPr sz="1300" b="0">
                <a:solidFill>
                  <a:schemeClr val="tx1"/>
                </a:solidFill>
              </a:rPr>
              <a:t>Gemini para el asistente de la demo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
        <p:nvSpPr>
          <p:cNvPr id="26" name="Titulo"/>
          <p:cNvSpPr txBox="1"/>
          <p:nvPr/>
        </p:nvSpPr>
        <p:spPr>
          <a:xfrm>
            <a:off x="457200" y="274320"/>
            <a:ext cx="8229600" cy="685800"/>
          </a:xfrm>
          <a:prstGeom prst="rect">
            <a:avLst/>
          </a:prstGeom>
          <a:noFill/>
        </p:spPr>
        <p:txBody>
          <a:bodyPr wrap="square" lIns="0" rIns="0" tIns="0" bIns="0" anchor="ctr">
            <a:spAutoFit/>
          </a:bodyPr>
          <a:lstStyle/>
          <a:p>
            <a:r>
              <a:rPr sz="2800" b="1">
                <a:solidFill>
                  <a:schemeClr val="tx2"/>
                </a:solidFill>
                <a:latin typeface="Cambria"/>
              </a:rPr>
              <a:t>Seguridad y multi-cooperativa</a:t>
            </a:r>
          </a:p>
        </p:txBody>
      </p:sp>
      <p:sp>
        <p:nvSpPr>
          <p:cNvPr id="27" name="Tarjeta"/>
          <p:cNvSpPr/>
          <p:nvPr/>
        </p:nvSpPr>
        <p:spPr>
          <a:xfrm>
            <a:off x="457200" y="1188720"/>
            <a:ext cx="2606040" cy="1554480"/>
          </a:xfrm>
          <a:prstGeom prst="roundRect">
            <a:avLst>
              <a:gd name="adj" fmla="val 4000"/>
            </a:avLst>
          </a:prstGeom>
          <a:solidFill>
            <a:schemeClr val="bg2"/>
          </a:solidFill>
          <a:ln w="12700">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1298448"/>
            <a:ext cx="2240280" cy="320040"/>
          </a:xfrm>
          <a:prstGeom prst="rect">
            <a:avLst/>
          </a:prstGeom>
          <a:noFill/>
        </p:spPr>
        <p:txBody>
          <a:bodyPr wrap="square" lIns="0" rIns="0" tIns="0" bIns="0" anchor="t">
            <a:spAutoFit/>
          </a:bodyPr>
          <a:lstStyle/>
          <a:p>
            <a:r>
              <a:rPr sz="1600" b="1">
                <a:solidFill>
                  <a:schemeClr val="tx2"/>
                </a:solidFill>
              </a:rPr>
              <a:t>Denegar por defecto</a:t>
            </a:r>
          </a:p>
        </p:txBody>
      </p:sp>
      <p:sp>
        <p:nvSpPr>
          <p:cNvPr id="29" name="TextBox 28"/>
          <p:cNvSpPr txBox="1"/>
          <p:nvPr/>
        </p:nvSpPr>
        <p:spPr>
          <a:xfrm>
            <a:off x="640080" y="1664208"/>
            <a:ext cx="2240280" cy="960120"/>
          </a:xfrm>
          <a:prstGeom prst="rect">
            <a:avLst/>
          </a:prstGeom>
          <a:noFill/>
        </p:spPr>
        <p:txBody>
          <a:bodyPr wrap="square" lIns="0" rIns="0" tIns="0" bIns="0" anchor="t">
            <a:spAutoFit/>
          </a:bodyPr>
          <a:lstStyle/>
          <a:p>
            <a:r>
              <a:rPr sz="1300" b="0">
                <a:solidFill>
                  <a:schemeClr val="tx1"/>
                </a:solidFill>
              </a:rPr>
              <a:t>Cada caso de uso comprueba el permiso; la app solo oculta</a:t>
            </a:r>
          </a:p>
        </p:txBody>
      </p:sp>
      <p:sp>
        <p:nvSpPr>
          <p:cNvPr id="30" name="Tarjeta"/>
          <p:cNvSpPr/>
          <p:nvPr/>
        </p:nvSpPr>
        <p:spPr>
          <a:xfrm>
            <a:off x="3246120" y="1188720"/>
            <a:ext cx="2606040" cy="1554480"/>
          </a:xfrm>
          <a:prstGeom prst="roundRect">
            <a:avLst>
              <a:gd name="adj" fmla="val 4000"/>
            </a:avLst>
          </a:prstGeom>
          <a:solidFill>
            <a:schemeClr val="bg2"/>
          </a:solidFill>
          <a:ln w="12700">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29000" y="1298448"/>
            <a:ext cx="2240280" cy="320040"/>
          </a:xfrm>
          <a:prstGeom prst="rect">
            <a:avLst/>
          </a:prstGeom>
          <a:noFill/>
        </p:spPr>
        <p:txBody>
          <a:bodyPr wrap="square" lIns="0" rIns="0" tIns="0" bIns="0" anchor="t">
            <a:spAutoFit/>
          </a:bodyPr>
          <a:lstStyle/>
          <a:p>
            <a:r>
              <a:rPr sz="1600" b="1">
                <a:solidFill>
                  <a:schemeClr val="tx2"/>
                </a:solidFill>
              </a:rPr>
              <a:t>Aislamiento</a:t>
            </a:r>
          </a:p>
        </p:txBody>
      </p:sp>
      <p:sp>
        <p:nvSpPr>
          <p:cNvPr id="32" name="TextBox 31"/>
          <p:cNvSpPr txBox="1"/>
          <p:nvPr/>
        </p:nvSpPr>
        <p:spPr>
          <a:xfrm>
            <a:off x="3429000" y="1664208"/>
            <a:ext cx="2240280" cy="960120"/>
          </a:xfrm>
          <a:prstGeom prst="rect">
            <a:avLst/>
          </a:prstGeom>
          <a:noFill/>
        </p:spPr>
        <p:txBody>
          <a:bodyPr wrap="square" lIns="0" rIns="0" tIns="0" bIns="0" anchor="t">
            <a:spAutoFit/>
          </a:bodyPr>
          <a:lstStyle/>
          <a:p>
            <a:r>
              <a:rPr sz="1300" b="0">
                <a:solidFill>
                  <a:schemeClr val="tx1"/>
                </a:solidFill>
              </a:rPr>
              <a:t>404 si el recurso es de otra cooperativa, 403 sin permiso; también en RAG y herramientas</a:t>
            </a:r>
          </a:p>
        </p:txBody>
      </p:sp>
      <p:sp>
        <p:nvSpPr>
          <p:cNvPr id="33" name="Tarjeta"/>
          <p:cNvSpPr/>
          <p:nvPr/>
        </p:nvSpPr>
        <p:spPr>
          <a:xfrm>
            <a:off x="6035040" y="1188720"/>
            <a:ext cx="2606040" cy="1554480"/>
          </a:xfrm>
          <a:prstGeom prst="roundRect">
            <a:avLst>
              <a:gd name="adj" fmla="val 4000"/>
            </a:avLst>
          </a:prstGeom>
          <a:solidFill>
            <a:schemeClr val="bg2"/>
          </a:solidFill>
          <a:ln w="12700">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17920" y="1298448"/>
            <a:ext cx="2240280" cy="320040"/>
          </a:xfrm>
          <a:prstGeom prst="rect">
            <a:avLst/>
          </a:prstGeom>
          <a:noFill/>
        </p:spPr>
        <p:txBody>
          <a:bodyPr wrap="square" lIns="0" rIns="0" tIns="0" bIns="0" anchor="t">
            <a:spAutoFit/>
          </a:bodyPr>
          <a:lstStyle/>
          <a:p>
            <a:r>
              <a:rPr sz="1600" b="1">
                <a:solidFill>
                  <a:schemeClr val="tx2"/>
                </a:solidFill>
              </a:rPr>
              <a:t>Contraseñas</a:t>
            </a:r>
          </a:p>
        </p:txBody>
      </p:sp>
      <p:sp>
        <p:nvSpPr>
          <p:cNvPr id="35" name="TextBox 34"/>
          <p:cNvSpPr txBox="1"/>
          <p:nvPr/>
        </p:nvSpPr>
        <p:spPr>
          <a:xfrm>
            <a:off x="6217920" y="1664208"/>
            <a:ext cx="2240280" cy="960120"/>
          </a:xfrm>
          <a:prstGeom prst="rect">
            <a:avLst/>
          </a:prstGeom>
          <a:noFill/>
        </p:spPr>
        <p:txBody>
          <a:bodyPr wrap="square" lIns="0" rIns="0" tIns="0" bIns="0" anchor="t">
            <a:spAutoFit/>
          </a:bodyPr>
          <a:lstStyle/>
          <a:p>
            <a:r>
              <a:rPr sz="1300" b="0">
                <a:solidFill>
                  <a:schemeClr val="tx1"/>
                </a:solidFill>
              </a:rPr>
              <a:t>Argon2id, bloqueo por intentos fallidos y JWT con refresh rotatorio</a:t>
            </a:r>
          </a:p>
        </p:txBody>
      </p:sp>
      <p:sp>
        <p:nvSpPr>
          <p:cNvPr id="36" name="Tarjeta"/>
          <p:cNvSpPr/>
          <p:nvPr/>
        </p:nvSpPr>
        <p:spPr>
          <a:xfrm>
            <a:off x="457200" y="2926080"/>
            <a:ext cx="2606040" cy="1554480"/>
          </a:xfrm>
          <a:prstGeom prst="roundRect">
            <a:avLst>
              <a:gd name="adj" fmla="val 4000"/>
            </a:avLst>
          </a:prstGeom>
          <a:solidFill>
            <a:schemeClr val="bg2"/>
          </a:solidFill>
          <a:ln w="12700">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 y="3035808"/>
            <a:ext cx="2240280" cy="320040"/>
          </a:xfrm>
          <a:prstGeom prst="rect">
            <a:avLst/>
          </a:prstGeom>
          <a:noFill/>
        </p:spPr>
        <p:txBody>
          <a:bodyPr wrap="square" lIns="0" rIns="0" tIns="0" bIns="0" anchor="t">
            <a:spAutoFit/>
          </a:bodyPr>
          <a:lstStyle/>
          <a:p>
            <a:r>
              <a:rPr sz="1600" b="1">
                <a:solidFill>
                  <a:schemeClr val="tx2"/>
                </a:solidFill>
              </a:rPr>
              <a:t>Ficheros y validación</a:t>
            </a:r>
          </a:p>
        </p:txBody>
      </p:sp>
      <p:sp>
        <p:nvSpPr>
          <p:cNvPr id="38" name="TextBox 37"/>
          <p:cNvSpPr txBox="1"/>
          <p:nvPr/>
        </p:nvSpPr>
        <p:spPr>
          <a:xfrm>
            <a:off x="640080" y="3401568"/>
            <a:ext cx="2240280" cy="960120"/>
          </a:xfrm>
          <a:prstGeom prst="rect">
            <a:avLst/>
          </a:prstGeom>
          <a:noFill/>
        </p:spPr>
        <p:txBody>
          <a:bodyPr wrap="square" lIns="0" rIns="0" tIns="0" bIns="0" anchor="t">
            <a:spAutoFit/>
          </a:bodyPr>
          <a:lstStyle/>
          <a:p>
            <a:r>
              <a:rPr sz="1300" b="0">
                <a:solidFill>
                  <a:schemeClr val="tx1"/>
                </a:solidFill>
              </a:rPr>
              <a:t>URLs firmadas que caducan; el servidor valida cada entrada, también el contraste AA del color</a:t>
            </a:r>
          </a:p>
        </p:txBody>
      </p:sp>
      <p:sp>
        <p:nvSpPr>
          <p:cNvPr id="39" name="Tarjeta"/>
          <p:cNvSpPr/>
          <p:nvPr/>
        </p:nvSpPr>
        <p:spPr>
          <a:xfrm>
            <a:off x="3246120" y="2926080"/>
            <a:ext cx="2606040" cy="1554480"/>
          </a:xfrm>
          <a:prstGeom prst="roundRect">
            <a:avLst>
              <a:gd name="adj" fmla="val 4000"/>
            </a:avLst>
          </a:prstGeom>
          <a:solidFill>
            <a:schemeClr val="bg2"/>
          </a:solidFill>
          <a:ln w="12700">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29000" y="3035808"/>
            <a:ext cx="2240280" cy="320040"/>
          </a:xfrm>
          <a:prstGeom prst="rect">
            <a:avLst/>
          </a:prstGeom>
          <a:noFill/>
        </p:spPr>
        <p:txBody>
          <a:bodyPr wrap="square" lIns="0" rIns="0" tIns="0" bIns="0" anchor="t">
            <a:spAutoFit/>
          </a:bodyPr>
          <a:lstStyle/>
          <a:p>
            <a:r>
              <a:rPr sz="1600" b="1">
                <a:solidFill>
                  <a:schemeClr val="tx2"/>
                </a:solidFill>
              </a:rPr>
              <a:t>CORS y secretos</a:t>
            </a:r>
          </a:p>
        </p:txBody>
      </p:sp>
      <p:sp>
        <p:nvSpPr>
          <p:cNvPr id="41" name="TextBox 40"/>
          <p:cNvSpPr txBox="1"/>
          <p:nvPr/>
        </p:nvSpPr>
        <p:spPr>
          <a:xfrm>
            <a:off x="3429000" y="3401568"/>
            <a:ext cx="2240280" cy="960120"/>
          </a:xfrm>
          <a:prstGeom prst="rect">
            <a:avLst/>
          </a:prstGeom>
          <a:noFill/>
        </p:spPr>
        <p:txBody>
          <a:bodyPr wrap="square" lIns="0" rIns="0" tIns="0" bIns="0" anchor="t">
            <a:spAutoFit/>
          </a:bodyPr>
          <a:lstStyle/>
          <a:p>
            <a:r>
              <a:rPr sz="1300" b="0">
                <a:solidFill>
                  <a:schemeClr val="tx1"/>
                </a:solidFill>
              </a:rPr>
              <a:t>Orígenes permitidos; secretos fuera del repo; claves de proveedor cifradas (AES-GCM)</a:t>
            </a:r>
          </a:p>
        </p:txBody>
      </p:sp>
      <p:sp>
        <p:nvSpPr>
          <p:cNvPr id="42" name="Tarjeta"/>
          <p:cNvSpPr/>
          <p:nvPr/>
        </p:nvSpPr>
        <p:spPr>
          <a:xfrm>
            <a:off x="6035040" y="2926080"/>
            <a:ext cx="2606040" cy="1554480"/>
          </a:xfrm>
          <a:prstGeom prst="roundRect">
            <a:avLst>
              <a:gd name="adj" fmla="val 4000"/>
            </a:avLst>
          </a:prstGeom>
          <a:solidFill>
            <a:schemeClr val="bg2"/>
          </a:solidFill>
          <a:ln w="12700">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17920" y="3035808"/>
            <a:ext cx="2240280" cy="320040"/>
          </a:xfrm>
          <a:prstGeom prst="rect">
            <a:avLst/>
          </a:prstGeom>
          <a:noFill/>
        </p:spPr>
        <p:txBody>
          <a:bodyPr wrap="square" lIns="0" rIns="0" tIns="0" bIns="0" anchor="t">
            <a:spAutoFit/>
          </a:bodyPr>
          <a:lstStyle/>
          <a:p>
            <a:r>
              <a:rPr sz="1600" b="1">
                <a:solidFill>
                  <a:schemeClr val="tx2"/>
                </a:solidFill>
              </a:rPr>
              <a:t>Tests de seguridad</a:t>
            </a:r>
          </a:p>
        </p:txBody>
      </p:sp>
      <p:sp>
        <p:nvSpPr>
          <p:cNvPr id="44" name="TextBox 43"/>
          <p:cNvSpPr txBox="1"/>
          <p:nvPr/>
        </p:nvSpPr>
        <p:spPr>
          <a:xfrm>
            <a:off x="6217920" y="3401568"/>
            <a:ext cx="2240280" cy="960120"/>
          </a:xfrm>
          <a:prstGeom prst="rect">
            <a:avLst/>
          </a:prstGeom>
          <a:noFill/>
        </p:spPr>
        <p:txBody>
          <a:bodyPr wrap="square" lIns="0" rIns="0" tIns="0" bIns="0" anchor="t">
            <a:spAutoFit/>
          </a:bodyPr>
          <a:lstStyle/>
          <a:p>
            <a:r>
              <a:rPr sz="1300" b="0">
                <a:solidFill>
                  <a:schemeClr val="tx1"/>
                </a:solidFill>
              </a:rPr>
              <a:t>Matriz perfiles x módulos y aislamiento entre cooperativas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
        <p:nvSpPr>
          <p:cNvPr id="26" name="Titulo"/>
          <p:cNvSpPr txBox="1"/>
          <p:nvPr/>
        </p:nvSpPr>
        <p:spPr>
          <a:xfrm>
            <a:off x="457200" y="274320"/>
            <a:ext cx="8229600" cy="685800"/>
          </a:xfrm>
          <a:prstGeom prst="rect">
            <a:avLst/>
          </a:prstGeom>
          <a:noFill/>
        </p:spPr>
        <p:txBody>
          <a:bodyPr wrap="square" lIns="0" rIns="0" tIns="0" bIns="0" anchor="ctr">
            <a:spAutoFit/>
          </a:bodyPr>
          <a:lstStyle/>
          <a:p>
            <a:r>
              <a:rPr sz="2800" b="1">
                <a:solidFill>
                  <a:schemeClr val="tx2"/>
                </a:solidFill>
                <a:latin typeface="Cambria"/>
              </a:rPr>
              <a:t>IA en el producto</a:t>
            </a:r>
          </a:p>
        </p:txBody>
      </p:sp>
      <p:sp>
        <p:nvSpPr>
          <p:cNvPr id="27" name="Tarjeta"/>
          <p:cNvSpPr/>
          <p:nvPr/>
        </p:nvSpPr>
        <p:spPr>
          <a:xfrm>
            <a:off x="457200" y="1143000"/>
            <a:ext cx="4023360" cy="1325880"/>
          </a:xfrm>
          <a:prstGeom prst="roundRect">
            <a:avLst>
              <a:gd name="adj" fmla="val 4000"/>
            </a:avLst>
          </a:prstGeom>
          <a:solidFill>
            <a:schemeClr val="bg2"/>
          </a:solidFill>
          <a:ln w="12700">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1252728"/>
            <a:ext cx="3657600" cy="320040"/>
          </a:xfrm>
          <a:prstGeom prst="rect">
            <a:avLst/>
          </a:prstGeom>
          <a:noFill/>
        </p:spPr>
        <p:txBody>
          <a:bodyPr wrap="square" lIns="0" rIns="0" tIns="0" bIns="0" anchor="t">
            <a:spAutoFit/>
          </a:bodyPr>
          <a:lstStyle/>
          <a:p>
            <a:r>
              <a:rPr sz="1600" b="1">
                <a:solidFill>
                  <a:schemeClr val="tx2"/>
                </a:solidFill>
              </a:rPr>
              <a:t>Asistente: local o en la nube</a:t>
            </a:r>
          </a:p>
        </p:txBody>
      </p:sp>
      <p:sp>
        <p:nvSpPr>
          <p:cNvPr id="29" name="TextBox 28"/>
          <p:cNvSpPr txBox="1"/>
          <p:nvPr/>
        </p:nvSpPr>
        <p:spPr>
          <a:xfrm>
            <a:off x="640080" y="1618488"/>
            <a:ext cx="3657600" cy="731520"/>
          </a:xfrm>
          <a:prstGeom prst="rect">
            <a:avLst/>
          </a:prstGeom>
          <a:noFill/>
        </p:spPr>
        <p:txBody>
          <a:bodyPr wrap="square" lIns="0" rIns="0" tIns="0" bIns="0" anchor="t">
            <a:spAutoFit/>
          </a:bodyPr>
          <a:lstStyle/>
          <a:p>
            <a:r>
              <a:rPr sz="1300" b="0">
                <a:solidFill>
                  <a:schemeClr val="tx1"/>
                </a:solidFill>
              </a:rPr>
              <a:t>Ollama en el servidor propio (qwen3:4b-instruct) por defecto; Gemini Flash-Lite en la demo publicada (ADR-026); modelo elegible por cooperativa o proveedor externo</a:t>
            </a:r>
          </a:p>
        </p:txBody>
      </p:sp>
      <p:sp>
        <p:nvSpPr>
          <p:cNvPr id="30" name="Tarjeta"/>
          <p:cNvSpPr/>
          <p:nvPr/>
        </p:nvSpPr>
        <p:spPr>
          <a:xfrm>
            <a:off x="4663440" y="1143000"/>
            <a:ext cx="4023360" cy="1325880"/>
          </a:xfrm>
          <a:prstGeom prst="roundRect">
            <a:avLst>
              <a:gd name="adj" fmla="val 4000"/>
            </a:avLst>
          </a:prstGeom>
          <a:solidFill>
            <a:schemeClr val="bg2"/>
          </a:solidFill>
          <a:ln w="12700">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1252728"/>
            <a:ext cx="3657600" cy="320040"/>
          </a:xfrm>
          <a:prstGeom prst="rect">
            <a:avLst/>
          </a:prstGeom>
          <a:noFill/>
        </p:spPr>
        <p:txBody>
          <a:bodyPr wrap="square" lIns="0" rIns="0" tIns="0" bIns="0" anchor="t">
            <a:spAutoFit/>
          </a:bodyPr>
          <a:lstStyle/>
          <a:p>
            <a:r>
              <a:rPr sz="1600" b="1">
                <a:solidFill>
                  <a:schemeClr val="tx2"/>
                </a:solidFill>
              </a:rPr>
              <a:t>RAG y herramientas con citas</a:t>
            </a:r>
          </a:p>
        </p:txBody>
      </p:sp>
      <p:sp>
        <p:nvSpPr>
          <p:cNvPr id="32" name="TextBox 31"/>
          <p:cNvSpPr txBox="1"/>
          <p:nvPr/>
        </p:nvSpPr>
        <p:spPr>
          <a:xfrm>
            <a:off x="4846320" y="1618488"/>
            <a:ext cx="3657600" cy="731520"/>
          </a:xfrm>
          <a:prstGeom prst="rect">
            <a:avLst/>
          </a:prstGeom>
          <a:noFill/>
        </p:spPr>
        <p:txBody>
          <a:bodyPr wrap="square" lIns="0" rIns="0" tIns="0" bIns="0" anchor="t">
            <a:spAutoFit/>
          </a:bodyPr>
          <a:lstStyle/>
          <a:p>
            <a:r>
              <a:rPr sz="1300" b="0">
                <a:solidFill>
                  <a:schemeClr val="tx1"/>
                </a:solidFill>
              </a:rPr>
              <a:t>1 búsqueda en documentos (RAG) y 17 consultas a datos, de solo lectura y con los permisos del usuario: facturación agregada en BD, asambleas, comunicados, socios y cruce socio–tercero por NIF; cifras citadas</a:t>
            </a:r>
          </a:p>
        </p:txBody>
      </p:sp>
      <p:sp>
        <p:nvSpPr>
          <p:cNvPr id="33" name="Tarjeta"/>
          <p:cNvSpPr/>
          <p:nvPr/>
        </p:nvSpPr>
        <p:spPr>
          <a:xfrm>
            <a:off x="457200" y="2606040"/>
            <a:ext cx="4023360" cy="1325880"/>
          </a:xfrm>
          <a:prstGeom prst="roundRect">
            <a:avLst>
              <a:gd name="adj" fmla="val 4000"/>
            </a:avLst>
          </a:prstGeom>
          <a:solidFill>
            <a:schemeClr val="bg2"/>
          </a:solidFill>
          <a:ln w="12700">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2715768"/>
            <a:ext cx="3657600" cy="320040"/>
          </a:xfrm>
          <a:prstGeom prst="rect">
            <a:avLst/>
          </a:prstGeom>
          <a:noFill/>
        </p:spPr>
        <p:txBody>
          <a:bodyPr wrap="square" lIns="0" rIns="0" tIns="0" bIns="0" anchor="t">
            <a:spAutoFit/>
          </a:bodyPr>
          <a:lstStyle/>
          <a:p>
            <a:r>
              <a:rPr sz="1600" b="1">
                <a:solidFill>
                  <a:schemeClr val="tx2"/>
                </a:solidFill>
              </a:rPr>
              <a:t>Gemini para visión</a:t>
            </a:r>
          </a:p>
        </p:txBody>
      </p:sp>
      <p:sp>
        <p:nvSpPr>
          <p:cNvPr id="35" name="TextBox 34"/>
          <p:cNvSpPr txBox="1"/>
          <p:nvPr/>
        </p:nvSpPr>
        <p:spPr>
          <a:xfrm>
            <a:off x="640080" y="3081528"/>
            <a:ext cx="3657600" cy="731520"/>
          </a:xfrm>
          <a:prstGeom prst="rect">
            <a:avLst/>
          </a:prstGeom>
          <a:noFill/>
        </p:spPr>
        <p:txBody>
          <a:bodyPr wrap="square" lIns="0" rIns="0" tIns="0" bIns="0" anchor="t">
            <a:spAutoFit/>
          </a:bodyPr>
          <a:lstStyle/>
          <a:p>
            <a:r>
              <a:rPr sz="1300" b="0">
                <a:solidFill>
                  <a:schemeClr val="tx1"/>
                </a:solidFill>
              </a:rPr>
              <a:t>Extrae facturas (esquema Zod y confirmación humana) y explica discrepancias; con reintentos y alternativa</a:t>
            </a:r>
          </a:p>
        </p:txBody>
      </p:sp>
      <p:sp>
        <p:nvSpPr>
          <p:cNvPr id="36" name="Tarjeta"/>
          <p:cNvSpPr/>
          <p:nvPr/>
        </p:nvSpPr>
        <p:spPr>
          <a:xfrm>
            <a:off x="4663440" y="2606040"/>
            <a:ext cx="4023360" cy="1325880"/>
          </a:xfrm>
          <a:prstGeom prst="roundRect">
            <a:avLst>
              <a:gd name="adj" fmla="val 4000"/>
            </a:avLst>
          </a:prstGeom>
          <a:solidFill>
            <a:schemeClr val="bg2"/>
          </a:solidFill>
          <a:ln w="12700">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46320" y="2715768"/>
            <a:ext cx="3657600" cy="320040"/>
          </a:xfrm>
          <a:prstGeom prst="rect">
            <a:avLst/>
          </a:prstGeom>
          <a:noFill/>
        </p:spPr>
        <p:txBody>
          <a:bodyPr wrap="square" lIns="0" rIns="0" tIns="0" bIns="0" anchor="t">
            <a:spAutoFit/>
          </a:bodyPr>
          <a:lstStyle/>
          <a:p>
            <a:r>
              <a:rPr sz="1600" b="1">
                <a:solidFill>
                  <a:schemeClr val="tx2"/>
                </a:solidFill>
              </a:rPr>
              <a:t>Conversación</a:t>
            </a:r>
          </a:p>
        </p:txBody>
      </p:sp>
      <p:sp>
        <p:nvSpPr>
          <p:cNvPr id="38" name="TextBox 37"/>
          <p:cNvSpPr txBox="1"/>
          <p:nvPr/>
        </p:nvSpPr>
        <p:spPr>
          <a:xfrm>
            <a:off x="4846320" y="3081528"/>
            <a:ext cx="3657600" cy="731520"/>
          </a:xfrm>
          <a:prstGeom prst="rect">
            <a:avLst/>
          </a:prstGeom>
          <a:noFill/>
        </p:spPr>
        <p:txBody>
          <a:bodyPr wrap="square" lIns="0" rIns="0" tIns="0" bIns="0" anchor="t">
            <a:spAutoFit/>
          </a:bodyPr>
          <a:lstStyle/>
          <a:p>
            <a:r>
              <a:rPr sz="1300" b="0">
                <a:solidFill>
                  <a:schemeClr val="tx1"/>
                </a:solidFill>
              </a:rPr>
              <a:t>Historial que se reabre y se elimina; respuestas en Markdown; "¿cuánto he aportado?" y proveedores/clientes</a:t>
            </a:r>
          </a:p>
        </p:txBody>
      </p:sp>
      <p:sp>
        <p:nvSpPr>
          <p:cNvPr id="39" name="TextBox 38"/>
          <p:cNvSpPr txBox="1"/>
          <p:nvPr/>
        </p:nvSpPr>
        <p:spPr>
          <a:xfrm>
            <a:off x="457200" y="4114800"/>
            <a:ext cx="8229600" cy="365760"/>
          </a:xfrm>
          <a:prstGeom prst="rect">
            <a:avLst/>
          </a:prstGeom>
          <a:noFill/>
        </p:spPr>
        <p:txBody>
          <a:bodyPr wrap="square" lIns="0" rIns="0" tIns="0" bIns="0" anchor="ctr">
            <a:spAutoFit/>
          </a:bodyPr>
          <a:lstStyle/>
          <a:p>
            <a:r>
              <a:rPr sz="1300" b="0">
                <a:solidFill>
                  <a:schemeClr val="accent6"/>
                </a:solidFill>
              </a:rPr>
              <a:t>Embeddings locales con bge-m3 (Ollama) · Gemini para visión, explicaciones y el asistente de la demo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
        <p:nvSpPr>
          <p:cNvPr id="26" name="Titulo"/>
          <p:cNvSpPr txBox="1"/>
          <p:nvPr/>
        </p:nvSpPr>
        <p:spPr>
          <a:xfrm>
            <a:off x="457200" y="274320"/>
            <a:ext cx="8229600" cy="685800"/>
          </a:xfrm>
          <a:prstGeom prst="rect">
            <a:avLst/>
          </a:prstGeom>
          <a:noFill/>
        </p:spPr>
        <p:txBody>
          <a:bodyPr wrap="square" lIns="0" rIns="0" tIns="0" bIns="0" anchor="ctr">
            <a:spAutoFit/>
          </a:bodyPr>
          <a:lstStyle/>
          <a:p>
            <a:r>
              <a:rPr sz="2800" b="1">
                <a:solidFill>
                  <a:schemeClr val="tx2"/>
                </a:solidFill>
                <a:latin typeface="Cambria"/>
              </a:rPr>
              <a:t>IA en el desarrollo</a:t>
            </a:r>
          </a:p>
        </p:txBody>
      </p:sp>
      <p:sp>
        <p:nvSpPr>
          <p:cNvPr id="27" name="Panel cifras"/>
          <p:cNvSpPr/>
          <p:nvPr/>
        </p:nvSpPr>
        <p:spPr>
          <a:xfrm>
            <a:off x="457200" y="1188720"/>
            <a:ext cx="2834640" cy="3246120"/>
          </a:xfrm>
          <a:prstGeom prst="roundRect">
            <a:avLst>
              <a:gd name="adj" fmla="val 5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1371600"/>
            <a:ext cx="2834640" cy="868680"/>
          </a:xfrm>
          <a:prstGeom prst="rect">
            <a:avLst/>
          </a:prstGeom>
          <a:noFill/>
        </p:spPr>
        <p:txBody>
          <a:bodyPr wrap="square" lIns="0" rIns="0" tIns="0" bIns="0" anchor="ctr">
            <a:spAutoFit/>
          </a:bodyPr>
          <a:lstStyle/>
          <a:p>
            <a:pPr algn="ctr"/>
            <a:r>
              <a:rPr sz="4000" b="1">
                <a:solidFill>
                  <a:schemeClr val="accent2"/>
                </a:solidFill>
              </a:rPr>
              <a:t>248 / 249</a:t>
            </a:r>
          </a:p>
        </p:txBody>
      </p:sp>
      <p:sp>
        <p:nvSpPr>
          <p:cNvPr id="29" name="TextBox 28"/>
          <p:cNvSpPr txBox="1"/>
          <p:nvPr/>
        </p:nvSpPr>
        <p:spPr>
          <a:xfrm>
            <a:off x="640080" y="2286000"/>
            <a:ext cx="2468880" cy="731520"/>
          </a:xfrm>
          <a:prstGeom prst="rect">
            <a:avLst/>
          </a:prstGeom>
          <a:noFill/>
        </p:spPr>
        <p:txBody>
          <a:bodyPr wrap="square" lIns="0" rIns="0" tIns="0" bIns="0" anchor="ctr">
            <a:spAutoFit/>
          </a:bodyPr>
          <a:lstStyle/>
          <a:p>
            <a:pPr algn="ctr"/>
            <a:r>
              <a:rPr sz="1600" b="0">
                <a:solidFill>
                  <a:schemeClr val="bg1"/>
                </a:solidFill>
              </a:rPr>
              <a:t>commits co-autorados con Claude (99 %)</a:t>
            </a:r>
          </a:p>
        </p:txBody>
      </p:sp>
      <p:sp>
        <p:nvSpPr>
          <p:cNvPr id="30" name="TextBox 29"/>
          <p:cNvSpPr txBox="1"/>
          <p:nvPr/>
        </p:nvSpPr>
        <p:spPr>
          <a:xfrm>
            <a:off x="640080" y="3200400"/>
            <a:ext cx="2468880" cy="822960"/>
          </a:xfrm>
          <a:prstGeom prst="rect">
            <a:avLst/>
          </a:prstGeom>
          <a:noFill/>
        </p:spPr>
        <p:txBody>
          <a:bodyPr wrap="square" lIns="0" rIns="0" tIns="0" bIns="0" anchor="ctr">
            <a:spAutoFit/>
          </a:bodyPr>
          <a:lstStyle/>
          <a:p>
            <a:pPr algn="ctr"/>
            <a:r>
              <a:rPr sz="1400" b="0">
                <a:solidFill>
                  <a:schemeClr val="accent4"/>
                </a:solidFill>
              </a:rPr>
              <a:t>63 historias de usuario</a:t>
            </a:r>
          </a:p>
          <a:p>
            <a:pPr algn="ctr"/>
            <a:r>
              <a:rPr sz="1400" b="0">
                <a:solidFill>
                  <a:schemeClr val="accent4"/>
                </a:solidFill>
              </a:rPr>
              <a:t>26 ADR</a:t>
            </a:r>
          </a:p>
        </p:txBody>
      </p:sp>
      <p:sp>
        <p:nvSpPr>
          <p:cNvPr id="31" name="TextBox 30"/>
          <p:cNvSpPr txBox="1"/>
          <p:nvPr/>
        </p:nvSpPr>
        <p:spPr>
          <a:xfrm>
            <a:off x="3611880" y="1188720"/>
            <a:ext cx="5074920" cy="3291840"/>
          </a:xfrm>
          <a:prstGeom prst="rect">
            <a:avLst/>
          </a:prstGeom>
          <a:noFill/>
        </p:spPr>
        <p:txBody>
          <a:bodyPr wrap="square" lIns="0" rIns="0" tIns="0" bIns="0">
            <a:spAutoFit/>
          </a:bodyPr>
          <a:lstStyle/>
          <a:p>
            <a:pPr marL="228600" indent="-228600">
              <a:spcAft>
                <a:spcPts val="800"/>
              </a:spcAft>
              <a:buSzPct val="100000"/>
              <a:buChar char="•"/>
            </a:pPr>
            <a:r>
              <a:rPr sz="1500" b="0">
                <a:solidFill>
                  <a:schemeClr val="tx1"/>
                </a:solidFill>
              </a:rPr>
              <a:t>Spec Driven Development: especificación antes del código</a:t>
            </a:r>
          </a:p>
          <a:p>
            <a:pPr marL="228600" indent="-228600">
              <a:spcAft>
                <a:spcPts val="800"/>
              </a:spcAft>
              <a:buSzPct val="100000"/>
              <a:buChar char="•"/>
            </a:pPr>
            <a:r>
              <a:rPr sz="1500" b="0">
                <a:solidFill>
                  <a:schemeClr val="tx1"/>
                </a:solidFill>
              </a:rPr>
              <a:t>CLAUDE.md como contrato con el agente; ESLint protege las fronteras</a:t>
            </a:r>
          </a:p>
          <a:p>
            <a:pPr marL="228600" indent="-228600">
              <a:spcAft>
                <a:spcPts val="800"/>
              </a:spcAft>
              <a:buSzPct val="100000"/>
              <a:buChar char="•"/>
            </a:pPr>
            <a:r>
              <a:rPr sz="1500" b="0">
                <a:solidFill>
                  <a:schemeClr val="tx1"/>
                </a:solidFill>
              </a:rPr>
              <a:t>TDD en el dominio; IDs de requisitos en tests y commits</a:t>
            </a:r>
          </a:p>
          <a:p>
            <a:pPr marL="228600" indent="-228600">
              <a:spcAft>
                <a:spcPts val="800"/>
              </a:spcAft>
              <a:buSzPct val="100000"/>
              <a:buChar char="•"/>
            </a:pPr>
            <a:r>
              <a:rPr sz="1500" b="0">
                <a:solidFill>
                  <a:schemeClr val="tx1"/>
                </a:solidFill>
              </a:rPr>
              <a:t>Agentes en paralelo, cada uno en su git worktree</a:t>
            </a:r>
          </a:p>
          <a:p>
            <a:pPr marL="228600" indent="-228600">
              <a:spcAft>
                <a:spcPts val="800"/>
              </a:spcAft>
              <a:buSzPct val="100000"/>
              <a:buChar char="•"/>
            </a:pPr>
            <a:r>
              <a:rPr sz="1500" b="0">
                <a:solidFill>
                  <a:schemeClr val="tx1"/>
                </a:solidFill>
              </a:rPr>
              <a:t>Skills de la comunidad fijadas en el repo, con reglas de precedencia</a:t>
            </a:r>
          </a:p>
          <a:p>
            <a:pPr marL="228600" indent="-228600">
              <a:spcAft>
                <a:spcPts val="800"/>
              </a:spcAft>
              <a:buSzPct val="100000"/>
              <a:buChar char="•"/>
            </a:pPr>
            <a:r>
              <a:rPr sz="1500" b="0">
                <a:solidFill>
                  <a:schemeClr val="tx1"/>
                </a:solidFill>
              </a:rPr>
              <a:t>Diseño con IA: brief, herramienta de diseño, análisis de brechas y migración con orquestador y 7 subagentes</a:t>
            </a:r>
          </a:p>
          <a:p>
            <a:pPr marL="228600" indent="-228600">
              <a:spcAft>
                <a:spcPts val="800"/>
              </a:spcAft>
              <a:buSzPct val="100000"/>
              <a:buChar char="•"/>
            </a:pPr>
            <a:r>
              <a:rPr sz="1500" b="0">
                <a:solidFill>
                  <a:schemeClr val="tx1"/>
                </a:solidFill>
              </a:rPr>
              <a:t>Evaluaciones con el modelo real (60 preguntas)</a:t>
            </a:r>
          </a:p>
          <a:p>
            <a:pPr marL="228600" indent="-228600">
              <a:spcAft>
                <a:spcPts val="800"/>
              </a:spcAft>
              <a:buSzPct val="100000"/>
              <a:buChar char="•"/>
            </a:pPr>
            <a:r>
              <a:rPr sz="1500" b="0">
                <a:solidFill>
                  <a:schemeClr val="tx1"/>
                </a:solidFill>
              </a:rPr>
              <a:t>Benchmark de modelos locales antes de decidir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
        <p:nvSpPr>
          <p:cNvPr id="26" name="Titulo"/>
          <p:cNvSpPr txBox="1"/>
          <p:nvPr/>
        </p:nvSpPr>
        <p:spPr>
          <a:xfrm>
            <a:off x="457200" y="274320"/>
            <a:ext cx="8229600" cy="685800"/>
          </a:xfrm>
          <a:prstGeom prst="rect">
            <a:avLst/>
          </a:prstGeom>
          <a:noFill/>
        </p:spPr>
        <p:txBody>
          <a:bodyPr wrap="square" lIns="0" rIns="0" tIns="0" bIns="0" anchor="ctr">
            <a:spAutoFit/>
          </a:bodyPr>
          <a:lstStyle/>
          <a:p>
            <a:r>
              <a:rPr sz="2800" b="1">
                <a:solidFill>
                  <a:schemeClr val="tx2"/>
                </a:solidFill>
                <a:latin typeface="Cambria"/>
              </a:rPr>
              <a:t>Calidad</a:t>
            </a:r>
          </a:p>
        </p:txBody>
      </p:sp>
      <p:sp>
        <p:nvSpPr>
          <p:cNvPr id="27" name="Cifra"/>
          <p:cNvSpPr/>
          <p:nvPr/>
        </p:nvSpPr>
        <p:spPr>
          <a:xfrm>
            <a:off x="457200" y="1188720"/>
            <a:ext cx="3017520" cy="1463040"/>
          </a:xfrm>
          <a:prstGeom prst="roundRect">
            <a:avLst>
              <a:gd name="adj" fmla="val 4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1280160"/>
            <a:ext cx="3017520" cy="777240"/>
          </a:xfrm>
          <a:prstGeom prst="rect">
            <a:avLst/>
          </a:prstGeom>
          <a:noFill/>
        </p:spPr>
        <p:txBody>
          <a:bodyPr wrap="square" lIns="0" rIns="0" tIns="0" bIns="0" anchor="ctr">
            <a:spAutoFit/>
          </a:bodyPr>
          <a:lstStyle/>
          <a:p>
            <a:pPr algn="ctr"/>
            <a:r>
              <a:rPr sz="4600" b="1">
                <a:solidFill>
                  <a:schemeClr val="accent2"/>
                </a:solidFill>
              </a:rPr>
              <a:t>1504</a:t>
            </a:r>
          </a:p>
        </p:txBody>
      </p:sp>
      <p:sp>
        <p:nvSpPr>
          <p:cNvPr id="29" name="TextBox 28"/>
          <p:cNvSpPr txBox="1"/>
          <p:nvPr/>
        </p:nvSpPr>
        <p:spPr>
          <a:xfrm>
            <a:off x="548640" y="2057400"/>
            <a:ext cx="2834640" cy="502920"/>
          </a:xfrm>
          <a:prstGeom prst="rect">
            <a:avLst/>
          </a:prstGeom>
          <a:noFill/>
        </p:spPr>
        <p:txBody>
          <a:bodyPr wrap="square" lIns="0" rIns="0" tIns="0" bIns="0" anchor="ctr">
            <a:spAutoFit/>
          </a:bodyPr>
          <a:lstStyle/>
          <a:p>
            <a:pPr algn="ctr"/>
            <a:r>
              <a:rPr sz="1400" b="0">
                <a:solidFill>
                  <a:schemeClr val="bg1"/>
                </a:solidFill>
              </a:rPr>
              <a:t>tests unitarios en 136 ficheros</a:t>
            </a:r>
          </a:p>
        </p:txBody>
      </p:sp>
      <p:sp>
        <p:nvSpPr>
          <p:cNvPr id="30" name="Cifra"/>
          <p:cNvSpPr/>
          <p:nvPr/>
        </p:nvSpPr>
        <p:spPr>
          <a:xfrm>
            <a:off x="457200" y="2834640"/>
            <a:ext cx="3017520" cy="1463040"/>
          </a:xfrm>
          <a:prstGeom prst="roundRect">
            <a:avLst>
              <a:gd name="adj" fmla="val 4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2926080"/>
            <a:ext cx="3017520" cy="777240"/>
          </a:xfrm>
          <a:prstGeom prst="rect">
            <a:avLst/>
          </a:prstGeom>
          <a:noFill/>
        </p:spPr>
        <p:txBody>
          <a:bodyPr wrap="square" lIns="0" rIns="0" tIns="0" bIns="0" anchor="ctr">
            <a:spAutoFit/>
          </a:bodyPr>
          <a:lstStyle/>
          <a:p>
            <a:pPr algn="ctr"/>
            <a:r>
              <a:rPr sz="4600" b="1">
                <a:solidFill>
                  <a:schemeClr val="accent2"/>
                </a:solidFill>
              </a:rPr>
              <a:t>611</a:t>
            </a:r>
          </a:p>
        </p:txBody>
      </p:sp>
      <p:sp>
        <p:nvSpPr>
          <p:cNvPr id="32" name="TextBox 31"/>
          <p:cNvSpPr txBox="1"/>
          <p:nvPr/>
        </p:nvSpPr>
        <p:spPr>
          <a:xfrm>
            <a:off x="548640" y="3703320"/>
            <a:ext cx="2834640" cy="502920"/>
          </a:xfrm>
          <a:prstGeom prst="rect">
            <a:avLst/>
          </a:prstGeom>
          <a:noFill/>
        </p:spPr>
        <p:txBody>
          <a:bodyPr wrap="square" lIns="0" rIns="0" tIns="0" bIns="0" anchor="ctr">
            <a:spAutoFit/>
          </a:bodyPr>
          <a:lstStyle/>
          <a:p>
            <a:pPr algn="ctr"/>
            <a:r>
              <a:rPr sz="1400" b="0">
                <a:solidFill>
                  <a:schemeClr val="bg1"/>
                </a:solidFill>
              </a:rPr>
              <a:t>tests de integración en 32 ficheros</a:t>
            </a:r>
          </a:p>
        </p:txBody>
      </p:sp>
      <p:sp>
        <p:nvSpPr>
          <p:cNvPr id="33" name="Tarjeta"/>
          <p:cNvSpPr/>
          <p:nvPr/>
        </p:nvSpPr>
        <p:spPr>
          <a:xfrm>
            <a:off x="3749039" y="1188720"/>
            <a:ext cx="4937760" cy="868680"/>
          </a:xfrm>
          <a:prstGeom prst="roundRect">
            <a:avLst>
              <a:gd name="adj" fmla="val 4000"/>
            </a:avLst>
          </a:prstGeom>
          <a:solidFill>
            <a:schemeClr val="bg2"/>
          </a:solidFill>
          <a:ln w="12700">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931920" y="1280160"/>
            <a:ext cx="4572000" cy="320040"/>
          </a:xfrm>
          <a:prstGeom prst="rect">
            <a:avLst/>
          </a:prstGeom>
          <a:noFill/>
        </p:spPr>
        <p:txBody>
          <a:bodyPr wrap="square" lIns="0" rIns="0" tIns="0" bIns="0" anchor="t">
            <a:spAutoFit/>
          </a:bodyPr>
          <a:lstStyle/>
          <a:p>
            <a:r>
              <a:rPr sz="1600" b="1">
                <a:solidFill>
                  <a:schemeClr val="tx2"/>
                </a:solidFill>
              </a:rPr>
              <a:t>Puerta de calidad y CI</a:t>
            </a:r>
          </a:p>
        </p:txBody>
      </p:sp>
      <p:sp>
        <p:nvSpPr>
          <p:cNvPr id="35" name="TextBox 34"/>
          <p:cNvSpPr txBox="1"/>
          <p:nvPr/>
        </p:nvSpPr>
        <p:spPr>
          <a:xfrm>
            <a:off x="3931920" y="1645920"/>
            <a:ext cx="4572000" cy="320040"/>
          </a:xfrm>
          <a:prstGeom prst="rect">
            <a:avLst/>
          </a:prstGeom>
          <a:noFill/>
        </p:spPr>
        <p:txBody>
          <a:bodyPr wrap="square" lIns="0" rIns="0" tIns="0" bIns="0" anchor="t">
            <a:spAutoFit/>
          </a:bodyPr>
          <a:lstStyle/>
          <a:p>
            <a:r>
              <a:rPr sz="1200" b="0">
                <a:solidFill>
                  <a:schemeClr val="tx1"/>
                </a:solidFill>
              </a:rPr>
              <a:t>Husky en pre-commit; Actions: formato, lint, tipos, tests</a:t>
            </a:r>
          </a:p>
        </p:txBody>
      </p:sp>
      <p:sp>
        <p:nvSpPr>
          <p:cNvPr id="36" name="Tarjeta"/>
          <p:cNvSpPr/>
          <p:nvPr/>
        </p:nvSpPr>
        <p:spPr>
          <a:xfrm>
            <a:off x="3749039" y="2194560"/>
            <a:ext cx="4937760" cy="2331720"/>
          </a:xfrm>
          <a:prstGeom prst="roundRect">
            <a:avLst>
              <a:gd name="adj" fmla="val 4000"/>
            </a:avLst>
          </a:prstGeom>
          <a:solidFill>
            <a:schemeClr val="bg2"/>
          </a:solidFill>
          <a:ln w="12700">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931920" y="2267712"/>
            <a:ext cx="4572000" cy="274320"/>
          </a:xfrm>
          <a:prstGeom prst="rect">
            <a:avLst/>
          </a:prstGeom>
          <a:noFill/>
        </p:spPr>
        <p:txBody>
          <a:bodyPr wrap="square" lIns="0" rIns="0" tIns="0" bIns="0" anchor="t">
            <a:spAutoFit/>
          </a:bodyPr>
          <a:lstStyle/>
          <a:p>
            <a:r>
              <a:rPr sz="1400" b="1">
                <a:solidFill>
                  <a:schemeClr val="tx2"/>
                </a:solidFill>
              </a:rPr>
              <a:t>Benchmark local del asistente: aciertos de 22</a:t>
            </a:r>
          </a:p>
        </p:txBody>
      </p:sp>
      <p:graphicFrame>
        <p:nvGraphicFramePr>
          <p:cNvPr id="38" name="Chart 37"/>
          <p:cNvGraphicFramePr>
            <a:graphicFrameLocks noGrp="1"/>
          </p:cNvGraphicFramePr>
          <p:nvPr/>
        </p:nvGraphicFramePr>
        <p:xfrm>
          <a:off x="3840480" y="2514600"/>
          <a:ext cx="4754880" cy="1480000"/>
        </p:xfrm>
        <a:graphic>
          <a:graphicData uri="http://schemas.openxmlformats.org/drawingml/2006/chart">
            <c:chart xmlns:c="http://schemas.openxmlformats.org/drawingml/2006/chart" r:id="rId3"/>
          </a:graphicData>
        </a:graphic>
      </p:graphicFrame>
      <p:sp>
        <p:nvSpPr>
          <p:cNvPr id="39" name="TextBox 38"/>
          <p:cNvSpPr txBox="1"/>
          <p:nvPr/>
        </p:nvSpPr>
        <p:spPr>
          <a:xfrm>
            <a:off x="3931920" y="4020000"/>
            <a:ext cx="4572000" cy="274320"/>
          </a:xfrm>
          <a:prstGeom prst="rect">
            <a:avLst/>
          </a:prstGeom>
          <a:noFill/>
        </p:spPr>
        <p:txBody>
          <a:bodyPr wrap="square" lIns="0" rIns="0" tIns="0" bIns="0" anchor="t">
            <a:spAutoFit/>
          </a:bodyPr>
          <a:lstStyle/>
          <a:p>
            <a:r>
              <a:rPr sz="1000" b="0">
                <a:solidFill>
                  <a:schemeClr val="accent6"/>
                </a:solidFill>
              </a:rPr>
              <a:t>Benchmark de 22 preguntas con el que se eligió el modelo local · Mac de 12 CPU</a:t>
            </a:r>
          </a:p>
          <a:p>
            <a:r>
              <a:rPr sz="1000" b="0">
                <a:solidFill>
                  <a:schemeClr val="accent6"/>
                </a:solidFill>
              </a:rPr>
              <a:t>Conjunto actual: 60 preguntas · qwen3:4b-instruct 47/60 · Gemini Flash-Lite 53/60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
        <p:nvSpPr>
          <p:cNvPr id="26" name="Titulo"/>
          <p:cNvSpPr txBox="1"/>
          <p:nvPr/>
        </p:nvSpPr>
        <p:spPr>
          <a:xfrm>
            <a:off x="457200" y="274320"/>
            <a:ext cx="8229600" cy="685800"/>
          </a:xfrm>
          <a:prstGeom prst="rect">
            <a:avLst/>
          </a:prstGeom>
          <a:noFill/>
        </p:spPr>
        <p:txBody>
          <a:bodyPr wrap="square" lIns="0" rIns="0" tIns="0" bIns="0" anchor="ctr">
            <a:spAutoFit/>
          </a:bodyPr>
          <a:lstStyle/>
          <a:p>
            <a:r>
              <a:rPr sz="2800" b="1">
                <a:solidFill>
                  <a:schemeClr val="tx2"/>
                </a:solidFill>
                <a:latin typeface="Cambria"/>
              </a:rPr>
              <a:t>Despliegue gratuito, sin tarjeta</a:t>
            </a:r>
          </a:p>
        </p:txBody>
      </p:sp>
      <p:sp>
        <p:nvSpPr>
          <p:cNvPr id="27" name="Nodo"/>
          <p:cNvSpPr/>
          <p:nvPr/>
        </p:nvSpPr>
        <p:spPr>
          <a:xfrm>
            <a:off x="457200" y="1143000"/>
            <a:ext cx="2377440" cy="777240"/>
          </a:xfrm>
          <a:prstGeom prst="roundRect">
            <a:avLst>
              <a:gd name="adj" fmla="val 7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o nodo"/>
          <p:cNvSpPr txBox="1"/>
          <p:nvPr/>
        </p:nvSpPr>
        <p:spPr>
          <a:xfrm>
            <a:off x="457200" y="1143000"/>
            <a:ext cx="2377440" cy="777240"/>
          </a:xfrm>
          <a:prstGeom prst="rect">
            <a:avLst/>
          </a:prstGeom>
          <a:noFill/>
        </p:spPr>
        <p:txBody>
          <a:bodyPr wrap="square" lIns="36576" rIns="36576" tIns="36576" bIns="36576" anchor="ctr">
            <a:spAutoFit/>
          </a:bodyPr>
          <a:lstStyle/>
          <a:p>
            <a:pPr algn="ctr"/>
            <a:r>
              <a:rPr sz="1200" b="1">
                <a:solidFill>
                  <a:schemeClr val="bg1"/>
                </a:solidFill>
              </a:rPr>
              <a:t>GitHub Pages</a:t>
            </a:r>
          </a:p>
          <a:p>
            <a:pPr algn="ctr"/>
            <a:r>
              <a:rPr sz="1200" b="1">
                <a:solidFill>
                  <a:schemeClr val="bg1"/>
                </a:solidFill>
              </a:rPr>
              <a:t>cooperativa.chaparro2001.com</a:t>
            </a:r>
          </a:p>
        </p:txBody>
      </p:sp>
      <p:cxnSp>
        <p:nvCxnSpPr>
          <p:cNvPr id="29" name="Connector 28"/>
          <p:cNvCxnSpPr/>
          <p:nvPr/>
        </p:nvCxnSpPr>
        <p:spPr>
          <a:xfrm>
            <a:off x="2834640" y="1531620"/>
            <a:ext cx="365760" cy="0"/>
          </a:xfrm>
          <a:prstGeom prst="line">
            <a:avLst/>
          </a:prstGeom>
          <a:ln w="22225">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30" name="Nodo"/>
          <p:cNvSpPr/>
          <p:nvPr/>
        </p:nvSpPr>
        <p:spPr>
          <a:xfrm>
            <a:off x="3200400" y="1143000"/>
            <a:ext cx="3017520" cy="777240"/>
          </a:xfrm>
          <a:prstGeom prst="roundRect">
            <a:avLst>
              <a:gd name="adj" fmla="val 7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o nodo"/>
          <p:cNvSpPr txBox="1"/>
          <p:nvPr/>
        </p:nvSpPr>
        <p:spPr>
          <a:xfrm>
            <a:off x="3200400" y="1143000"/>
            <a:ext cx="3017520" cy="777240"/>
          </a:xfrm>
          <a:prstGeom prst="rect">
            <a:avLst/>
          </a:prstGeom>
          <a:noFill/>
        </p:spPr>
        <p:txBody>
          <a:bodyPr wrap="square" lIns="36576" rIns="36576" tIns="36576" bIns="36576" anchor="ctr">
            <a:spAutoFit/>
          </a:bodyPr>
          <a:lstStyle/>
          <a:p>
            <a:pPr algn="ctr"/>
            <a:r>
              <a:rPr sz="1200" b="1">
                <a:solidFill>
                  <a:schemeClr val="bg1"/>
                </a:solidFill>
              </a:rPr>
              <a:t>Cloudflare Tunnel</a:t>
            </a:r>
          </a:p>
          <a:p>
            <a:pPr algn="ctr"/>
            <a:r>
              <a:rPr sz="1200" b="1">
                <a:solidFill>
                  <a:schemeClr val="bg1"/>
                </a:solidFill>
              </a:rPr>
              <a:t>api-cooperativa.chaparro2001.com</a:t>
            </a:r>
          </a:p>
        </p:txBody>
      </p:sp>
      <p:cxnSp>
        <p:nvCxnSpPr>
          <p:cNvPr id="32" name="Connector 31"/>
          <p:cNvCxnSpPr/>
          <p:nvPr/>
        </p:nvCxnSpPr>
        <p:spPr>
          <a:xfrm>
            <a:off x="4709160" y="1920240"/>
            <a:ext cx="0" cy="274320"/>
          </a:xfrm>
          <a:prstGeom prst="line">
            <a:avLst/>
          </a:prstGeom>
          <a:ln w="22225">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33" name="Servidor"/>
          <p:cNvSpPr/>
          <p:nvPr/>
        </p:nvSpPr>
        <p:spPr>
          <a:xfrm>
            <a:off x="457200" y="2194560"/>
            <a:ext cx="5760720" cy="1463040"/>
          </a:xfrm>
          <a:prstGeom prst="roundRect">
            <a:avLst>
              <a:gd name="adj" fmla="val 4000"/>
            </a:avLst>
          </a:prstGeom>
          <a:solidFill>
            <a:schemeClr val="bg2"/>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2240280"/>
            <a:ext cx="5577840" cy="320040"/>
          </a:xfrm>
          <a:prstGeom prst="rect">
            <a:avLst/>
          </a:prstGeom>
          <a:noFill/>
        </p:spPr>
        <p:txBody>
          <a:bodyPr wrap="square" lIns="0" rIns="0" tIns="0" bIns="0" anchor="ctr">
            <a:spAutoFit/>
          </a:bodyPr>
          <a:lstStyle/>
          <a:p>
            <a:pPr algn="ctr"/>
            <a:r>
              <a:rPr sz="1200" b="1">
                <a:solidFill>
                  <a:schemeClr val="tx2"/>
                </a:solidFill>
              </a:rPr>
              <a:t>Servidor propio: Windows · Docker Desktop · i5-10500 · 32 GB</a:t>
            </a:r>
          </a:p>
        </p:txBody>
      </p:sp>
      <p:sp>
        <p:nvSpPr>
          <p:cNvPr id="35" name="Nodo"/>
          <p:cNvSpPr/>
          <p:nvPr/>
        </p:nvSpPr>
        <p:spPr>
          <a:xfrm>
            <a:off x="594360" y="2651760"/>
            <a:ext cx="1280160" cy="822960"/>
          </a:xfrm>
          <a:prstGeom prst="roundRect">
            <a:avLst>
              <a:gd name="adj" fmla="val 7000"/>
            </a:avLst>
          </a:prstGeom>
          <a:solidFill>
            <a:schemeClr val="accent3"/>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o nodo"/>
          <p:cNvSpPr txBox="1"/>
          <p:nvPr/>
        </p:nvSpPr>
        <p:spPr>
          <a:xfrm>
            <a:off x="594360" y="2651760"/>
            <a:ext cx="1280160" cy="822960"/>
          </a:xfrm>
          <a:prstGeom prst="rect">
            <a:avLst/>
          </a:prstGeom>
          <a:noFill/>
        </p:spPr>
        <p:txBody>
          <a:bodyPr wrap="square" lIns="36576" rIns="36576" tIns="36576" bIns="36576" anchor="ctr">
            <a:spAutoFit/>
          </a:bodyPr>
          <a:lstStyle/>
          <a:p>
            <a:pPr algn="ctr"/>
            <a:r>
              <a:rPr sz="1200" b="1">
                <a:solidFill>
                  <a:schemeClr val="bg1"/>
                </a:solidFill>
              </a:rPr>
              <a:t>API</a:t>
            </a:r>
          </a:p>
          <a:p>
            <a:pPr algn="ctr"/>
            <a:r>
              <a:rPr sz="1200" b="1">
                <a:solidFill>
                  <a:schemeClr val="bg1"/>
                </a:solidFill>
              </a:rPr>
              <a:t>Node</a:t>
            </a:r>
          </a:p>
        </p:txBody>
      </p:sp>
      <p:sp>
        <p:nvSpPr>
          <p:cNvPr id="37" name="Nodo"/>
          <p:cNvSpPr/>
          <p:nvPr/>
        </p:nvSpPr>
        <p:spPr>
          <a:xfrm>
            <a:off x="1965960" y="2651760"/>
            <a:ext cx="1280160" cy="822960"/>
          </a:xfrm>
          <a:prstGeom prst="roundRect">
            <a:avLst>
              <a:gd name="adj" fmla="val 7000"/>
            </a:avLst>
          </a:prstGeom>
          <a:solidFill>
            <a:schemeClr val="accent3"/>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o nodo"/>
          <p:cNvSpPr txBox="1"/>
          <p:nvPr/>
        </p:nvSpPr>
        <p:spPr>
          <a:xfrm>
            <a:off x="1965960" y="2651760"/>
            <a:ext cx="1280160" cy="822960"/>
          </a:xfrm>
          <a:prstGeom prst="rect">
            <a:avLst/>
          </a:prstGeom>
          <a:noFill/>
        </p:spPr>
        <p:txBody>
          <a:bodyPr wrap="square" lIns="36576" rIns="36576" tIns="36576" bIns="36576" anchor="ctr">
            <a:spAutoFit/>
          </a:bodyPr>
          <a:lstStyle/>
          <a:p>
            <a:pPr algn="ctr"/>
            <a:r>
              <a:rPr sz="1200" b="1">
                <a:solidFill>
                  <a:schemeClr val="bg1"/>
                </a:solidFill>
              </a:rPr>
              <a:t>PostgreSQL</a:t>
            </a:r>
          </a:p>
          <a:p>
            <a:pPr algn="ctr"/>
            <a:r>
              <a:rPr sz="1200" b="1">
                <a:solidFill>
                  <a:schemeClr val="bg1"/>
                </a:solidFill>
              </a:rPr>
              <a:t>+ pgvector</a:t>
            </a:r>
          </a:p>
        </p:txBody>
      </p:sp>
      <p:sp>
        <p:nvSpPr>
          <p:cNvPr id="39" name="Nodo"/>
          <p:cNvSpPr/>
          <p:nvPr/>
        </p:nvSpPr>
        <p:spPr>
          <a:xfrm>
            <a:off x="3337560" y="2651760"/>
            <a:ext cx="1280160" cy="822960"/>
          </a:xfrm>
          <a:prstGeom prst="roundRect">
            <a:avLst>
              <a:gd name="adj" fmla="val 7000"/>
            </a:avLst>
          </a:prstGeom>
          <a:solidFill>
            <a:schemeClr val="accent3"/>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o nodo"/>
          <p:cNvSpPr txBox="1"/>
          <p:nvPr/>
        </p:nvSpPr>
        <p:spPr>
          <a:xfrm>
            <a:off x="3337560" y="2651760"/>
            <a:ext cx="1280160" cy="822960"/>
          </a:xfrm>
          <a:prstGeom prst="rect">
            <a:avLst/>
          </a:prstGeom>
          <a:noFill/>
        </p:spPr>
        <p:txBody>
          <a:bodyPr wrap="square" lIns="36576" rIns="36576" tIns="36576" bIns="36576" anchor="ctr">
            <a:spAutoFit/>
          </a:bodyPr>
          <a:lstStyle/>
          <a:p>
            <a:pPr algn="ctr"/>
            <a:r>
              <a:rPr sz="1200" b="1">
                <a:solidFill>
                  <a:schemeClr val="bg1"/>
                </a:solidFill>
              </a:rPr>
              <a:t>RustFS</a:t>
            </a:r>
          </a:p>
          <a:p>
            <a:pPr algn="ctr"/>
            <a:r>
              <a:rPr sz="1200" b="1">
                <a:solidFill>
                  <a:schemeClr val="bg1"/>
                </a:solidFill>
              </a:rPr>
              <a:t>ficheros S3</a:t>
            </a:r>
          </a:p>
        </p:txBody>
      </p:sp>
      <p:sp>
        <p:nvSpPr>
          <p:cNvPr id="41" name="Nodo"/>
          <p:cNvSpPr/>
          <p:nvPr/>
        </p:nvSpPr>
        <p:spPr>
          <a:xfrm>
            <a:off x="4709160" y="2651760"/>
            <a:ext cx="1280160" cy="822960"/>
          </a:xfrm>
          <a:prstGeom prst="roundRect">
            <a:avLst>
              <a:gd name="adj" fmla="val 7000"/>
            </a:avLst>
          </a:prstGeom>
          <a:solidFill>
            <a:schemeClr val="accent3"/>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o nodo"/>
          <p:cNvSpPr txBox="1"/>
          <p:nvPr/>
        </p:nvSpPr>
        <p:spPr>
          <a:xfrm>
            <a:off x="4709160" y="2651760"/>
            <a:ext cx="1280160" cy="822960"/>
          </a:xfrm>
          <a:prstGeom prst="rect">
            <a:avLst/>
          </a:prstGeom>
          <a:noFill/>
        </p:spPr>
        <p:txBody>
          <a:bodyPr wrap="square" lIns="36576" rIns="36576" tIns="36576" bIns="36576" anchor="ctr">
            <a:spAutoFit/>
          </a:bodyPr>
          <a:lstStyle/>
          <a:p>
            <a:pPr algn="ctr"/>
            <a:r>
              <a:rPr sz="1200" b="1">
                <a:solidFill>
                  <a:schemeClr val="bg1"/>
                </a:solidFill>
              </a:rPr>
              <a:t>Ollama</a:t>
            </a:r>
          </a:p>
          <a:p>
            <a:pPr algn="ctr"/>
            <a:r>
              <a:rPr sz="1200" b="1">
                <a:solidFill>
                  <a:schemeClr val="bg1"/>
                </a:solidFill>
              </a:rPr>
              <a:t>bge-m3 · qwen3 (por defecto)</a:t>
            </a:r>
          </a:p>
        </p:txBody>
      </p:sp>
      <p:sp>
        <p:nvSpPr>
          <p:cNvPr id="43" name="Nodo"/>
          <p:cNvSpPr/>
          <p:nvPr/>
        </p:nvSpPr>
        <p:spPr>
          <a:xfrm>
            <a:off x="6492240" y="2194560"/>
            <a:ext cx="2194560" cy="685800"/>
          </a:xfrm>
          <a:prstGeom prst="roundRect">
            <a:avLst>
              <a:gd name="adj" fmla="val 7000"/>
            </a:avLst>
          </a:prstGeom>
          <a:solidFill>
            <a:schemeClr val="bg2"/>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o nodo"/>
          <p:cNvSpPr txBox="1"/>
          <p:nvPr/>
        </p:nvSpPr>
        <p:spPr>
          <a:xfrm>
            <a:off x="6492240" y="2194560"/>
            <a:ext cx="2194560" cy="685800"/>
          </a:xfrm>
          <a:prstGeom prst="rect">
            <a:avLst/>
          </a:prstGeom>
          <a:noFill/>
        </p:spPr>
        <p:txBody>
          <a:bodyPr wrap="square" lIns="36576" rIns="36576" tIns="36576" bIns="36576" anchor="ctr">
            <a:spAutoFit/>
          </a:bodyPr>
          <a:lstStyle/>
          <a:p>
            <a:pPr algn="ctr"/>
            <a:r>
              <a:rPr sz="1200" b="1">
                <a:solidFill>
                  <a:schemeClr val="tx2"/>
                </a:solidFill>
              </a:rPr>
              <a:t>Gemini API</a:t>
            </a:r>
          </a:p>
          <a:p>
            <a:pPr algn="ctr"/>
            <a:r>
              <a:rPr sz="1200" b="1">
                <a:solidFill>
                  <a:schemeClr val="tx2"/>
                </a:solidFill>
              </a:rPr>
              <a:t>visión, explicaciones y asistente de la demo</a:t>
            </a:r>
          </a:p>
        </p:txBody>
      </p:sp>
      <p:cxnSp>
        <p:nvCxnSpPr>
          <p:cNvPr id="45" name="Connector 44"/>
          <p:cNvCxnSpPr/>
          <p:nvPr/>
        </p:nvCxnSpPr>
        <p:spPr>
          <a:xfrm>
            <a:off x="6217920" y="2542032"/>
            <a:ext cx="274320" cy="0"/>
          </a:xfrm>
          <a:prstGeom prst="line">
            <a:avLst/>
          </a:prstGeom>
          <a:ln w="22225">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46" name="Nodo"/>
          <p:cNvSpPr/>
          <p:nvPr/>
        </p:nvSpPr>
        <p:spPr>
          <a:xfrm>
            <a:off x="6492240" y="3017520"/>
            <a:ext cx="2194560" cy="640080"/>
          </a:xfrm>
          <a:prstGeom prst="roundRect">
            <a:avLst>
              <a:gd name="adj" fmla="val 7000"/>
            </a:avLst>
          </a:prstGeom>
          <a:solidFill>
            <a:schemeClr val="bg2"/>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o nodo"/>
          <p:cNvSpPr txBox="1"/>
          <p:nvPr/>
        </p:nvSpPr>
        <p:spPr>
          <a:xfrm>
            <a:off x="6492240" y="3017520"/>
            <a:ext cx="2194560" cy="640080"/>
          </a:xfrm>
          <a:prstGeom prst="rect">
            <a:avLst/>
          </a:prstGeom>
          <a:noFill/>
        </p:spPr>
        <p:txBody>
          <a:bodyPr wrap="square" lIns="36576" rIns="36576" tIns="36576" bIns="36576" anchor="ctr">
            <a:spAutoFit/>
          </a:bodyPr>
          <a:lstStyle/>
          <a:p>
            <a:pPr algn="ctr"/>
            <a:r>
              <a:rPr sz="1200" b="1">
                <a:solidFill>
                  <a:schemeClr val="tx2"/>
                </a:solidFill>
              </a:rPr>
              <a:t>Cron de Actions</a:t>
            </a:r>
          </a:p>
          <a:p>
            <a:pPr algn="ctr"/>
            <a:r>
              <a:rPr sz="1200" b="1">
                <a:solidFill>
                  <a:schemeClr val="tx2"/>
                </a:solidFill>
              </a:rPr>
              <a:t>cada hora</a:t>
            </a:r>
          </a:p>
        </p:txBody>
      </p:sp>
      <p:cxnSp>
        <p:nvCxnSpPr>
          <p:cNvPr id="48" name="Connector 47"/>
          <p:cNvCxnSpPr/>
          <p:nvPr/>
        </p:nvCxnSpPr>
        <p:spPr>
          <a:xfrm flipH="1">
            <a:off x="6217920" y="3337560"/>
            <a:ext cx="274320" cy="0"/>
          </a:xfrm>
          <a:prstGeom prst="line">
            <a:avLst/>
          </a:prstGeom>
          <a:ln w="22225">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457200" y="3840480"/>
            <a:ext cx="8229600" cy="274320"/>
          </a:xfrm>
          <a:prstGeom prst="rect">
            <a:avLst/>
          </a:prstGeom>
          <a:noFill/>
        </p:spPr>
        <p:txBody>
          <a:bodyPr wrap="square" lIns="0" rIns="0" tIns="0" bIns="0" anchor="ctr">
            <a:spAutoFit/>
          </a:bodyPr>
          <a:lstStyle/>
          <a:p>
            <a:r>
              <a:rPr sz="1300" b="1">
                <a:solidFill>
                  <a:schemeClr val="tx1"/>
                </a:solidFill>
              </a:rPr>
              <a:t>Coste: 0 EUR</a:t>
            </a:r>
            <a:r>
              <a:rPr sz="1300" b="0">
                <a:solidFill>
                  <a:schemeClr val="tx1"/>
                </a:solidFill>
              </a:rPr>
              <a:t>  ·  Render y Railway pedían tarjeta; Neon, Supabase y Render siguen documentados</a:t>
            </a:r>
          </a:p>
        </p:txBody>
      </p:sp>
      <p:sp>
        <p:nvSpPr>
          <p:cNvPr id="50" name="TextBox 49"/>
          <p:cNvSpPr txBox="1"/>
          <p:nvPr/>
        </p:nvSpPr>
        <p:spPr>
          <a:xfrm>
            <a:off x="457200" y="4160520"/>
            <a:ext cx="8229600" cy="320040"/>
          </a:xfrm>
          <a:prstGeom prst="rect">
            <a:avLst/>
          </a:prstGeom>
          <a:noFill/>
        </p:spPr>
        <p:txBody>
          <a:bodyPr wrap="square" lIns="0" rIns="0" tIns="0" bIns="0" anchor="ctr">
            <a:spAutoFit/>
          </a:bodyPr>
          <a:lstStyle/>
          <a:p>
            <a:r>
              <a:rPr sz="1200" b="0">
                <a:solidFill>
                  <a:schemeClr val="accent6"/>
                </a:solidFill>
              </a:rPr>
              <a:t>Límites: solo responde con el servidor encendido · sin copias de seguridad · no subir datos reales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
        <p:nvSpPr>
          <p:cNvPr id="26" name="Titulo"/>
          <p:cNvSpPr txBox="1"/>
          <p:nvPr/>
        </p:nvSpPr>
        <p:spPr>
          <a:xfrm>
            <a:off x="457200" y="274320"/>
            <a:ext cx="8229600" cy="685800"/>
          </a:xfrm>
          <a:prstGeom prst="rect">
            <a:avLst/>
          </a:prstGeom>
          <a:noFill/>
        </p:spPr>
        <p:txBody>
          <a:bodyPr wrap="square" lIns="0" rIns="0" tIns="0" bIns="0" anchor="ctr">
            <a:spAutoFit/>
          </a:bodyPr>
          <a:lstStyle/>
          <a:p>
            <a:r>
              <a:rPr sz="2800" b="1">
                <a:solidFill>
                  <a:schemeClr val="tx2"/>
                </a:solidFill>
                <a:latin typeface="Cambria"/>
              </a:rPr>
              <a:t>Demo</a:t>
            </a:r>
          </a:p>
        </p:txBody>
      </p:sp>
      <p:sp>
        <p:nvSpPr>
          <p:cNvPr id="27" name="TextBox 26"/>
          <p:cNvSpPr txBox="1"/>
          <p:nvPr/>
        </p:nvSpPr>
        <p:spPr>
          <a:xfrm>
            <a:off x="457200" y="1097280"/>
            <a:ext cx="8229600" cy="457200"/>
          </a:xfrm>
          <a:prstGeom prst="rect">
            <a:avLst/>
          </a:prstGeom>
          <a:noFill/>
        </p:spPr>
        <p:txBody>
          <a:bodyPr wrap="square" lIns="0" rIns="0" tIns="0" bIns="0" anchor="ctr">
            <a:spAutoFit/>
          </a:bodyPr>
          <a:lstStyle/>
          <a:p>
            <a:r>
              <a:rPr sz="2000" b="1">
                <a:solidFill>
                  <a:schemeClr val="tx1"/>
                </a:solidFill>
              </a:rPr>
              <a:t>URL: </a:t>
            </a:r>
            <a:r>
              <a:rPr sz="2000" b="0">
                <a:solidFill>
                  <a:schemeClr val="tx1"/>
                </a:solidFill>
              </a:rPr>
              <a:t>https://cooperativa.chaparro2001.com</a:t>
            </a:r>
          </a:p>
        </p:txBody>
      </p:sp>
      <p:sp>
        <p:nvSpPr>
          <p:cNvPr id="28" name="TextBox 27"/>
          <p:cNvSpPr txBox="1"/>
          <p:nvPr/>
        </p:nvSpPr>
        <p:spPr>
          <a:xfrm>
            <a:off x="457200" y="1572768"/>
            <a:ext cx="8229600" cy="320040"/>
          </a:xfrm>
          <a:prstGeom prst="rect">
            <a:avLst/>
          </a:prstGeom>
          <a:noFill/>
        </p:spPr>
        <p:txBody>
          <a:bodyPr wrap="square" lIns="0" rIns="0" tIns="0" bIns="0" anchor="ctr">
            <a:spAutoFit/>
          </a:bodyPr>
          <a:lstStyle/>
          <a:p>
            <a:r>
              <a:rPr sz="1400" b="0">
                <a:solidFill>
                  <a:schemeClr val="accent6"/>
                </a:solidFill>
              </a:rPr>
              <a:t>Contraseña de la demo: &lt;contraseña demo&gt;</a:t>
            </a:r>
          </a:p>
        </p:txBody>
      </p:sp>
      <p:graphicFrame>
        <p:nvGraphicFramePr>
          <p:cNvPr id="29" name="Tabla usuarios"/>
          <p:cNvGraphicFramePr>
            <a:graphicFrameLocks noGrp="1"/>
          </p:cNvGraphicFramePr>
          <p:nvPr/>
        </p:nvGraphicFramePr>
        <p:xfrm>
          <a:off x="457200" y="2103120"/>
          <a:ext cx="8229600" cy="2286000"/>
        </p:xfrm>
        <a:graphic>
          <a:graphicData uri="http://schemas.openxmlformats.org/drawingml/2006/table">
            <a:tbl>
              <a:tblPr/>
              <a:tblGrid>
                <a:gridCol w="1463040"/>
                <a:gridCol w="2468880"/>
                <a:gridCol w="4297680"/>
              </a:tblGrid>
              <a:tr h="457200">
                <a:tc>
                  <a:txBody>
                    <a:bodyPr/>
                    <a:lstStyle/>
                    <a:p>
                      <a:r>
                        <a:rPr sz="1300" b="1">
                          <a:solidFill>
                            <a:schemeClr val="bg1"/>
                          </a:solidFill>
                        </a:rPr>
                        <a:t>Perfil</a:t>
                      </a:r>
                    </a:p>
                  </a:txBody>
                  <a:tcPr marL="91440" marR="91440" marT="36576" marB="36576" anchor="ctr">
                    <a:lnL w="6350">
                      <a:solidFill>
                        <a:schemeClr val="accent4"/>
                      </a:solidFill>
                    </a:lnL>
                    <a:lnR w="6350">
                      <a:solidFill>
                        <a:schemeClr val="accent4"/>
                      </a:solidFill>
                    </a:lnR>
                    <a:lnT w="6350">
                      <a:solidFill>
                        <a:schemeClr val="accent4"/>
                      </a:solidFill>
                    </a:lnT>
                    <a:lnB w="6350">
                      <a:solidFill>
                        <a:schemeClr val="accent4"/>
                      </a:solidFill>
                    </a:lnB>
                    <a:solidFill>
                      <a:schemeClr val="accent1"/>
                    </a:solidFill>
                  </a:tcPr>
                </a:tc>
                <a:tc>
                  <a:txBody>
                    <a:bodyPr/>
                    <a:lstStyle/>
                    <a:p>
                      <a:r>
                        <a:rPr sz="1300" b="1">
                          <a:solidFill>
                            <a:schemeClr val="bg1"/>
                          </a:solidFill>
                        </a:rPr>
                        <a:t>Usuario</a:t>
                      </a:r>
                    </a:p>
                  </a:txBody>
                  <a:tcPr marL="91440" marR="91440" marT="36576" marB="36576" anchor="ctr">
                    <a:lnL w="6350">
                      <a:solidFill>
                        <a:schemeClr val="accent4"/>
                      </a:solidFill>
                    </a:lnL>
                    <a:lnR w="6350">
                      <a:solidFill>
                        <a:schemeClr val="accent4"/>
                      </a:solidFill>
                    </a:lnR>
                    <a:lnT w="6350">
                      <a:solidFill>
                        <a:schemeClr val="accent4"/>
                      </a:solidFill>
                    </a:lnT>
                    <a:lnB w="6350">
                      <a:solidFill>
                        <a:schemeClr val="accent4"/>
                      </a:solidFill>
                    </a:lnB>
                    <a:solidFill>
                      <a:schemeClr val="accent1"/>
                    </a:solidFill>
                  </a:tcPr>
                </a:tc>
                <a:tc>
                  <a:txBody>
                    <a:bodyPr/>
                    <a:lstStyle/>
                    <a:p>
                      <a:r>
                        <a:rPr sz="1300" b="1">
                          <a:solidFill>
                            <a:schemeClr val="bg1"/>
                          </a:solidFill>
                        </a:rPr>
                        <a:t>Qué se enseña</a:t>
                      </a:r>
                    </a:p>
                  </a:txBody>
                  <a:tcPr marL="91440" marR="91440" marT="36576" marB="36576" anchor="ctr">
                    <a:lnL w="6350">
                      <a:solidFill>
                        <a:schemeClr val="accent4"/>
                      </a:solidFill>
                    </a:lnL>
                    <a:lnR w="6350">
                      <a:solidFill>
                        <a:schemeClr val="accent4"/>
                      </a:solidFill>
                    </a:lnR>
                    <a:lnT w="6350">
                      <a:solidFill>
                        <a:schemeClr val="accent4"/>
                      </a:solidFill>
                    </a:lnT>
                    <a:lnB w="6350">
                      <a:solidFill>
                        <a:schemeClr val="accent4"/>
                      </a:solidFill>
                    </a:lnB>
                    <a:solidFill>
                      <a:schemeClr val="accent1"/>
                    </a:solidFill>
                  </a:tcPr>
                </a:tc>
              </a:tr>
              <a:tr h="457200">
                <a:tc>
                  <a:txBody>
                    <a:bodyPr/>
                    <a:lstStyle/>
                    <a:p>
                      <a:r>
                        <a:rPr sz="1200" b="1">
                          <a:solidFill>
                            <a:schemeClr val="tx1"/>
                          </a:solidFill>
                        </a:rPr>
                        <a:t>Socio</a:t>
                      </a:r>
                    </a:p>
                  </a:txBody>
                  <a:tcPr marL="91440" marR="91440" marT="36576" marB="36576" anchor="ctr">
                    <a:lnL w="6350">
                      <a:solidFill>
                        <a:schemeClr val="accent4"/>
                      </a:solidFill>
                    </a:lnL>
                    <a:lnR w="6350">
                      <a:solidFill>
                        <a:schemeClr val="accent4"/>
                      </a:solidFill>
                    </a:lnR>
                    <a:lnT w="6350">
                      <a:solidFill>
                        <a:schemeClr val="accent4"/>
                      </a:solidFill>
                    </a:lnT>
                    <a:lnB w="6350">
                      <a:solidFill>
                        <a:schemeClr val="accent4"/>
                      </a:solidFill>
                    </a:lnB>
                    <a:solidFill>
                      <a:schemeClr val="bg2"/>
                    </a:solidFill>
                  </a:tcPr>
                </a:tc>
                <a:tc>
                  <a:txBody>
                    <a:bodyPr/>
                    <a:lstStyle/>
                    <a:p>
                      <a:r>
                        <a:rPr sz="1200" b="0">
                          <a:solidFill>
                            <a:schemeClr val="tx1"/>
                          </a:solidFill>
                        </a:rPr>
                        <a:t>socio@sanisidro.test</a:t>
                      </a:r>
                    </a:p>
                  </a:txBody>
                  <a:tcPr marL="91440" marR="91440" marT="36576" marB="36576" anchor="ctr">
                    <a:lnL w="6350">
                      <a:solidFill>
                        <a:schemeClr val="accent4"/>
                      </a:solidFill>
                    </a:lnL>
                    <a:lnR w="6350">
                      <a:solidFill>
                        <a:schemeClr val="accent4"/>
                      </a:solidFill>
                    </a:lnR>
                    <a:lnT w="6350">
                      <a:solidFill>
                        <a:schemeClr val="accent4"/>
                      </a:solidFill>
                    </a:lnT>
                    <a:lnB w="6350">
                      <a:solidFill>
                        <a:schemeClr val="accent4"/>
                      </a:solidFill>
                    </a:lnB>
                    <a:solidFill>
                      <a:schemeClr val="bg2"/>
                    </a:solidFill>
                  </a:tcPr>
                </a:tc>
                <a:tc>
                  <a:txBody>
                    <a:bodyPr/>
                    <a:lstStyle/>
                    <a:p>
                      <a:r>
                        <a:rPr sz="1200" b="0">
                          <a:solidFill>
                            <a:schemeClr val="tx1"/>
                          </a:solidFill>
                        </a:rPr>
                        <a:t>"Pendiente para ti", comunicados, documentos, asamblea (Cómo llegar, quórum) y voto, área del socio, asistente</a:t>
                      </a:r>
                    </a:p>
                  </a:txBody>
                  <a:tcPr marL="91440" marR="91440" marT="36576" marB="36576" anchor="ctr">
                    <a:lnL w="6350">
                      <a:solidFill>
                        <a:schemeClr val="accent4"/>
                      </a:solidFill>
                    </a:lnL>
                    <a:lnR w="6350">
                      <a:solidFill>
                        <a:schemeClr val="accent4"/>
                      </a:solidFill>
                    </a:lnR>
                    <a:lnT w="6350">
                      <a:solidFill>
                        <a:schemeClr val="accent4"/>
                      </a:solidFill>
                    </a:lnT>
                    <a:lnB w="6350">
                      <a:solidFill>
                        <a:schemeClr val="accent4"/>
                      </a:solidFill>
                    </a:lnB>
                    <a:solidFill>
                      <a:schemeClr val="bg2"/>
                    </a:solidFill>
                  </a:tcPr>
                </a:tc>
              </a:tr>
              <a:tr h="457200">
                <a:tc>
                  <a:txBody>
                    <a:bodyPr/>
                    <a:lstStyle/>
                    <a:p>
                      <a:r>
                        <a:rPr sz="1200" b="1">
                          <a:solidFill>
                            <a:schemeClr val="tx1"/>
                          </a:solidFill>
                        </a:rPr>
                        <a:t>Gestor</a:t>
                      </a:r>
                    </a:p>
                  </a:txBody>
                  <a:tcPr marL="91440" marR="91440" marT="36576" marB="36576" anchor="ctr">
                    <a:lnL w="6350">
                      <a:solidFill>
                        <a:schemeClr val="accent4"/>
                      </a:solidFill>
                    </a:lnL>
                    <a:lnR w="6350">
                      <a:solidFill>
                        <a:schemeClr val="accent4"/>
                      </a:solidFill>
                    </a:lnR>
                    <a:lnT w="6350">
                      <a:solidFill>
                        <a:schemeClr val="accent4"/>
                      </a:solidFill>
                    </a:lnT>
                    <a:lnB w="6350">
                      <a:solidFill>
                        <a:schemeClr val="accent4"/>
                      </a:solidFill>
                    </a:lnB>
                    <a:solidFill>
                      <a:schemeClr val="bg2"/>
                    </a:solidFill>
                  </a:tcPr>
                </a:tc>
                <a:tc>
                  <a:txBody>
                    <a:bodyPr/>
                    <a:lstStyle/>
                    <a:p>
                      <a:r>
                        <a:rPr sz="1200" b="0">
                          <a:solidFill>
                            <a:schemeClr val="tx1"/>
                          </a:solidFill>
                        </a:rPr>
                        <a:t>gestor@sanisidro.test</a:t>
                      </a:r>
                    </a:p>
                  </a:txBody>
                  <a:tcPr marL="91440" marR="91440" marT="36576" marB="36576" anchor="ctr">
                    <a:lnL w="6350">
                      <a:solidFill>
                        <a:schemeClr val="accent4"/>
                      </a:solidFill>
                    </a:lnL>
                    <a:lnR w="6350">
                      <a:solidFill>
                        <a:schemeClr val="accent4"/>
                      </a:solidFill>
                    </a:lnR>
                    <a:lnT w="6350">
                      <a:solidFill>
                        <a:schemeClr val="accent4"/>
                      </a:solidFill>
                    </a:lnT>
                    <a:lnB w="6350">
                      <a:solidFill>
                        <a:schemeClr val="accent4"/>
                      </a:solidFill>
                    </a:lnB>
                    <a:solidFill>
                      <a:schemeClr val="bg2"/>
                    </a:solidFill>
                  </a:tcPr>
                </a:tc>
                <a:tc>
                  <a:txBody>
                    <a:bodyPr/>
                    <a:lstStyle/>
                    <a:p>
                      <a:r>
                        <a:rPr sz="1200" b="0">
                          <a:solidFill>
                            <a:schemeClr val="tx1"/>
                          </a:solidFill>
                        </a:rPr>
                        <a:t>Facturas, escaneo con IA, discrepancias, proveedores y clientes; asistente: "mayores proveedores del año"</a:t>
                      </a:r>
                    </a:p>
                  </a:txBody>
                  <a:tcPr marL="91440" marR="91440" marT="36576" marB="36576" anchor="ctr">
                    <a:lnL w="6350">
                      <a:solidFill>
                        <a:schemeClr val="accent4"/>
                      </a:solidFill>
                    </a:lnL>
                    <a:lnR w="6350">
                      <a:solidFill>
                        <a:schemeClr val="accent4"/>
                      </a:solidFill>
                    </a:lnR>
                    <a:lnT w="6350">
                      <a:solidFill>
                        <a:schemeClr val="accent4"/>
                      </a:solidFill>
                    </a:lnT>
                    <a:lnB w="6350">
                      <a:solidFill>
                        <a:schemeClr val="accent4"/>
                      </a:solidFill>
                    </a:lnB>
                    <a:solidFill>
                      <a:schemeClr val="bg2"/>
                    </a:solidFill>
                  </a:tcPr>
                </a:tc>
              </a:tr>
              <a:tr h="457200">
                <a:tc>
                  <a:txBody>
                    <a:bodyPr/>
                    <a:lstStyle/>
                    <a:p>
                      <a:r>
                        <a:rPr sz="1200" b="1">
                          <a:solidFill>
                            <a:schemeClr val="tx1"/>
                          </a:solidFill>
                        </a:rPr>
                        <a:t>Consejo</a:t>
                      </a:r>
                    </a:p>
                  </a:txBody>
                  <a:tcPr marL="91440" marR="91440" marT="36576" marB="36576" anchor="ctr">
                    <a:lnL w="6350">
                      <a:solidFill>
                        <a:schemeClr val="accent4"/>
                      </a:solidFill>
                    </a:lnL>
                    <a:lnR w="6350">
                      <a:solidFill>
                        <a:schemeClr val="accent4"/>
                      </a:solidFill>
                    </a:lnR>
                    <a:lnT w="6350">
                      <a:solidFill>
                        <a:schemeClr val="accent4"/>
                      </a:solidFill>
                    </a:lnT>
                    <a:lnB w="6350">
                      <a:solidFill>
                        <a:schemeClr val="accent4"/>
                      </a:solidFill>
                    </a:lnB>
                    <a:solidFill>
                      <a:schemeClr val="bg2"/>
                    </a:solidFill>
                  </a:tcPr>
                </a:tc>
                <a:tc>
                  <a:txBody>
                    <a:bodyPr/>
                    <a:lstStyle/>
                    <a:p>
                      <a:r>
                        <a:rPr sz="1200" b="0">
                          <a:solidFill>
                            <a:schemeClr val="tx1"/>
                          </a:solidFill>
                        </a:rPr>
                        <a:t>consejo@sanisidro.test</a:t>
                      </a:r>
                    </a:p>
                  </a:txBody>
                  <a:tcPr marL="91440" marR="91440" marT="36576" marB="36576" anchor="ctr">
                    <a:lnL w="6350">
                      <a:solidFill>
                        <a:schemeClr val="accent4"/>
                      </a:solidFill>
                    </a:lnL>
                    <a:lnR w="6350">
                      <a:solidFill>
                        <a:schemeClr val="accent4"/>
                      </a:solidFill>
                    </a:lnR>
                    <a:lnT w="6350">
                      <a:solidFill>
                        <a:schemeClr val="accent4"/>
                      </a:solidFill>
                    </a:lnT>
                    <a:lnB w="6350">
                      <a:solidFill>
                        <a:schemeClr val="accent4"/>
                      </a:solidFill>
                    </a:lnB>
                    <a:solidFill>
                      <a:schemeClr val="bg2"/>
                    </a:solidFill>
                  </a:tcPr>
                </a:tc>
                <a:tc>
                  <a:txBody>
                    <a:bodyPr/>
                    <a:lstStyle/>
                    <a:p>
                      <a:r>
                        <a:rPr sz="1200" b="0">
                          <a:solidFill>
                            <a:schemeClr val="tx1"/>
                          </a:solidFill>
                        </a:rPr>
                        <a:t>Comunicados, asambleas, vigilar pagos y cobros; asistente: capital y censo de socios</a:t>
                      </a:r>
                    </a:p>
                  </a:txBody>
                  <a:tcPr marL="91440" marR="91440" marT="36576" marB="36576" anchor="ctr">
                    <a:lnL w="6350">
                      <a:solidFill>
                        <a:schemeClr val="accent4"/>
                      </a:solidFill>
                    </a:lnL>
                    <a:lnR w="6350">
                      <a:solidFill>
                        <a:schemeClr val="accent4"/>
                      </a:solidFill>
                    </a:lnR>
                    <a:lnT w="6350">
                      <a:solidFill>
                        <a:schemeClr val="accent4"/>
                      </a:solidFill>
                    </a:lnT>
                    <a:lnB w="6350">
                      <a:solidFill>
                        <a:schemeClr val="accent4"/>
                      </a:solidFill>
                    </a:lnB>
                    <a:solidFill>
                      <a:schemeClr val="bg2"/>
                    </a:solidFill>
                  </a:tcPr>
                </a:tc>
              </a:tr>
              <a:tr h="457200">
                <a:tc>
                  <a:txBody>
                    <a:bodyPr/>
                    <a:lstStyle/>
                    <a:p>
                      <a:r>
                        <a:rPr sz="1200" b="1">
                          <a:solidFill>
                            <a:schemeClr val="tx1"/>
                          </a:solidFill>
                        </a:rPr>
                        <a:t>Administrador</a:t>
                      </a:r>
                    </a:p>
                  </a:txBody>
                  <a:tcPr marL="91440" marR="91440" marT="36576" marB="36576" anchor="ctr">
                    <a:lnL w="6350">
                      <a:solidFill>
                        <a:schemeClr val="accent4"/>
                      </a:solidFill>
                    </a:lnL>
                    <a:lnR w="6350">
                      <a:solidFill>
                        <a:schemeClr val="accent4"/>
                      </a:solidFill>
                    </a:lnR>
                    <a:lnT w="6350">
                      <a:solidFill>
                        <a:schemeClr val="accent4"/>
                      </a:solidFill>
                    </a:lnT>
                    <a:lnB w="6350">
                      <a:solidFill>
                        <a:schemeClr val="accent4"/>
                      </a:solidFill>
                    </a:lnB>
                    <a:solidFill>
                      <a:schemeClr val="bg2"/>
                    </a:solidFill>
                  </a:tcPr>
                </a:tc>
                <a:tc>
                  <a:txBody>
                    <a:bodyPr/>
                    <a:lstStyle/>
                    <a:p>
                      <a:r>
                        <a:rPr sz="1200" b="0">
                          <a:solidFill>
                            <a:schemeClr val="tx1"/>
                          </a:solidFill>
                        </a:rPr>
                        <a:t>admin@sanisidro.test</a:t>
                      </a:r>
                    </a:p>
                  </a:txBody>
                  <a:tcPr marL="91440" marR="91440" marT="36576" marB="36576" anchor="ctr">
                    <a:lnL w="6350">
                      <a:solidFill>
                        <a:schemeClr val="accent4"/>
                      </a:solidFill>
                    </a:lnL>
                    <a:lnR w="6350">
                      <a:solidFill>
                        <a:schemeClr val="accent4"/>
                      </a:solidFill>
                    </a:lnR>
                    <a:lnT w="6350">
                      <a:solidFill>
                        <a:schemeClr val="accent4"/>
                      </a:solidFill>
                    </a:lnT>
                    <a:lnB w="6350">
                      <a:solidFill>
                        <a:schemeClr val="accent4"/>
                      </a:solidFill>
                    </a:lnB>
                    <a:solidFill>
                      <a:schemeClr val="bg2"/>
                    </a:solidFill>
                  </a:tcPr>
                </a:tc>
                <a:tc>
                  <a:txBody>
                    <a:bodyPr/>
                    <a:lstStyle/>
                    <a:p>
                      <a:r>
                        <a:rPr sz="1200" b="0">
                          <a:solidFill>
                            <a:schemeClr val="tx1"/>
                          </a:solidFill>
                        </a:rPr>
                        <a:t>Miembros e invitación, ajustes (apariencia, facturación, asistente IA), historial</a:t>
                      </a:r>
                    </a:p>
                  </a:txBody>
                  <a:tcPr marL="91440" marR="91440" marT="36576" marB="36576" anchor="ctr">
                    <a:lnL w="6350">
                      <a:solidFill>
                        <a:schemeClr val="accent4"/>
                      </a:solidFill>
                    </a:lnL>
                    <a:lnR w="6350">
                      <a:solidFill>
                        <a:schemeClr val="accent4"/>
                      </a:solidFill>
                    </a:lnR>
                    <a:lnT w="6350">
                      <a:solidFill>
                        <a:schemeClr val="accent4"/>
                      </a:solidFill>
                    </a:lnT>
                    <a:lnB w="6350">
                      <a:solidFill>
                        <a:schemeClr val="accent4"/>
                      </a:solidFill>
                    </a:lnB>
                    <a:solidFill>
                      <a:schemeClr val="bg2"/>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
        <p:nvSpPr>
          <p:cNvPr id="26" name="Titulo"/>
          <p:cNvSpPr txBox="1"/>
          <p:nvPr/>
        </p:nvSpPr>
        <p:spPr>
          <a:xfrm>
            <a:off x="457200" y="274320"/>
            <a:ext cx="8229600" cy="685800"/>
          </a:xfrm>
          <a:prstGeom prst="rect">
            <a:avLst/>
          </a:prstGeom>
          <a:noFill/>
        </p:spPr>
        <p:txBody>
          <a:bodyPr wrap="square" lIns="0" rIns="0" tIns="0" bIns="0" anchor="ctr">
            <a:spAutoFit/>
          </a:bodyPr>
          <a:lstStyle/>
          <a:p>
            <a:r>
              <a:rPr sz="2800" b="1">
                <a:solidFill>
                  <a:schemeClr val="tx2"/>
                </a:solidFill>
                <a:latin typeface="Cambria"/>
              </a:rPr>
              <a:t>Lecciones aprendidas y trabajo futuro</a:t>
            </a:r>
          </a:p>
        </p:txBody>
      </p:sp>
      <p:sp>
        <p:nvSpPr>
          <p:cNvPr id="27" name="Tarjeta"/>
          <p:cNvSpPr/>
          <p:nvPr/>
        </p:nvSpPr>
        <p:spPr>
          <a:xfrm>
            <a:off x="457200" y="1188720"/>
            <a:ext cx="5394960" cy="3429000"/>
          </a:xfrm>
          <a:prstGeom prst="roundRect">
            <a:avLst>
              <a:gd name="adj" fmla="val 4000"/>
            </a:avLst>
          </a:prstGeom>
          <a:solidFill>
            <a:schemeClr val="bg2"/>
          </a:solidFill>
          <a:ln w="12700">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1298448"/>
            <a:ext cx="5029200" cy="365760"/>
          </a:xfrm>
          <a:prstGeom prst="rect">
            <a:avLst/>
          </a:prstGeom>
          <a:noFill/>
        </p:spPr>
        <p:txBody>
          <a:bodyPr wrap="square" lIns="0" rIns="0" tIns="0" bIns="0" anchor="t">
            <a:spAutoFit/>
          </a:bodyPr>
          <a:lstStyle/>
          <a:p>
            <a:r>
              <a:rPr sz="1800" b="1">
                <a:solidFill>
                  <a:schemeClr val="tx2"/>
                </a:solidFill>
              </a:rPr>
              <a:t>Lecciones</a:t>
            </a:r>
          </a:p>
        </p:txBody>
      </p:sp>
      <p:sp>
        <p:nvSpPr>
          <p:cNvPr id="29" name="TextBox 28"/>
          <p:cNvSpPr txBox="1"/>
          <p:nvPr/>
        </p:nvSpPr>
        <p:spPr>
          <a:xfrm>
            <a:off x="685800" y="1737360"/>
            <a:ext cx="5029200" cy="2834640"/>
          </a:xfrm>
          <a:prstGeom prst="rect">
            <a:avLst/>
          </a:prstGeom>
          <a:noFill/>
        </p:spPr>
        <p:txBody>
          <a:bodyPr wrap="square" lIns="0" rIns="0" tIns="0" bIns="0">
            <a:spAutoFit/>
          </a:bodyPr>
          <a:lstStyle/>
          <a:p>
            <a:pPr marL="228600" indent="-228600">
              <a:spcAft>
                <a:spcPts val="500"/>
              </a:spcAft>
              <a:buSzPct val="100000"/>
              <a:buChar char="•"/>
            </a:pPr>
            <a:r>
              <a:rPr sz="1300" b="0">
                <a:solidFill>
                  <a:schemeClr val="tx1"/>
                </a:solidFill>
              </a:rPr>
              <a:t>Desde casi 15 años de iOS nativo: aprendizaje de todo el stack, de Docker al backend, la base de datos y la IA</a:t>
            </a:r>
          </a:p>
          <a:p>
            <a:pPr marL="228600" indent="-228600">
              <a:spcAft>
                <a:spcPts val="500"/>
              </a:spcAft>
              <a:buSzPct val="100000"/>
              <a:buChar char="•"/>
            </a:pPr>
            <a:r>
              <a:rPr sz="1300" b="0">
                <a:solidFill>
                  <a:schemeClr val="tx1"/>
                </a:solidFill>
              </a:rPr>
              <a:t>Tras el Máster oficial en IA de UNIR, este máster amplió ese conocimiento al desarrollo con IA</a:t>
            </a:r>
          </a:p>
          <a:p>
            <a:pPr marL="228600" indent="-228600">
              <a:spcAft>
                <a:spcPts val="500"/>
              </a:spcAft>
              <a:buSzPct val="100000"/>
              <a:buChar char="•"/>
            </a:pPr>
            <a:r>
              <a:rPr sz="1300" b="0">
                <a:solidFill>
                  <a:schemeClr val="tx1"/>
                </a:solidFill>
              </a:rPr>
              <a:t>La cuota de Gemini llevó al modelo local; en el servidor, la CPU lo hizo inviable (&gt;30 s) y la demo volvió a Gemini</a:t>
            </a:r>
          </a:p>
          <a:p>
            <a:pPr marL="228600" indent="-228600">
              <a:spcAft>
                <a:spcPts val="500"/>
              </a:spcAft>
              <a:buSzPct val="100000"/>
              <a:buChar char="•"/>
            </a:pPr>
            <a:r>
              <a:rPr sz="1300" b="0">
                <a:solidFill>
                  <a:schemeClr val="tx1"/>
                </a:solidFill>
              </a:rPr>
              <a:t>Latencia en CPU medida: el 4b es más rápido; el 8b, algo más preciso</a:t>
            </a:r>
          </a:p>
          <a:p>
            <a:pPr marL="228600" indent="-228600">
              <a:spcAft>
                <a:spcPts val="500"/>
              </a:spcAft>
              <a:buSzPct val="100000"/>
              <a:buChar char="•"/>
            </a:pPr>
            <a:r>
              <a:rPr sz="1300" b="0">
                <a:solidFill>
                  <a:schemeClr val="tx1"/>
                </a:solidFill>
              </a:rPr>
              <a:t>Agentes en paralelo exigen disciplina de integración</a:t>
            </a:r>
          </a:p>
          <a:p>
            <a:pPr marL="228600" indent="-228600">
              <a:spcAft>
                <a:spcPts val="500"/>
              </a:spcAft>
              <a:buSzPct val="100000"/>
              <a:buChar char="•"/>
            </a:pPr>
            <a:r>
              <a:rPr sz="1300" b="0">
                <a:solidFill>
                  <a:schemeClr val="tx1"/>
                </a:solidFill>
              </a:rPr>
              <a:t>Evaluar con el modelo real, no solo offline (32/60 → 47/60)</a:t>
            </a:r>
          </a:p>
          <a:p>
            <a:pPr marL="228600" indent="-228600">
              <a:spcAft>
                <a:spcPts val="500"/>
              </a:spcAft>
              <a:buSzPct val="100000"/>
              <a:buChar char="•"/>
            </a:pPr>
            <a:r>
              <a:rPr sz="1300" b="0">
                <a:solidFill>
                  <a:schemeClr val="tx1"/>
                </a:solidFill>
              </a:rPr>
              <a:t>Especificar primero, CLAUDE.md y ESLint protegen la arquitectura</a:t>
            </a:r>
          </a:p>
          <a:p>
            <a:pPr marL="228600" indent="-228600">
              <a:spcAft>
                <a:spcPts val="500"/>
              </a:spcAft>
              <a:buSzPct val="100000"/>
              <a:buChar char="•"/>
            </a:pPr>
            <a:r>
              <a:rPr sz="1300" b="0">
                <a:solidFill>
                  <a:schemeClr val="tx1"/>
                </a:solidFill>
              </a:rPr>
              <a:t>Diseño generado con IA: análisis de brechas antes de migrar</a:t>
            </a:r>
          </a:p>
        </p:txBody>
      </p:sp>
      <p:sp>
        <p:nvSpPr>
          <p:cNvPr id="30" name="Tarjeta"/>
          <p:cNvSpPr/>
          <p:nvPr/>
        </p:nvSpPr>
        <p:spPr>
          <a:xfrm>
            <a:off x="6035040" y="1188720"/>
            <a:ext cx="2651760" cy="3429000"/>
          </a:xfrm>
          <a:prstGeom prst="roundRect">
            <a:avLst>
              <a:gd name="adj" fmla="val 4000"/>
            </a:avLst>
          </a:prstGeom>
          <a:solidFill>
            <a:schemeClr val="bg2"/>
          </a:solidFill>
          <a:ln w="12700">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17920" y="1298448"/>
            <a:ext cx="2286000" cy="365760"/>
          </a:xfrm>
          <a:prstGeom prst="rect">
            <a:avLst/>
          </a:prstGeom>
          <a:noFill/>
        </p:spPr>
        <p:txBody>
          <a:bodyPr wrap="square" lIns="0" rIns="0" tIns="0" bIns="0" anchor="t">
            <a:spAutoFit/>
          </a:bodyPr>
          <a:lstStyle/>
          <a:p>
            <a:r>
              <a:rPr sz="1800" b="1">
                <a:solidFill>
                  <a:schemeClr val="tx2"/>
                </a:solidFill>
              </a:rPr>
              <a:t>Trabajo futuro</a:t>
            </a:r>
          </a:p>
        </p:txBody>
      </p:sp>
      <p:sp>
        <p:nvSpPr>
          <p:cNvPr id="32" name="TextBox 31"/>
          <p:cNvSpPr txBox="1"/>
          <p:nvPr/>
        </p:nvSpPr>
        <p:spPr>
          <a:xfrm>
            <a:off x="6263640" y="1737360"/>
            <a:ext cx="2286000" cy="2834640"/>
          </a:xfrm>
          <a:prstGeom prst="rect">
            <a:avLst/>
          </a:prstGeom>
          <a:noFill/>
        </p:spPr>
        <p:txBody>
          <a:bodyPr wrap="square" lIns="0" rIns="0" tIns="0" bIns="0">
            <a:spAutoFit/>
          </a:bodyPr>
          <a:lstStyle/>
          <a:p>
            <a:pPr marL="228600" indent="-228600">
              <a:spcAft>
                <a:spcPts val="500"/>
              </a:spcAft>
              <a:buSzPct val="100000"/>
              <a:buChar char="•"/>
            </a:pPr>
            <a:r>
              <a:rPr sz="1300" b="0">
                <a:solidFill>
                  <a:schemeClr val="tx1"/>
                </a:solidFill>
              </a:rPr>
              <a:t>Notificaciones push</a:t>
            </a:r>
          </a:p>
          <a:p>
            <a:pPr marL="228600" indent="-228600">
              <a:spcAft>
                <a:spcPts val="500"/>
              </a:spcAft>
              <a:buSzPct val="100000"/>
              <a:buChar char="•"/>
            </a:pPr>
            <a:r>
              <a:rPr sz="1300" b="0">
                <a:solidFill>
                  <a:schemeClr val="tx1"/>
                </a:solidFill>
              </a:rPr>
              <a:t>Sentry</a:t>
            </a:r>
          </a:p>
          <a:p>
            <a:pPr marL="228600" indent="-228600">
              <a:spcAft>
                <a:spcPts val="500"/>
              </a:spcAft>
              <a:buSzPct val="100000"/>
              <a:buChar char="•"/>
            </a:pPr>
            <a:r>
              <a:rPr sz="1300" b="0">
                <a:solidFill>
                  <a:schemeClr val="tx1"/>
                </a:solidFill>
              </a:rPr>
              <a:t>Tests de componentes (RNTL) y E2E en CI</a:t>
            </a:r>
          </a:p>
          <a:p>
            <a:pPr marL="228600" indent="-228600">
              <a:spcAft>
                <a:spcPts val="500"/>
              </a:spcAft>
              <a:buSzPct val="100000"/>
              <a:buChar char="•"/>
            </a:pPr>
            <a:r>
              <a:rPr sz="1300" b="0">
                <a:solidFill>
                  <a:schemeClr val="tx1"/>
                </a:solidFill>
              </a:rPr>
              <a:t>Reclamaciones de facturas</a:t>
            </a:r>
          </a:p>
          <a:p>
            <a:pPr marL="228600" indent="-228600">
              <a:spcAft>
                <a:spcPts val="500"/>
              </a:spcAft>
              <a:buSzPct val="100000"/>
              <a:buChar char="•"/>
            </a:pPr>
            <a:r>
              <a:rPr sz="1300" b="0">
                <a:solidFill>
                  <a:schemeClr val="tx1"/>
                </a:solidFill>
              </a:rPr>
              <a:t>Binarios nativos (EAS Build)</a:t>
            </a:r>
          </a:p>
          <a:p>
            <a:pPr marL="228600" indent="-228600">
              <a:spcAft>
                <a:spcPts val="500"/>
              </a:spcAft>
              <a:buSzPct val="100000"/>
              <a:buChar char="•"/>
            </a:pPr>
            <a:r>
              <a:rPr sz="1300" b="0">
                <a:solidFill>
                  <a:schemeClr val="tx1"/>
                </a:solidFill>
              </a:rPr>
              <a:t>Invitaciones por correo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40080" y="822960"/>
            <a:ext cx="7863840" cy="91440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Gracias</a:t>
            </a:r>
            <a:endParaRPr lang="en-US" sz="5400" dirty="0"/>
          </a:p>
        </p:txBody>
      </p:sp>
      <p:sp>
        <p:nvSpPr>
          <p:cNvPr id="3" name="Text 1"/>
          <p:cNvSpPr txBox="1"/>
          <p:nvPr/>
        </p:nvSpPr>
        <p:spPr>
          <a:xfrm>
            <a:off x="640080" y="1965960"/>
            <a:ext cx="7863840" cy="1828800"/>
          </a:xfrm>
          <a:prstGeom prst="rect">
            <a:avLst/>
          </a:prstGeom>
          <a:noFill/>
          <a:ln/>
        </p:spPr>
        <p:txBody>
          <a:bodyPr wrap="square" lIns="0" tIns="0" rIns="0" bIns="0" rtlCol="0" anchor="ctr"/>
          <a:lstStyle/>
          <a:p>
            <a:pPr indent="0" marL="0">
              <a:spcAft>
                <a:spcPts val="1000"/>
              </a:spcAft>
              <a:buNone/>
            </a:pPr>
            <a:r>
              <a:rPr lang="en-US" sz="1800" dirty="0">
                <a:solidFill>
                  <a:schemeClr val="bg2"/>
                </a:solidFill>
              </a:rPr>
              <a:t>Repositorio: github.com/chaparro2001/multiCooperativa</a:t>
            </a:r>
            <a:endParaRPr lang="en-US" sz="1800" dirty="0"/>
          </a:p>
          <a:p>
            <a:pPr indent="0" marL="0">
              <a:spcAft>
                <a:spcPts val="1000"/>
              </a:spcAft>
              <a:buNone/>
            </a:pPr>
            <a:r>
              <a:rPr lang="en-US" sz="1800" dirty="0">
                <a:solidFill>
                  <a:schemeClr val="bg2"/>
                </a:solidFill>
              </a:rPr>
              <a:t>Demo: cooperativa.chaparro2001.com</a:t>
            </a:r>
            <a:endParaRPr lang="en-US" sz="1800" dirty="0"/>
          </a:p>
          <a:p>
            <a:pPr indent="0" marL="0">
              <a:spcAft>
                <a:spcPts val="1000"/>
              </a:spcAft>
              <a:buNone/>
            </a:pPr>
            <a:r>
              <a:rPr lang="en-US" sz="1800" dirty="0">
                <a:solidFill>
                  <a:schemeClr val="bg2"/>
                </a:solidFill>
              </a:rPr>
              <a:t>API: api-cooperativa.chaparro2001.com</a:t>
            </a:r>
            <a:endParaRPr lang="en-US" sz="1800" dirty="0"/>
          </a:p>
          <a:p>
            <a:pPr indent="0" marL="0">
              <a:spcAft>
                <a:spcPts val="1000"/>
              </a:spcAft>
              <a:buNone/>
            </a:pPr>
            <a:r>
              <a:rPr lang="en-US" sz="1800" dirty="0">
                <a:solidFill>
                  <a:schemeClr val="bg2"/>
                </a:solidFill>
              </a:rPr>
              <a:t>Vídeo: &lt;URL vídeo&gt;</a:t>
            </a:r>
            <a:endParaRPr lang="en-US" sz="1800" dirty="0"/>
          </a:p>
        </p:txBody>
      </p:sp>
      <p:sp>
        <p:nvSpPr>
          <p:cNvPr id="4" name="Text 2"/>
          <p:cNvSpPr txBox="1"/>
          <p:nvPr/>
        </p:nvSpPr>
        <p:spPr>
          <a:xfrm>
            <a:off x="640080" y="4023360"/>
            <a:ext cx="7863840" cy="365760"/>
          </a:xfrm>
          <a:prstGeom prst="rect">
            <a:avLst/>
          </a:prstGeom>
          <a:noFill/>
          <a:ln/>
        </p:spPr>
        <p:txBody>
          <a:bodyPr wrap="square" lIns="0" tIns="0" rIns="0" bIns="0" rtlCol="0" anchor="ctr"/>
          <a:lstStyle/>
          <a:p>
            <a:pPr indent="0" marL="0">
              <a:buNone/>
            </a:pPr>
            <a:r>
              <a:rPr lang="en-US" sz="1400" dirty="0">
                <a:solidFill>
                  <a:schemeClr val="accent2"/>
                </a:solidFill>
              </a:rPr>
              <a:t>Juan Chaparro García · TFM Máster de Desarrollo con IA · BIG school · Octubre 2026</a:t>
            </a:r>
            <a:endParaRPr lang="en-US" sz="1400" dirty="0"/>
          </a:p>
        </p:txBody>
      </p:sp>
    </p:spTree>
  </p:cSld>
  <p:clrMapOvr>
    <a:masterClrMapping/>
  </p:clrMapOvr>
</p:sld>
</file>

<file path=ppt/theme/theme1.xml><?xml version="1.0" encoding="utf-8"?>
<a:theme xmlns:a="http://schemas.openxmlformats.org/drawingml/2006/main" name="multiCooperativa">
  <a:themeElements>
    <a:clrScheme name="multiCooperativa">
      <a:dk1>
        <a:srgbClr val="1B2B24"/>
      </a:dk1>
      <a:lt1>
        <a:srgbClr val="FFFFFF"/>
      </a:lt1>
      <a:dk2>
        <a:srgbClr val="1F4D3A"/>
      </a:dk2>
      <a:lt2>
        <a:srgbClr val="EEF3EF"/>
      </a:lt2>
      <a:accent1>
        <a:srgbClr val="1F4D3A"/>
      </a:accent1>
      <a:accent2>
        <a:srgbClr val="E0A526"/>
      </a:accent2>
      <a:accent3>
        <a:srgbClr val="3E7C5A"/>
      </a:accent3>
      <a:accent4>
        <a:srgbClr val="C8D9CE"/>
      </a:accent4>
      <a:accent5>
        <a:srgbClr val="B5543A"/>
      </a:accent5>
      <a:accent6>
        <a:srgbClr val="5B6B64"/>
      </a:accent6>
      <a:hlink>
        <a:srgbClr val="3E7C5A"/>
      </a:hlink>
      <a:folHlink>
        <a:srgbClr val="5B6B64"/>
      </a:folHlink>
    </a:clrScheme>
    <a:fontScheme name="multiCooperativ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multiCooperativa - Defensa del TFM</dc:title>
  <dc:subject>PptxGenJS Presentation</dc:subject>
  <dc:creator>Juan Chaparro García</dc:creator>
  <cp:lastModifiedBy>Juan Chaparro García</cp:lastModifiedBy>
  <cp:revision>1</cp:revision>
  <dcterms:created xsi:type="dcterms:W3CDTF">2026-10-21T04:59:23Z</dcterms:created>
  <dcterms:modified xsi:type="dcterms:W3CDTF">2026-10-21T04:59:23Z</dcterms:modified>
</cp:coreProperties>
</file>